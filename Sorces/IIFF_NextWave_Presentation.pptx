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IFF 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1504507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050"/>
                </a:solidFill>
                <a:latin typeface="Inter"/>
              </a:defRPr>
            </a:pPr>
            <a:r>
              <a:t>INCHEON INTERNATIONAL FILM FESTIVAL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2A251A"/>
                </a:solidFill>
                <a:latin typeface="Playfair Display"/>
              </a:defRPr>
            </a:pPr>
            <a:r>
              <a:t>NEXT 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040"/>
                </a:solidFill>
                <a:latin typeface="맑은 고딕"/>
              </a:defRPr>
            </a:pPr>
            <a:r>
              <a:t>인천국제영화제 IIFF 추진위원회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383"/>
                </a:solidFill>
                <a:latin typeface="맑은 고딕"/>
              </a:defRPr>
            </a:pPr>
            <a:r>
              <a:t>2026.02. — Insights from INSPIRE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IFF 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457200"/>
            <a:ext cx="112838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9A84C"/>
                </a:solidFill>
                <a:latin typeface="맑은 고딕"/>
              </a:defRPr>
            </a:pPr>
            <a:r>
              <a:t>〔NEXT WAVE〕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0E1"/>
                </a:solidFill>
                <a:latin typeface="맑은 고딕"/>
              </a:defRPr>
            </a:pPr>
            <a:r>
              <a:t>아시아와 헐리우드, 그리고 미래 영화계의 새로운 물결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2560320" cy="1097280"/>
          </a:xfrm>
          <a:prstGeom prst="roundRect">
            <a:avLst/>
          </a:prstGeom>
          <a:solidFill>
            <a:srgbClr val="202030"/>
          </a:solidFill>
          <a:ln w="12700">
            <a:solidFill>
              <a:srgbClr val="40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>
                <a:solidFill>
                  <a:srgbClr val="F5F0E1"/>
                </a:solidFill>
              </a:defRPr>
            </a:pPr>
            <a:r>
              <a:t>헐리우드와 공동제작, 투자, 배급</a:t>
            </a:r>
            <a:br/>
            <a:r>
              <a:t>실전협업 영화제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291840"/>
            <a:ext cx="2560320" cy="1097280"/>
          </a:xfrm>
          <a:prstGeom prst="roundRect">
            <a:avLst/>
          </a:prstGeom>
          <a:solidFill>
            <a:srgbClr val="202030"/>
          </a:solidFill>
          <a:ln w="12700">
            <a:solidFill>
              <a:srgbClr val="40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>
                <a:solidFill>
                  <a:srgbClr val="F5F0E1"/>
                </a:solidFill>
              </a:defRPr>
            </a:pPr>
            <a:r>
              <a:t>상업영화와 독립영화가</a:t>
            </a:r>
            <a:br/>
            <a:r>
              <a:t>공존하는 영화제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91840"/>
            <a:ext cx="2560320" cy="1097280"/>
          </a:xfrm>
          <a:prstGeom prst="roundRect">
            <a:avLst/>
          </a:prstGeom>
          <a:solidFill>
            <a:srgbClr val="202030"/>
          </a:solidFill>
          <a:ln w="12700">
            <a:solidFill>
              <a:srgbClr val="40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>
                <a:solidFill>
                  <a:srgbClr val="F5F0E1"/>
                </a:solidFill>
              </a:defRPr>
            </a:pPr>
            <a:r>
              <a:t>참여하고 공동창작하고 즐기는</a:t>
            </a:r>
            <a:br/>
            <a:r>
              <a:t>잼보리형 영화제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3291840"/>
            <a:ext cx="2560320" cy="1097280"/>
          </a:xfrm>
          <a:prstGeom prst="roundRect">
            <a:avLst/>
          </a:prstGeom>
          <a:solidFill>
            <a:srgbClr val="202030"/>
          </a:solidFill>
          <a:ln w="12700">
            <a:solidFill>
              <a:srgbClr val="40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>
                <a:solidFill>
                  <a:srgbClr val="F5F0E1"/>
                </a:solidFill>
              </a:defRPr>
            </a:pPr>
            <a:r>
              <a:t>온라인 오프라인</a:t>
            </a:r>
            <a:br/>
            <a:r>
              <a:t>365일 영화제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D58B"/>
                </a:solidFill>
                <a:latin typeface="맑은 고딕"/>
              </a:defRPr>
            </a:pPr>
            <a:r>
              <a:t>영화 · 음악 · 테크놀로지 · K-컬처가 융합된 영화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5540"/>
                </a:solidFill>
                <a:latin typeface="맑은 고딕"/>
              </a:defRPr>
            </a:pPr>
            <a:r>
              <a:t>Cinematic Insights from INSPIRE Resort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IFF 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601803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C9A84C"/>
                </a:solidFill>
                <a:latin typeface="Playfair Display"/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070"/>
                </a:solidFill>
                <a:latin typeface="Inter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소개 ·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1. What is IIFF?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All coincidences, all possibilities, endless imagination</a:t>
            </a:r>
            <a:br/>
            <a:r>
              <a:t>발음은 "이프(if)" — i 두 번, f 두 번 — 강조의 의미이며, 발음은 단순한 하나의 단어입니다.</a:t>
            </a:r>
            <a:br/>
            <a:r>
              <a:t>if</a:t>
            </a:r>
            <a:br/>
            <a:r>
              <a:t>"만약에"</a:t>
            </a:r>
            <a:br/>
            <a:r>
              <a:t>만약에 올해, 내 영화가 이곳에서 처음으로 주목받는다면?</a:t>
            </a:r>
            <a:br/>
            <a:r>
              <a:t>만약에 이 무대에서, 내 연기가 올해의 최우수 연기자로 불린다면?</a:t>
            </a:r>
            <a:br/>
            <a:r>
              <a:t>만약에 이 선택이, 내 인생의 방향을 바꾸는 순간이 된다면?</a:t>
            </a:r>
            <a:br/>
            <a:r>
              <a:t>IIFF는</a:t>
            </a:r>
            <a:br/>
            <a:r>
              <a:t>                            바로 그</a:t>
            </a:r>
            <a:br/>
            <a:r>
              <a:t>'만약에'</a:t>
            </a:r>
            <a:br/>
            <a:r>
              <a:t>를 시작하게 하는 영화제입니다.</a:t>
            </a:r>
            <a:br/>
            <a:r>
              <a:t>if는 일어날수 있는 모든 우연 즉 모든 가능성입니다. 끝없는 상상입니다.</a:t>
            </a:r>
            <a:br/>
            <a:r>
              <a:t>IIFF는</a:t>
            </a:r>
            <a:br/>
            <a:r>
              <a:t>이미 성공한 사람들만을 위한 영화제가 아닙니다. 이미 이름이 알려진 작품만을 위한 무대도 아닙니다.</a:t>
            </a:r>
            <a:br/>
            <a:r>
              <a:t>아직 기회가 오지 않은 이야기, 아직 발견되지 않은 재능, 아직 불리지 않은 이름들에게</a:t>
            </a:r>
            <a:br/>
            <a:r>
              <a:t>"만약에"</a:t>
            </a:r>
            <a:br/>
            <a:r>
              <a:t>를 상상할 수 있는 용기를 주는 영화제입니다.</a:t>
            </a:r>
            <a:br/>
            <a:r>
              <a:t>What if this year changes everything?</a:t>
            </a:r>
            <a:br/>
            <a:r>
              <a:t>What if this is where your story begins?</a:t>
            </a:r>
            <a:br/>
            <a:r>
              <a:t>OUR VISION</a:t>
            </a:r>
            <a:br/>
            <a:r>
              <a:t>누구에게나 열려 있는 질문, 모든이에게 꿈과 희망을, 그리고 새로운 파도를 만드는 상상.</a:t>
            </a:r>
            <a:br/>
            <a:r>
              <a:t>if, 그 한 단어에서, IIFF는</a:t>
            </a:r>
            <a:br/>
            <a:r>
              <a:t>                                시작됩니다.</a:t>
            </a:r>
            <a:br/>
            <a:r>
              <a:t>Unlimited imagination and free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IFF 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457200"/>
            <a:ext cx="526577" cy="6400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371600"/>
            <a:ext cx="4572000" cy="1828800"/>
          </a:xfrm>
          <a:prstGeom prst="roundRect">
            <a:avLst/>
          </a:prstGeom>
          <a:solidFill>
            <a:srgbClr val="1A1A2A"/>
          </a:solidFill>
          <a:ln w="12700">
            <a:solidFill>
              <a:srgbClr val="40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>
                <a:solidFill>
                  <a:srgbClr val="F5F0E1"/>
                </a:solidFill>
              </a:defRPr>
            </a:pPr>
            <a:r>
              <a:t>See, enjoy, create, evaluate each other,</a:t>
            </a:r>
            <a:br/>
            <a:r>
              <a:t>and spread it.</a:t>
            </a:r>
          </a:p>
          <a:p>
            <a:br/>
            <a:pPr algn="ctr">
              <a:defRPr sz="1000">
                <a:solidFill>
                  <a:srgbClr val="999383"/>
                </a:solidFill>
              </a:defRPr>
            </a:pPr>
            <a:r>
              <a:t>보고, 즐기고, 만들고, 서로 평가하고, 퍼뜨린다.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4572000" cy="1828800"/>
          </a:xfrm>
          <a:prstGeom prst="roundRect">
            <a:avLst/>
          </a:prstGeom>
          <a:solidFill>
            <a:srgbClr val="1A1A2A"/>
          </a:solidFill>
          <a:ln w="12700">
            <a:solidFill>
              <a:srgbClr val="40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>
                <a:solidFill>
                  <a:srgbClr val="F5F0E1"/>
                </a:solidFill>
              </a:defRPr>
            </a:pPr>
            <a:r>
              <a:t>We meet across borders, dream together,</a:t>
            </a:r>
            <a:br/>
            <a:r>
              <a:t>and act together.</a:t>
            </a:r>
          </a:p>
          <a:p>
            <a:br/>
            <a:pPr algn="ctr">
              <a:defRPr sz="1000">
                <a:solidFill>
                  <a:srgbClr val="999383"/>
                </a:solidFill>
              </a:defRPr>
            </a:pPr>
            <a:r>
              <a:t>국경을 넘어 만나고, 함께 꿈꾸고, 함께 행동한다.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4572000" cy="1828800"/>
          </a:xfrm>
          <a:prstGeom prst="roundRect">
            <a:avLst/>
          </a:prstGeom>
          <a:solidFill>
            <a:srgbClr val="1A1A2A"/>
          </a:solidFill>
          <a:ln w="12700">
            <a:solidFill>
              <a:srgbClr val="40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>
                <a:solidFill>
                  <a:srgbClr val="F5F0E1"/>
                </a:solidFill>
              </a:defRPr>
            </a:pPr>
            <a:r>
              <a:t>The one and only film festival in the</a:t>
            </a:r>
            <a:br/>
            <a:r>
              <a:t>universe that opens a new era</a:t>
            </a:r>
          </a:p>
          <a:p>
            <a:br/>
            <a:pPr algn="ctr">
              <a:defRPr sz="1000">
                <a:solidFill>
                  <a:srgbClr val="999383"/>
                </a:solidFill>
              </a:defRPr>
            </a:pPr>
            <a:r>
              <a:t>새로운 시대를 여는 세상에서 단 하나뿐인 영화제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657600"/>
            <a:ext cx="4572000" cy="1828800"/>
          </a:xfrm>
          <a:prstGeom prst="roundRect">
            <a:avLst/>
          </a:prstGeom>
          <a:solidFill>
            <a:srgbClr val="1A1A2A"/>
          </a:solidFill>
          <a:ln w="12700">
            <a:solidFill>
              <a:srgbClr val="403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>
                <a:solidFill>
                  <a:srgbClr val="F5F0E1"/>
                </a:solidFill>
              </a:defRPr>
            </a:pPr>
            <a:r>
              <a:t>Incheon will now become the gateway to a</a:t>
            </a:r>
            <a:br/>
            <a:r>
              <a:t>new era, breaking down old boundaries.</a:t>
            </a:r>
          </a:p>
          <a:p>
            <a:br/>
            <a:pPr algn="ctr">
              <a:defRPr sz="1000">
                <a:solidFill>
                  <a:srgbClr val="999383"/>
                </a:solidFill>
              </a:defRPr>
            </a:pPr>
            <a:r>
              <a:t>인천은 이제 낡은 경계를 허물고 새로운 시대의 관문이 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2. Festival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00. complex platform — music, technology, and K-culture.</a:t>
            </a:r>
            <a:br/>
            <a:r>
              <a:t>인천 국제 영화제 "넥스트웨이브" —</a:t>
            </a:r>
            <a:br/>
            <a:r>
              <a:t>                Incheon International Film Festival (IIFF-NextWave)</a:t>
            </a:r>
            <a:br/>
            <a:r>
              <a:t>IIFF — NextWave는</a:t>
            </a:r>
            <a:br/>
            <a:r>
              <a:t>단순히 영화를 상영하는 기존 영화제의 틀을 넘어, 영화 · 음악 · 테크놀로지 · K-컬처가 유기적으로 융합되는</a:t>
            </a:r>
            <a:br/>
            <a:r>
              <a:t>미래형 글로벌 영화 플랫폼</a:t>
            </a:r>
            <a:br/>
            <a:r>
              <a:t>을 지향하는 국제 영화제입니다.</a:t>
            </a:r>
            <a:br/>
            <a:r>
              <a:t>전통적인 영화제의 가치 위에 새로운 콘텐츠 환경과 산업 구조를 결합하여, '다음 세대의 영화제 모델'을 인천에서 시작합니다.</a:t>
            </a:r>
            <a:br/>
            <a:r>
              <a:t>또한, '칸'이나 '오스카'처럼 이름 그 자체로 권위를 갖는</a:t>
            </a:r>
            <a:br/>
            <a:r>
              <a:t>"iiff" 브랜드</a:t>
            </a:r>
            <a:br/>
            <a:r>
              <a:t>로 성장합니다.</a:t>
            </a:r>
            <a:br/>
            <a:r>
              <a:t>01</a:t>
            </a:r>
            <a:br/>
            <a:r>
              <a:t>INCHEON × HOLLYWOOD</a:t>
            </a:r>
            <a:br/>
            <a:r>
              <a:t>Method Fest와 함께하는 글로벌 영화 플랫폼</a:t>
            </a:r>
            <a:br/>
            <a:r>
              <a:t>헐리우드에서 실제로 독립영화 생태계를 개척해온 Method Fest Independent Film Festival과의 직접적인 협업을 통해 아시아와 헐리우드를 연결하는 국제</a:t>
            </a:r>
            <a:br/>
            <a:r>
              <a:t>                        영화 플랫폼을 구축합니다.</a:t>
            </a:r>
            <a:br/>
            <a:r>
              <a:t>Justin Kim과 Don Franken이 명예위원장 및 글로벌 파트너로 참여합니다. 헐리우드 독립영화 네트워크의 실질적 연결,</a:t>
            </a:r>
            <a:br/>
            <a:r>
              <a:t>                        글로벌 영화인의 인천 방문 및 교류, 공동 섹션 운영을 통한 국제 프로그램 구성 등 실제 작동하는 글로벌 연계 구조를 의미합니다.</a:t>
            </a:r>
            <a:br/>
            <a:r>
              <a:t>02</a:t>
            </a:r>
            <a:br/>
            <a:r>
              <a:t>DUAL STRUCTURE</a:t>
            </a:r>
            <a:br/>
            <a:r>
              <a:t>상업영화와 독립영화가 공존하는 이중 구조</a:t>
            </a:r>
            <a:br/>
            <a:r>
              <a:t>IIFF는 하나의 장르나 규모에 국한되지 않습니다. 상업영화와 독립영화가 분리되지 않고 공존하는 이중 구조를 통해 영화 산업의 현재와 미래를 동시에 조망합니다.</a:t>
            </a:r>
            <a:br/>
            <a:r>
              <a:t>글로벌 상업영화를 통해</a:t>
            </a:r>
            <a:br/>
            <a:r>
              <a:t>                            대중성과 확장성 확보</a:t>
            </a:r>
            <a:br/>
            <a:r>
              <a:t>Method Fest</a:t>
            </a:r>
            <a:br/>
            <a:r>
              <a:t>                            연계를 통한 독립·예술영화의 정체성 강화</a:t>
            </a:r>
            <a:br/>
            <a:r>
              <a:t>산업성과 예술성이 균형을</a:t>
            </a:r>
            <a:br/>
            <a:r>
              <a:t>                            이루는 건강한 영화 생태계 조성</a:t>
            </a:r>
            <a:br/>
            <a:r>
              <a:t>03</a:t>
            </a:r>
            <a:br/>
            <a:r>
              <a:t>PARTICIPATORY FESTIVAL</a:t>
            </a:r>
            <a:br/>
            <a:r>
              <a:t>관객이 참여하고, 창작자가</a:t>
            </a:r>
            <a:br/>
            <a:r>
              <a:t>                        성장하는 체험형 영화제</a:t>
            </a:r>
            <a:br/>
            <a:r>
              <a:t>IIFF — NextWave는 '보는 영화제'가 아닌</a:t>
            </a:r>
            <a:br/>
            <a:r>
              <a:t>"참여하는 영화제"</a:t>
            </a:r>
            <a:br/>
            <a:r>
              <a:t>를 지향합니다.</a:t>
            </a:r>
            <a:br/>
            <a:r>
              <a:t>관객 참여형 프로그램 및 투표, 체험 콘텐츠</a:t>
            </a:r>
            <a:br/>
            <a:r>
              <a:t>                            운영</a:t>
            </a:r>
            <a:br/>
            <a:r>
              <a:t>신진</a:t>
            </a:r>
            <a:br/>
            <a:r>
              <a:t>                            감독, 배우, 창작자를 위한 멘토링·피칭·워크숍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3. Why Participate?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Together Platform</a:t>
            </a:r>
            <a:br/>
            <a:r>
              <a:t>2-1</a:t>
            </a:r>
            <a:br/>
            <a:r>
              <a:t>"노출"을 넘어, 함께 만드는 브랜드 플랫폼</a:t>
            </a:r>
            <a:br/>
            <a:r>
              <a:t>IIFF는 로고를 붙이는 후원이 아니라, 브랜드가 프로그램과 경험 속에 '주인공'으로 결합되는 구조입니다.</a:t>
            </a:r>
            <a:br/>
            <a:r>
              <a:t>실행 계획:</a:t>
            </a:r>
            <a:br/>
            <a:r>
              <a:t>스폰서별 브랜드 존/체험형 부스/콜라보 프로그램을 영화제 공식 동선에 배치. '오프닝</a:t>
            </a:r>
            <a:br/>
            <a:r>
              <a:t>                        나이트/갈라/마스터클래스/숏폼 컴피티션' 등 핵심 콘텐츠에 네이밍 권한 제공.</a:t>
            </a:r>
            <a:br/>
            <a:r>
              <a:t>측정 지표:</a:t>
            </a:r>
            <a:br/>
            <a:r>
              <a:t>현장 동선 유입, 부스 체류 시간, 프로그램 참여자 수, 콘텐츠 내 브랜드 노출 횟수,</a:t>
            </a:r>
            <a:br/>
            <a:r>
              <a:t>                        조회수/공유수/UGC 생성량</a:t>
            </a:r>
            <a:br/>
            <a:r>
              <a:t>2-2</a:t>
            </a:r>
            <a:br/>
            <a:r>
              <a:t>K-콘텐츠 중심 시장에서의 글로벌 노출 가치</a:t>
            </a:r>
            <a:br/>
            <a:r>
              <a:t>전 세계 영화인과 브랜드가 주목하는 K-콘텐츠 중심지에서 작품과 브랜드를 소개할 기회입니다.</a:t>
            </a:r>
            <a:br/>
            <a:r>
              <a:t>실행 계획:</a:t>
            </a:r>
            <a:br/>
            <a:r>
              <a:t>초청작/수상작 중심으로 K-콘텐츠 연계 프로그램 운영. 해외 게스트·출품작의 한국 내</a:t>
            </a:r>
            <a:br/>
            <a:r>
              <a:t>                        노출을 극대화하는 프레스·SNS 패키지 제공. "K-컬처 Experience Zone" 운영.</a:t>
            </a:r>
            <a:br/>
            <a:r>
              <a:t>측정 지표:</a:t>
            </a:r>
            <a:br/>
            <a:r>
              <a:t>출품작/감독 인터뷰 수, 언론 노출, 관객 반응, 해외 참가자 재방문 의향</a:t>
            </a:r>
            <a:br/>
            <a:r>
              <a:t>2-3</a:t>
            </a:r>
            <a:br/>
            <a:r>
              <a:t>인스파이어 리조트 × 프리미엄 운영 인프라</a:t>
            </a:r>
            <a:br/>
            <a:r>
              <a:t>아레나·MICE·야외공간(디스커버리 파크)과 인천 대표 상영관을 결합한 대규모/고품격 운영 인프라.</a:t>
            </a:r>
            <a:br/>
            <a:r>
              <a:t>Arena:</a:t>
            </a:r>
            <a:br/>
            <a:r>
              <a:t>개·폐막식, 갈라, 라이브 이벤트</a:t>
            </a:r>
            <a:br/>
            <a:r>
              <a:t>MICE:</a:t>
            </a:r>
            <a:br/>
            <a:r>
              <a:t>마스터클래스, 피칭/포럼, 네트워킹, 프레스룸</a:t>
            </a:r>
            <a:br/>
            <a:r>
              <a:t>Discovery Park:</a:t>
            </a:r>
            <a:br/>
            <a:r>
              <a:t>캠프형 페스티벌, 야외 상영,</a:t>
            </a:r>
            <a:br/>
            <a:r>
              <a:t>                        공연/체험</a:t>
            </a:r>
            <a:br/>
            <a:r>
              <a:t>City Screens:</a:t>
            </a:r>
            <a:br/>
            <a:r>
              <a:t>인천 내 대표 상영관 연계 정통 상영 섹션</a:t>
            </a:r>
            <a:br/>
            <a:r>
              <a:t>2-4</a:t>
            </a:r>
            <a:br/>
            <a:r>
              <a:t>K-팝·K-푸드·K-뷰티·숏폼의 젊고 글로벌한 관객 유입 구조</a:t>
            </a:r>
            <a:br/>
            <a:r>
              <a:t>영화만으로 관객을 모으는 시대가 아니라, K-컬처 경험이 관객을 끌고, 영화가 중심으로 남게 만드는 구조입니다.</a:t>
            </a:r>
            <a:br/>
            <a:r>
              <a:t>실행 계획: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4. Why Incheon?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The center of K - content</a:t>
            </a:r>
            <a:br/>
            <a:r>
              <a:t>인천은 단순한 '공항 도시'가 아니라 세계가 가장 먼저 만나는 대한민국의 얼굴입니다.</a:t>
            </a:r>
            <a:br/>
            <a:r>
              <a:t>'거쳐가는 도시'에서 "전 세계 영화인의 문화</a:t>
            </a:r>
            <a:br/>
            <a:r>
              <a:t>                        종착지(Destination)"로</a:t>
            </a:r>
            <a:br/>
            <a:r>
              <a:t>공항 → 서울로 이동하는 동선이 아닌 "인천에 머무르고, 인천을</a:t>
            </a:r>
            <a:br/>
            <a:r>
              <a:t>                    경험하게 만드는 구조". 개·폐막식, 갈라, 마스터클래스, 밋업, 캠핑형 페스티벌을 인천 전역에 배치하여 체류형 문화 목적지로 전환.</a:t>
            </a:r>
            <a:br/>
            <a:r>
              <a:t>👉</a:t>
            </a:r>
            <a:br/>
            <a:r>
              <a:t>인천은 더 이상 '통과 지점'이 아닌</a:t>
            </a:r>
            <a:br/>
            <a:r>
              <a:t>찾아오는 이유가 있는 도시</a:t>
            </a:r>
            <a:br/>
            <a:r>
              <a:t>가 됩니다.</a:t>
            </a:r>
            <a:br/>
            <a:r>
              <a:t>헐리우드와 직접 연결되는 글로벌 자본 · 인재 · 관광객 유입 구조</a:t>
            </a:r>
            <a:br/>
            <a:r>
              <a:t>헐리우드 영화인,</a:t>
            </a:r>
            <a:br/>
            <a:r>
              <a:t>                    제작자, 투자자들의 실질적 참여. 글로벌 영화제 네트워크를</a:t>
            </a:r>
            <a:br/>
            <a:r>
              <a:t>                    통한 해외 상영, 공동 제작, 투자 연결. 영화제 기간 동안 유입되는 해외 방문객 → 숙박·관광·소비로 이어지는 직접적 경제 효과.</a:t>
            </a:r>
            <a:br/>
            <a:r>
              <a:t>👉</a:t>
            </a:r>
            <a:br/>
            <a:r>
              <a:t>단기 이벤트가 아닌</a:t>
            </a:r>
            <a:br/>
            <a:r>
              <a:t>지속적인 글로벌 자본 흐름의 입구</a:t>
            </a:r>
            <a:br/>
            <a:r>
              <a:t>를 인천에 만듭니다.</a:t>
            </a:r>
            <a:br/>
            <a:r>
              <a:t>인천시의 문화 행정 역량을 세계에 '증명'하는 상징 자산</a:t>
            </a:r>
            <a:br/>
            <a:r>
              <a:t>영화계 거장 및</a:t>
            </a:r>
            <a:br/>
            <a:r>
              <a:t>                    헐리우드 인사의 공식 참여. 국제 영화제 운영 경험을 통해 인천시의</a:t>
            </a:r>
            <a:br/>
            <a:r>
              <a:t>                    문화·행정·국제 협력 역량을 글로벌 무대에서 입증. 향후 국제 문화 행사, 엑스포, 글로벌 이벤트 유치에 있어 강력한 레퍼런스 자산 확보.</a:t>
            </a:r>
            <a:br/>
            <a:r>
              <a:t>👉</a:t>
            </a:r>
            <a:br/>
            <a:r>
              <a:t>IIFF는 인천시가</a:t>
            </a:r>
            <a:br/>
            <a:r>
              <a:t>'문화 중심 도시'로 도약</a:t>
            </a:r>
            <a:br/>
            <a:r>
              <a:t>했음을 보여주는 가장 강력한 증거가 됩니다.</a:t>
            </a:r>
            <a:br/>
            <a:r>
              <a:t>365일 작동하는 영화·콘텐츠 허브</a:t>
            </a:r>
            <a:br/>
            <a:r>
              <a:t>영화제 이후에도 지속되는 교육 프로그램 / 창작자 레지던시 /</a:t>
            </a:r>
            <a:br/>
            <a:r>
              <a:t>                    영화·콘텐츠 제작 워크숍 / 국제 공동</a:t>
            </a:r>
            <a:br/>
            <a:r>
              <a:t>                    프로젝트. 연중 운영되는 '영화가 만들어지고 소비되는 도시 시스템' 구축.</a:t>
            </a:r>
            <a:br/>
            <a:r>
              <a:t>👉</a:t>
            </a:r>
            <a:br/>
            <a:r>
              <a:t>인천은 행사 도시가 아니라</a:t>
            </a:r>
            <a:br/>
            <a:r>
              <a:t>산업 도시</a:t>
            </a:r>
            <a:br/>
            <a:r>
              <a:t>로 진화합니다.</a:t>
            </a:r>
            <a:br/>
            <a:r>
              <a:t>유휴 부지와 공간을 미래 콘텐츠 자산으로 전환</a:t>
            </a:r>
            <a:br/>
            <a:r>
              <a:t>유휴 부지·건물 → 영화 세트장, 교육 공간, 창작자</a:t>
            </a:r>
            <a:br/>
            <a:r>
              <a:t>                    캠퍼스. 글로벌 인플루언서 및 크리에이터</a:t>
            </a:r>
            <a:br/>
            <a:r>
              <a:t>                    유입. 한류 콘텐츠 제작의 실질 거점화.</a:t>
            </a:r>
            <a:br/>
            <a:r>
              <a:t>👉</a:t>
            </a:r>
            <a:br/>
            <a:r>
              <a:t>버려진 공간이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5. Vision &amp;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인천 국제 넥스트웨이브 영화제는</a:t>
            </a:r>
            <a:br/>
            <a:r>
              <a:t>하나의 영화제가 아니라,</a:t>
            </a:r>
            <a:br/>
            <a:r>
              <a:t>하나의 도시 전략</a:t>
            </a:r>
            <a:br/>
            <a:r>
              <a:t>입니다.</a:t>
            </a:r>
            <a:br/>
            <a:r>
              <a:t>IIFF-NextWave는</a:t>
            </a:r>
            <a:br/>
            <a:r>
              <a:t>영화를 상영하는 이벤트가 아니라,</a:t>
            </a:r>
            <a:br/>
            <a:r>
              <a:t>도시의 정체성을</a:t>
            </a:r>
            <a:br/>
            <a:r>
              <a:t>                        다시 설계하는 프로젝트</a:t>
            </a:r>
            <a:br/>
            <a:r>
              <a:t>입니다.</a:t>
            </a:r>
            <a:br/>
            <a:r>
              <a:t>"영화가 머무는 도시 / 창작자가 성장하는 도시 / 세계가 다시 찾는</a:t>
            </a:r>
            <a:br/>
            <a:r>
              <a:t>                    인천"</a:t>
            </a:r>
            <a:br/>
            <a:r>
              <a:t>인천 국제 넥스트웨이브 영화제의 기획 철학</a:t>
            </a:r>
            <a:br/>
            <a:r>
              <a:t>우리가 살고 있는 시대는 불과 몇 년 전과도 완전히 다른 세상이 되었습니다. 사람들이 모이던 몰과 백화점들은 문을 닫고 도시는 비어 있는 공간을 안게 되었습니다. 창작은 더 이상</a:t>
            </a:r>
            <a:br/>
            <a:r>
              <a:t>                    소수의 재능이나 고가의 장비를 가진 사람만의 영역이 아닙니다.</a:t>
            </a:r>
            <a:br/>
            <a:r>
              <a:t>AI와 자동화는 아이디어가 없어도, 경험이 없어도 콘텐츠를 만들고 유통할 수 있는 시대를 열었습니다. 앞으로는 무엇이 진짜이고, 무엇이 가짜인지조차 구분하기 어려운 세상이 펼쳐질</a:t>
            </a:r>
            <a:br/>
            <a:r>
              <a:t>                    것입니다.</a:t>
            </a:r>
            <a:br/>
            <a:r>
              <a:t>이 변화는 막을 수 없습니다. 그리고 거스를</a:t>
            </a:r>
            <a:br/>
            <a:r>
              <a:t>                    필요도 없습니다.</a:t>
            </a:r>
            <a:br/>
            <a:r>
              <a:t>그럼에도 불구하고, 사람은 지난날을 기억합니다. 기술이 아무리 발전해도, 사람의 마음속에는 여전히</a:t>
            </a:r>
            <a:br/>
            <a:r>
              <a:t>추억과 낭만</a:t>
            </a:r>
            <a:br/>
            <a:r>
              <a:t>이 남아 있습니다. 손으로</a:t>
            </a:r>
            <a:br/>
            <a:r>
              <a:t>                    만든 것, 사람을 직접 만나 눈을 마주하는 경험, 같은 공간에서 숨을 쉬며 웃고, 울고, 감동하는 순간.</a:t>
            </a:r>
            <a:br/>
            <a:r>
              <a:t>IIFF는, 이 두 세대 사이에 단절이 아닌</a:t>
            </a:r>
            <a:br/>
            <a:r>
              <a:t>'연결'</a:t>
            </a:r>
            <a:br/>
            <a:r>
              <a:t>을 만들고자 합니다. IIFF는, 사람의 마음과 손으로 만들어진 것들이 다시 중심이 되는 공간을</a:t>
            </a:r>
            <a:br/>
            <a:r>
              <a:t>                    꿈꿉니다.</a:t>
            </a:r>
            <a:br/>
            <a:r>
              <a:t>동시에, AI와 새로운 테크놀로지와의 공존도 숨기지 않습니다. IIFF는, 과거를 붙잡는 영화제가 아니라,</a:t>
            </a:r>
            <a:br/>
            <a:r>
              <a:t>과거의 낭만과 미래의 기술이 만나는</a:t>
            </a:r>
            <a:br/>
            <a:r>
              <a:t>                        '브릿지'</a:t>
            </a:r>
            <a:br/>
            <a:r>
              <a:t>가 되고자 합니다.</a:t>
            </a:r>
            <a:br/>
            <a:r>
              <a:t>이전의 어떤 영화제와도 닮지</a:t>
            </a:r>
            <a:br/>
            <a:r>
              <a:t>                    않은, 솔직하고, 따뜻하고, 감동이 있는 영화제를 지향합니다.</a:t>
            </a:r>
            <a:br/>
            <a:r>
              <a:t>기술을 부정하지 않되, 사람을 지우지 않고</a:t>
            </a:r>
            <a:br/>
            <a:r>
              <a:t>미래를 말하되, 기억과 감정을 잃지 않으며</a:t>
            </a:r>
            <a:br/>
            <a:r>
              <a:t>경쟁보다 가능성을, 결과보다 '다음 장면'을 남기는 영화제</a:t>
            </a:r>
            <a:br/>
            <a:r>
              <a:t>IIFF는 계속해서 'If'를 선물하는 영화제가 되고자 합니다.</a:t>
            </a:r>
            <a:br/>
            <a:r>
              <a:t>"만약에, 이곳에서 내 이야기가 시작된다면? 만약에, 이 만남이 나의 다음 인생을 바꾼다면?"</a:t>
            </a:r>
            <a:br/>
            <a:r>
              <a:t>그 질문이 사람들의 마음속에 오래 남는</a:t>
            </a:r>
            <a:br/>
            <a:r>
              <a:t>                    영화제.</a:t>
            </a:r>
            <a:br/>
            <a:r>
              <a:t>인천 국제 넥스트웨이브 영화제는 영화를 통해 도시를 바꾸고, 사람을 다시 연결하며, 미래를 따뜻하게 건너가는 방법을 제안합니다.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2 •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1. Core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01</a:t>
            </a:r>
            <a:br/>
            <a:r>
              <a:t>COMMERCIAL &amp; GLOBAL SHOWCASE</a:t>
            </a:r>
            <a:br/>
            <a:r>
              <a:t>대중성과 국제 화제성을 동시에 확보하는 메인 스트림 섹션</a:t>
            </a:r>
            <a:br/>
            <a:r>
              <a:t>헐리우드 및 글로벌 상업영화, 국제 초청작 중심의 프리미엄 상영 섹션. 개·폐막작, 갈라 스크리닝, 레드카펫 이벤트를 통해 대중·미디어·스폰서 주목도를 극대화.</a:t>
            </a:r>
            <a:br/>
            <a:r>
              <a:t>상업성과 작품성을 겸비한 작품 위주로 구성하여 "영화제가 어렵다"는 인식을 낮추고 관객 유입의 중심축 역할 수행. 주요 작품은</a:t>
            </a:r>
            <a:br/>
            <a:r>
              <a:t>                        감독·배우 내한, 관객과의 대화(GV), 프레스 인터뷰 연계.</a:t>
            </a:r>
            <a:br/>
            <a:r>
              <a:t>👉</a:t>
            </a:r>
            <a:br/>
            <a:r>
              <a:t>IIFF의 외부 인지도·흥행·미디어 파급력을 책임지는</a:t>
            </a:r>
            <a:br/>
            <a:r>
              <a:t>얼굴</a:t>
            </a:r>
            <a:br/>
            <a:r>
              <a:t>                            섹션</a:t>
            </a:r>
            <a:br/>
            <a:r>
              <a:t>02</a:t>
            </a:r>
            <a:br/>
            <a:r>
              <a:t>METHOD FEST INDEPENDENT FILM SECTION</a:t>
            </a:r>
            <a:br/>
            <a:r>
              <a:t>창작자 중심 글로벌 독립영화제 섹션</a:t>
            </a:r>
            <a:br/>
            <a:r>
              <a:t>미국 Method Fest Independent Film Festival과의 공식 연계. 연기(Method Acting), 연출, 스토리 중심의 '창작</a:t>
            </a:r>
            <a:br/>
            <a:r>
              <a:t>                        방법론(Method)'에 집중한 큐레이션. 상업성보다 창작 철학·과정·연기 밀도를 중시하는 작품 선정.</a:t>
            </a:r>
            <a:br/>
            <a:r>
              <a:t>감독·배우·프로듀서를 위한: Method 기반 마스터 클래스, 연기·연출 워크숍, 국제 공동 제작 토크 세션 운영.</a:t>
            </a:r>
            <a:br/>
            <a:r>
              <a:t>👉</a:t>
            </a:r>
            <a:br/>
            <a:r>
              <a:t>단순 상영이 아닌</a:t>
            </a:r>
            <a:br/>
            <a:r>
              <a:t>"영화인이 성장하는</a:t>
            </a:r>
            <a:br/>
            <a:r>
              <a:t>                            영화제"</a:t>
            </a:r>
            <a:br/>
            <a:r>
              <a:t>라는 철학을 가장 잘 보여주는 섹션</a:t>
            </a:r>
            <a:br/>
            <a:r>
              <a:t>03</a:t>
            </a:r>
            <a:br/>
            <a:r>
              <a:t>NEXTWAVE MOBILE FILM COMPETITION</a:t>
            </a:r>
            <a:br/>
            <a:r>
              <a:t>모바일로 제작하는 '새로운 영화</a:t>
            </a:r>
            <a:br/>
            <a:r>
              <a:t>                        언어' 대표 미래 섹션</a:t>
            </a:r>
            <a:br/>
            <a:r>
              <a:t>갤럭시·아이폰 등 모바일 디바이스로 촬영한 작품만 출품 가능. 장르·국적 제한 없이 젊은 창작자, 신인, 크리에이터 대거 참여 유도. 숏폼(Short-form)과 영화적</a:t>
            </a:r>
            <a:br/>
            <a:r>
              <a:t>                        서사의 경계를 확장하는 실험적 섹션.</a:t>
            </a:r>
            <a:br/>
            <a:r>
              <a:t>수상작은 대형 스크린 상영 / 온라인 공식 채널을 통한 글로벌 공개 / 브랜드·테크 기업과의 협업 기회 연계.</a:t>
            </a:r>
            <a:br/>
            <a:r>
              <a:t>👉</a:t>
            </a:r>
            <a:br/>
            <a:r>
              <a:t>IIFF-NextWave의 이름을 가장 직접적으로 설명하는</a:t>
            </a:r>
            <a:br/>
            <a:r>
              <a:t>미래 영화의 인큐베이터</a:t>
            </a:r>
            <a:br/>
            <a:r>
              <a:t>04</a:t>
            </a:r>
            <a:br/>
            <a:r>
              <a:t>FESTIVAL CAMP &amp; LIVE CULTURE</a:t>
            </a:r>
            <a:br/>
            <a:r>
              <a:t>캠핑·공연·상영이 결합된 '영화형</a:t>
            </a:r>
            <a:br/>
            <a:r>
              <a:t>                        축제'</a:t>
            </a:r>
            <a:br/>
            <a:r>
              <a:t>인스파이어 야외 공간을 활용한 캠핑형 페스티벌 존. 밤에는 야외 상영 / 라이브 공연 / DJ·뮤직 콘텐츠. 낮에는 토크 / 워크숍 / 크리에이터 밋업.</a:t>
            </a:r>
            <a:br/>
            <a:r>
              <a:t>관객·영화인·아티스트가 구분 없이 섞이는 자유롭고 젊은 영화제 분위기 형성.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2 •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2. Star Invitation &amp; 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7.1 헐리우드 스타 초청 전략</a:t>
            </a:r>
            <a:br/>
            <a:r>
              <a:t>헐리우드 현지 법인 또는 에이전시(CAA, WME, UTA)를 통한 직접적 초청 루트를 확보합니다. 출연료, 체류비, 의전 사항은 국제 기준의 Rider 계약으로 사전 합의합니다.</a:t>
            </a:r>
            <a:br/>
            <a:r>
              <a:t>초청 대상 (예시)</a:t>
            </a:r>
            <a:br/>
            <a:r>
              <a:t>섭외 채널</a:t>
            </a:r>
            <a:br/>
            <a:r>
              <a:t>프로그램 연계</a:t>
            </a:r>
            <a:br/>
            <a:r>
              <a:t>할 베리 (Halle Berry)</a:t>
            </a:r>
            <a:br/>
            <a:r>
              <a:t>CAA / 개인 에이전트</a:t>
            </a:r>
            <a:br/>
            <a:r>
              <a:t>갈라 스크리닝 주연작 상영 + 마스터 클래스</a:t>
            </a:r>
            <a:br/>
            <a:r>
              <a:t>키아누 리브스 (Keanu Reeves)</a:t>
            </a:r>
            <a:br/>
            <a:r>
              <a:t>WME / 개인 에이전트</a:t>
            </a:r>
            <a:br/>
            <a:r>
              <a:t>개막식 특별 게스트 + 관객</a:t>
            </a:r>
            <a:br/>
            <a:r>
              <a:t>                                    밋앤그릿</a:t>
            </a:r>
            <a:br/>
            <a:r>
              <a:t>봉준호 감독</a:t>
            </a:r>
            <a:br/>
            <a:r>
              <a:t>국내 에이전시</a:t>
            </a:r>
            <a:br/>
            <a:r>
              <a:t>심사위원장 또는 마스터 클래스 연사</a:t>
            </a:r>
            <a:br/>
            <a:r>
              <a:t>송강호</a:t>
            </a:r>
            <a:br/>
            <a:r>
              <a:t>국내 에이전시</a:t>
            </a:r>
            <a:br/>
            <a:r>
              <a:t>개막작/폐막작 주연 배우 초청</a:t>
            </a:r>
            <a:br/>
            <a:r>
              <a:t>아시아 톱스타 (예: 량차오웨이)</a:t>
            </a:r>
            <a:br/>
            <a:r>
              <a:t>중국/홍콩 에이전시</a:t>
            </a:r>
            <a:br/>
            <a:r>
              <a:t>아시아 특별전 게스트</a:t>
            </a:r>
            <a:br/>
            <a:r>
              <a:t>7.2 NextWave Creator Camp 규정 (요약)</a:t>
            </a:r>
            <a:br/>
            <a:r>
              <a:t>📋 참가 자격</a:t>
            </a:r>
            <a:br/>
            <a:r>
              <a:t>만 16세 이상 전 세계 누구나</a:t>
            </a:r>
            <a:br/>
            <a:r>
              <a:t>개인 또는 5인 이내 팀 참가</a:t>
            </a:r>
            <a:br/>
            <a:r>
              <a:t>스마트폰(아이폰/갤럭시) 촬영 필수</a:t>
            </a:r>
            <a:br/>
            <a:r>
              <a:t>참가비 포함 (야영 장비 기본 제공)</a:t>
            </a:r>
            <a:br/>
            <a:r>
              <a:t>🎬 제작 규정</a:t>
            </a:r>
            <a:br/>
            <a:r>
              <a:t>장르 자유 (실험/다큐/드라마/뮤비)</a:t>
            </a:r>
            <a:br/>
            <a:r>
              <a:t>러닝타임: 3분~15분 이내</a:t>
            </a:r>
            <a:br/>
            <a:r>
              <a:t>캠프 기간(48시간) 내 촬영·편집·제출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2 •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2. Star Invitation &amp; 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7.3 의전 및 VIP 관리</a:t>
            </a:r>
            <a:br/>
            <a:r>
              <a:t>항목</a:t>
            </a:r>
            <a:br/>
            <a:r>
              <a:t>내용</a:t>
            </a:r>
            <a:br/>
            <a:r>
              <a:t>공항 의전</a:t>
            </a:r>
            <a:br/>
            <a:r>
              <a:t>인천공항 VIP 통로, 전용 의전 차량, 다국어 수행원 배치</a:t>
            </a:r>
            <a:br/>
            <a:r>
              <a:t>숙소</a:t>
            </a:r>
            <a:br/>
            <a:r>
              <a:t>인스파이어 리조트 최상급 스위트 또는 파르나스호텔</a:t>
            </a:r>
            <a:br/>
            <a:r>
              <a:t>현장 의전</a:t>
            </a:r>
            <a:br/>
            <a:r>
              <a:t>전용 대기실, 보안</a:t>
            </a:r>
            <a:br/>
            <a:r>
              <a:t>                                    경호(2인 이상), 전속 코디네이터</a:t>
            </a:r>
            <a:br/>
            <a:r>
              <a:t>Rider 사항</a:t>
            </a:r>
            <a:br/>
            <a:r>
              <a:t>식이요법, 선호 차량, 동반인 체류, PR 제한 사항 등 사전 계약</a:t>
            </a:r>
            <a:br/>
            <a:r>
              <a:t>보험</a:t>
            </a:r>
            <a:br/>
            <a:r>
              <a:t>초청 게스트</a:t>
            </a:r>
            <a:br/>
            <a:r>
              <a:t>                                    상해보험, 배상 책임 보험 별도 가입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2 •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3. Daily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"관객이 아침에 도착해서 밤늦게까지 머무르는" 체류형 영화제의 하루</a:t>
            </a:r>
            <a:br/>
            <a:r>
              <a:t>시간</a:t>
            </a:r>
            <a:br/>
            <a:r>
              <a:t>장소</a:t>
            </a:r>
            <a:br/>
            <a:r>
              <a:t>프로그램</a:t>
            </a:r>
            <a:br/>
            <a:r>
              <a:t>상세</a:t>
            </a:r>
            <a:br/>
            <a:r>
              <a:t>09:00~10:00</a:t>
            </a:r>
            <a:br/>
            <a:r>
              <a:t>디스커버리 파크</a:t>
            </a:r>
            <a:br/>
            <a:r>
              <a:t>🌅 모닝 요가 &amp; 아침 식사</a:t>
            </a:r>
            <a:br/>
            <a:r>
              <a:t>야영 참가자 기상, 캠프 내 모닝 루틴</a:t>
            </a:r>
            <a:br/>
            <a:r>
              <a:t>10:00~12:00</a:t>
            </a:r>
            <a:br/>
            <a:r>
              <a:t>인접 CGV</a:t>
            </a:r>
            <a:br/>
            <a:r>
              <a:t>🎬 인디 섹션 상영 (메소드)</a:t>
            </a:r>
            <a:br/>
            <a:r>
              <a:t>메소드-인디 섹션 작품 2~3편 블록 상영 + GV</a:t>
            </a:r>
            <a:br/>
            <a:r>
              <a:t>10:00~12:00</a:t>
            </a:r>
            <a:br/>
            <a:r>
              <a:t>디스커버리 파크</a:t>
            </a:r>
            <a:br/>
            <a:r>
              <a:t>📱 Creator Camp 활동</a:t>
            </a:r>
            <a:br/>
            <a:r>
              <a:t>모바일 영화 제작 워크숍, 촬영 실습</a:t>
            </a:r>
            <a:br/>
            <a:r>
              <a:t>12:00~13:30</a:t>
            </a:r>
            <a:br/>
            <a:r>
              <a:t>오로라 푸드코트</a:t>
            </a:r>
            <a:br/>
            <a:r>
              <a:t>🍜 K-푸드 팝업 런치</a:t>
            </a:r>
            <a:br/>
            <a:r>
              <a:t>인천 맛집 및 K-푸드 셰프 팝업 운영</a:t>
            </a:r>
            <a:br/>
            <a:r>
              <a:t>13:30~15:30</a:t>
            </a:r>
            <a:br/>
            <a:r>
              <a:t>MICE 시설</a:t>
            </a:r>
            <a:br/>
            <a:r>
              <a:t>🎤 마스터 클래스</a:t>
            </a:r>
            <a:br/>
            <a:r>
              <a:t>헐리우드 배우/감독의 특별 강연 및 Q&amp;A</a:t>
            </a:r>
            <a:br/>
            <a:r>
              <a:t>13:30~15:30</a:t>
            </a:r>
            <a:br/>
            <a:r>
              <a:t>MICE 시설</a:t>
            </a:r>
            <a:br/>
            <a:r>
              <a:t>💼 비즈니스 포럼</a:t>
            </a:r>
            <a:br/>
            <a:r>
              <a:t>공동 제작·투자 매칭 세션</a:t>
            </a:r>
            <a:br/>
            <a:r>
              <a:t>15:30~16:00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2 •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4. Civic Participation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구분</a:t>
            </a:r>
            <a:br/>
            <a:r>
              <a:t>프로그램명</a:t>
            </a:r>
            <a:br/>
            <a:r>
              <a:t>역할 및 혜택</a:t>
            </a:r>
            <a:br/>
            <a:r>
              <a:t>연계 특징</a:t>
            </a:r>
            <a:br/>
            <a:r>
              <a:t>핵심 활동 참여</a:t>
            </a:r>
            <a:br/>
            <a:r>
              <a:t>i-NextWave Creator Camp 코디네이터</a:t>
            </a:r>
            <a:br/>
            <a:r>
              <a:t>캠프 운영</a:t>
            </a:r>
            <a:br/>
            <a:r>
              <a:t>                                지원, 외국인 참가자 통역/안내, 야영 안전 관리 보조</a:t>
            </a:r>
            <a:br/>
            <a:r>
              <a:t>모바일/야영</a:t>
            </a:r>
            <a:br/>
            <a:r>
              <a:t>홍보 및 피드백</a:t>
            </a:r>
            <a:br/>
            <a:r>
              <a:t>인천 글로벌 모니터링단 (IGM)</a:t>
            </a:r>
            <a:br/>
            <a:r>
              <a:t>해외 관람객 유치</a:t>
            </a:r>
            <a:br/>
            <a:r>
              <a:t>                                피드백, K-컬처 체험 동선 점검, 바이럴 홍보 콘텐츠 제작</a:t>
            </a:r>
            <a:br/>
            <a:r>
              <a:t>K-컬처</a:t>
            </a:r>
            <a:br/>
            <a:r>
              <a:t>지역 연결고리</a:t>
            </a:r>
            <a:br/>
            <a:r>
              <a:t>메소드 인디 섹션 서포터</a:t>
            </a:r>
            <a:br/>
            <a:r>
              <a:t>독립 영화관 안내, 아트 스크리닝 셔틀 안내 및 영화 정보 공유</a:t>
            </a:r>
            <a:br/>
            <a:r>
              <a:t>메소드</a:t>
            </a:r>
            <a:br/>
            <a:r>
              <a:t>인센티브</a:t>
            </a:r>
            <a:br/>
            <a:r>
              <a:t>VIP 패스, 공식 굿즈, 헐리우드 스타 멘토링 클래스 특별 참석 기회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3 •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1. Core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번호</a:t>
            </a:r>
            <a:br/>
            <a:r>
              <a:t>핵심 특징</a:t>
            </a:r>
            <a:br/>
            <a:r>
              <a:t>영화제 비젼</a:t>
            </a:r>
            <a:br/>
            <a:r>
              <a:t>구체적 실현 전략</a:t>
            </a:r>
            <a:br/>
            <a:r>
              <a:t>1</a:t>
            </a:r>
            <a:br/>
            <a:r>
              <a:t>아시아와 헐리우드의 만남</a:t>
            </a:r>
            <a:br/>
            <a:r>
              <a:t>"The Gateway: 아시아-헐리우드, 새로운 물결의 시작"</a:t>
            </a:r>
            <a:br/>
            <a:r>
              <a:t>개막식 및 레드카펫: 인스파이어 아레나 및 오로라 활용, 글로벌·아시아 스타 공동 레드카펫. 비즈니스 &amp; 포럼: MICE 시설에서 공동 제작 및 투자</a:t>
            </a:r>
            <a:br/>
            <a:r>
              <a:t>                                유치 포럼 개최.</a:t>
            </a:r>
            <a:br/>
            <a:r>
              <a:t>2</a:t>
            </a:r>
            <a:br/>
            <a:r>
              <a:t>모바일/야영/평가/상영</a:t>
            </a:r>
            <a:br/>
            <a:r>
              <a:t>"모두가 감독, 모두가</a:t>
            </a:r>
            <a:br/>
            <a:r>
              <a:t>                                비평가: NextWave Creator Camp"</a:t>
            </a:r>
            <a:br/>
            <a:r>
              <a:t>디스커버리 파크에 국제 야영장 조성. 참가자들이 모바일폰으로 영화를 제작하고, 야외 대형 스크린에서 상영 및 상호 평가 진행.</a:t>
            </a:r>
            <a:br/>
            <a:r>
              <a:t>3</a:t>
            </a:r>
            <a:br/>
            <a:r>
              <a:t>메소드필름페스타 융합</a:t>
            </a:r>
            <a:br/>
            <a:r>
              <a:t>"Method-Indie Channel: 독립영화</a:t>
            </a:r>
            <a:br/>
            <a:r>
              <a:t>                                정신 계승"</a:t>
            </a:r>
            <a:br/>
            <a:r>
              <a:t>'i-NWFF 메소드필름 인디 섹션' 신설. 공동 심사 및 초청을 통해 독립영화의 권위를 확보. 인접 CGV 상영관을 인디 영화 전용관으로 운영.</a:t>
            </a:r>
            <a:br/>
            <a:r>
              <a:t>4</a:t>
            </a:r>
            <a:br/>
            <a:r>
              <a:t>헐리우드 유명배우 참여</a:t>
            </a:r>
            <a:br/>
            <a:r>
              <a:t>"Star Power &amp; Global Mentoring"</a:t>
            </a:r>
            <a:br/>
            <a:r>
              <a:t>헐리우드 A급 배우 출연작 상영 및 배우 초청. 아레나에서 '글로벌 멘토링 클래스' 운영.</a:t>
            </a:r>
            <a:br/>
            <a:r>
              <a:t>5</a:t>
            </a:r>
            <a:br/>
            <a:r>
              <a:t>인천-하와이 교차 개최</a:t>
            </a:r>
            <a:br/>
            <a:r>
              <a:t>"Dual-Hub Strategy:</a:t>
            </a:r>
            <a:br/>
            <a:r>
              <a:t>                                아시아-태평양 문화 교류"</a:t>
            </a:r>
            <a:br/>
            <a:r>
              <a:t>1~3회는 인천 기반 구축, 4회부터 하와이 국제영화제와 협력하여 교차 개최 로드맵 수립.</a:t>
            </a:r>
            <a:br/>
            <a:r>
              <a:t>6</a:t>
            </a:r>
            <a:br/>
            <a:r>
              <a:t>K-컬처 융합</a:t>
            </a:r>
            <a:br/>
            <a:r>
              <a:t>"Beyond Cinema: K-WAVE Festival"</a:t>
            </a:r>
            <a:br/>
            <a:r>
              <a:t>디스커버리 파크 내 K-팝 미니 콘서트/버스킹 존, K-푸드 팝업 스토어, K-뷰티 체험 부스를 통합 운영.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IFF 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601803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C9A84C"/>
                </a:solidFill>
                <a:latin typeface="Playfair Display"/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070"/>
                </a:solidFill>
                <a:latin typeface="Inter"/>
              </a:defRPr>
            </a:pPr>
            <a:r>
              <a:t>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프로그램 · programs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3 •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2.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2.1 조직도 (3단계)</a:t>
            </a:r>
            <a:br/>
            <a:r>
              <a:t>추진 위원회 (위원장)</a:t>
            </a:r>
            <a:br/>
            <a:r>
              <a:t>총괄사업추진단장</a:t>
            </a:r>
            <a:br/>
            <a:r>
              <a:t>예술 전략 및 감독</a:t>
            </a:r>
            <a:br/>
            <a:r>
              <a:t>사무국 (집행 조직)</a:t>
            </a:r>
            <a:br/>
            <a:r>
              <a:t>실무 운영</a:t>
            </a:r>
            <a:br/>
            <a:r>
              <a:t>전문 위원회 &amp; 파트너</a:t>
            </a:r>
            <a:br/>
            <a:r>
              <a:t>2.2 참여 가능 그룹별 역할</a:t>
            </a:r>
            <a:br/>
            <a:r>
              <a:t>그룹</a:t>
            </a:r>
            <a:br/>
            <a:r>
              <a:t>조직 역할</a:t>
            </a:r>
            <a:br/>
            <a:r>
              <a:t>주요 임무 및 참여 명분</a:t>
            </a:r>
            <a:br/>
            <a:r>
              <a:t>인천광역시 &amp; 인천국제공항공사</a:t>
            </a:r>
            <a:br/>
            <a:r>
              <a:t>조직위원회 및 공동 주최</a:t>
            </a:r>
            <a:br/>
            <a:r>
              <a:t>행정/재정 지원, 국제 협력,</a:t>
            </a:r>
            <a:br/>
            <a:r>
              <a:t>                                    장소 사용 허가</a:t>
            </a:r>
            <a:br/>
            <a:r>
              <a:t>인스파이어 리조트</a:t>
            </a:r>
            <a:br/>
            <a:r>
              <a:t>집행위원회 및 공동 주최</a:t>
            </a:r>
            <a:br/>
            <a:r>
              <a:t>주요 시설 제공 및 운영,</a:t>
            </a:r>
            <a:br/>
            <a:r>
              <a:t>                                    숙박/F&amp;B 협력, 마케팅/홍보 협력</a:t>
            </a:r>
            <a:br/>
            <a:r>
              <a:t>CGV (또는 주요 영화관 체인)</a:t>
            </a:r>
            <a:br/>
            <a:r>
              <a:t>실무 집행 (상영 시설)</a:t>
            </a:r>
            <a:br/>
            <a:r>
              <a:t>상영관 시설</a:t>
            </a:r>
            <a:br/>
            <a:r>
              <a:t>                                    제공 및 기술 운영, 티켓 시스템 연동</a:t>
            </a:r>
            <a:br/>
            <a:r>
              <a:t>한국 영화진흥위원회(KOFIC) &amp; 영상위원회</a:t>
            </a:r>
            <a:br/>
            <a:r>
              <a:t>전문 위원회 (심사/교육)</a:t>
            </a:r>
            <a:br/>
            <a:r>
              <a:t>국내 독립 영화</a:t>
            </a:r>
            <a:br/>
            <a:r>
              <a:t>                                    발굴 및 지원, 영화 인력 양성 프로그램</a:t>
            </a:r>
            <a:br/>
            <a:r>
              <a:t>메소드필름페스타(Method Fest)</a:t>
            </a:r>
            <a:br/>
            <a:r>
              <a:t>전문 위원회 (해외 협력)</a:t>
            </a:r>
            <a:br/>
            <a:r>
              <a:t>독립 영화 섹션 공동</a:t>
            </a:r>
            <a:br/>
            <a:r>
              <a:t>                                    기획, 헐리우드 독립영화인 네트워크 연계</a:t>
            </a:r>
            <a:br/>
            <a:r>
              <a:t>글로벌 콘텐츠 에이전시 (CAA, UTA)</a:t>
            </a:r>
            <a:br/>
            <a:r>
              <a:t>전문 위원회 (스타 섭외)</a:t>
            </a:r>
            <a:br/>
            <a:r>
              <a:t>헐리우드 유명 배우 및 감독</a:t>
            </a:r>
            <a:br/>
            <a:r>
              <a:t>                                    초청 대행, 비즈니스 미팅 주선</a:t>
            </a:r>
            <a:br/>
            <a:r>
              <a:t>엔터테인먼트 기획사 (하이브, JYP 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IFF 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601803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C9A84C"/>
                </a:solidFill>
                <a:latin typeface="Playfair Display"/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070"/>
                </a:solidFill>
                <a:latin typeface="Inter"/>
              </a:defRPr>
            </a:pPr>
            <a: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실행전략 · strategy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3 •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3. 3-Year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1단계</a:t>
            </a:r>
            <a:br/>
            <a:r>
              <a:t>Foundation — 1회</a:t>
            </a:r>
            <a:br/>
            <a:r>
              <a:t>목표:</a:t>
            </a:r>
            <a:br/>
            <a:r>
              <a:t>영화제의 성공적 런칭 및 글로벌 인지도의 기반 마련</a:t>
            </a:r>
            <a:br/>
            <a:r>
              <a:t>공식 조직위/집행위원회 발족 (인천시-인스파이어-메소드 파트너십)</a:t>
            </a:r>
            <a:br/>
            <a:r>
              <a:t>아레나 개막식 &amp; CGV 상영관 인디 섹션</a:t>
            </a:r>
            <a:br/>
            <a:r>
              <a:t>                            운영 집중</a:t>
            </a:r>
            <a:br/>
            <a:r>
              <a:t>'NextWave Creator</a:t>
            </a:r>
            <a:br/>
            <a:r>
              <a:t>                            Camp' 시범 운영 (국내외 100팀 제한)</a:t>
            </a:r>
            <a:br/>
            <a:r>
              <a:t>K-팝 연계 미니 콘서트 도입</a:t>
            </a:r>
            <a:br/>
            <a:r>
              <a:t>2단계</a:t>
            </a:r>
            <a:br/>
            <a:r>
              <a:t>Expansion — 2회</a:t>
            </a:r>
            <a:br/>
            <a:r>
              <a:t>목표:</a:t>
            </a:r>
            <a:br/>
            <a:r>
              <a:t>아시아-헐리우드 비즈니스 플랫폼 기능 강화 및 프로그램 확장</a:t>
            </a:r>
            <a:br/>
            <a:r>
              <a:t>'아시아-헐리우드</a:t>
            </a:r>
            <a:br/>
            <a:r>
              <a:t>                            비즈니스 마켓' 정식 런칭 및 MICE 활용</a:t>
            </a:r>
            <a:br/>
            <a:r>
              <a:t>헐리우드 유명 배우 마스터 클래스 정례화</a:t>
            </a:r>
            <a:br/>
            <a:r>
              <a:t>                            및 확대</a:t>
            </a:r>
            <a:br/>
            <a:r>
              <a:t>디스커버리 파크 국제 야영/모바일</a:t>
            </a:r>
            <a:br/>
            <a:r>
              <a:t>                            영화제 규모 2배 확장</a:t>
            </a:r>
            <a:br/>
            <a:r>
              <a:t>K-컬처 연계 프로그램(푸드, 뷰티) 대폭 강화</a:t>
            </a:r>
            <a:br/>
            <a:r>
              <a:t>3단계</a:t>
            </a:r>
            <a:br/>
            <a:r>
              <a:t>Globalization — 3회</a:t>
            </a:r>
            <a:br/>
            <a:r>
              <a:t>목표:</a:t>
            </a:r>
            <a:br/>
            <a:r>
              <a:t>아시아 대표 영화제 도약 및 인천-하와이 교차 개최 준비 완료</a:t>
            </a:r>
            <a:br/>
            <a:r>
              <a:t>하와이</a:t>
            </a:r>
            <a:br/>
            <a:r>
              <a:t>                            국제영화제와 공식 협력 MOU 체결 및 교차 개최 로드맵 확정</a:t>
            </a:r>
            <a:br/>
            <a:r>
              <a:t>메소드 섹션을 공식 경쟁 부문으로 격상</a:t>
            </a:r>
            <a:br/>
            <a:r>
              <a:t>3개년 성과 분석 및 장기 비전</a:t>
            </a:r>
            <a:br/>
            <a:r>
              <a:t>                            수립</a:t>
            </a:r>
            <a:br/>
            <a:r>
              <a:t>4. 공간 활용 및 프로그램 배치 계획</a:t>
            </a:r>
            <a:br/>
            <a:r>
              <a:t>장소</a:t>
            </a:r>
            <a:br/>
            <a:r>
              <a:t>주요 프로그램</a:t>
            </a:r>
            <a:br/>
            <a:r>
              <a:t>활용 특징</a:t>
            </a:r>
            <a:br/>
            <a:r>
              <a:t>인스파이어 아레나</a:t>
            </a:r>
            <a:br/>
            <a:r>
              <a:t>개막/폐막식 및</a:t>
            </a:r>
            <a:br/>
            <a:r>
              <a:t>                                    레드카펫, K-팝 스타 초청 '갈라 콘서트'</a:t>
            </a:r>
            <a:br/>
            <a:r>
              <a:t>1, 4, 6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3 •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4. A-to-Z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전체 예산 30억 원 기준, 단계별 자금의 고려한 동시 사업 계획</a:t>
            </a:r>
            <a:br/>
            <a:r>
              <a:t>13.1 단계별 추진 로드맵</a:t>
            </a:r>
            <a:br/>
            <a:r>
              <a:t>1단계</a:t>
            </a:r>
            <a:br/>
            <a:r>
              <a:t>추진위 발족 (2025.10 ~ 2026.01)</a:t>
            </a:r>
            <a:br/>
            <a:r>
              <a:t>핵심 목표:</a:t>
            </a:r>
            <a:br/>
            <a:r>
              <a:t>법인 설립, 초기 씨드 자금 확보(2.5억), 핵심 파트너십(인스파이어, 인천시) MOU 체결</a:t>
            </a:r>
            <a:br/>
            <a:r>
              <a:t>예상 비용:</a:t>
            </a:r>
            <a:br/>
            <a:r>
              <a:t>2.5억 원 (인건비, 법인 설립비, CI 개발, 기획 연구비)</a:t>
            </a:r>
            <a:br/>
            <a:r>
              <a:t>2단계</a:t>
            </a:r>
            <a:br/>
            <a:r>
              <a:t>조직위 출범 (2026.02 ~ 2026.04)</a:t>
            </a:r>
            <a:br/>
            <a:r>
              <a:t>핵심 목표:</a:t>
            </a:r>
            <a:br/>
            <a:r>
              <a:t>사무국 인력 채용(팀장급), 프로그램 섹션 확정, 1차 스폰서십 유치 완료(30%)</a:t>
            </a:r>
            <a:br/>
            <a:r>
              <a:t>예상 비용:</a:t>
            </a:r>
            <a:br/>
            <a:r>
              <a:t>5억 원 (운영비, 홈페이지 구축, 해외 게스트 섭외 착수금)</a:t>
            </a:r>
            <a:br/>
            <a:r>
              <a:t>3단계</a:t>
            </a:r>
            <a:br/>
            <a:r>
              <a:t>프로그램 확정 &amp; 마케팅 (2026.05 ~ 2026.07)</a:t>
            </a:r>
            <a:br/>
            <a:r>
              <a:t>핵심 목표:</a:t>
            </a:r>
            <a:br/>
            <a:r>
              <a:t>상영작 선정, 헐리우드 스타 초청 확정, 티켓 예매 오픈, 자원활동가 모집</a:t>
            </a:r>
            <a:br/>
            <a:r>
              <a:t>예상 비용:</a:t>
            </a:r>
            <a:br/>
            <a:r>
              <a:t>10억 원 (게스트 항공/숙박, 홍보비, 시설 계약금)</a:t>
            </a:r>
            <a:br/>
            <a:r>
              <a:t>4단계</a:t>
            </a:r>
            <a:br/>
            <a:r>
              <a:t>현장 준비 &amp; 개최 (2026.08 ~ 2026.10)</a:t>
            </a:r>
            <a:br/>
            <a:r>
              <a:t>핵심 목표:</a:t>
            </a:r>
            <a:br/>
            <a:r>
              <a:t>시설물 설치, 리허설, 영화제 개최, 안전 관리</a:t>
            </a:r>
            <a:br/>
            <a:r>
              <a:t>예상 비용:</a:t>
            </a:r>
            <a:br/>
            <a:r>
              <a:t>12.5억 원 (행사 운영비, 무대 설치비, 인건비, 체류비)</a:t>
            </a:r>
            <a:br/>
            <a:r>
              <a:t>13.2 조직위원회 구조</a:t>
            </a:r>
            <a:br/>
            <a:r>
              <a:t>조직 위원장 (시장/기업인)</a:t>
            </a:r>
            <a:br/>
            <a:r>
              <a:t>집행 위원장 (총괄 Expert)</a:t>
            </a:r>
            <a:br/>
            <a:r>
              <a:t>사무국장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3 •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4. A-to-Z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13.3 팀별 KPI (핵심 성과 지표)</a:t>
            </a:r>
            <a:br/>
            <a:r>
              <a:t>조직</a:t>
            </a:r>
            <a:br/>
            <a:r>
              <a:t>확인 방법 (KPI)</a:t>
            </a:r>
            <a:br/>
            <a:r>
              <a:t>달성 기준</a:t>
            </a:r>
            <a:br/>
            <a:r>
              <a:t>프로그램팀</a:t>
            </a:r>
            <a:br/>
            <a:r>
              <a:t>초청 수락서(LOI) 확보율</a:t>
            </a:r>
            <a:br/>
            <a:r>
              <a:t>D-3개월까지 주요 게스트/작품 90% 계약</a:t>
            </a:r>
            <a:br/>
            <a:r>
              <a:t>                                    완료</a:t>
            </a:r>
            <a:br/>
            <a:r>
              <a:t>마케팅팀</a:t>
            </a:r>
            <a:br/>
            <a:r>
              <a:t>티켓 예매율 및 SNS 도달률</a:t>
            </a:r>
            <a:br/>
            <a:r>
              <a:t>얼리버드 10분 내 매진 / 팔로워 5만 명</a:t>
            </a:r>
            <a:br/>
            <a:r>
              <a:t>운영팀</a:t>
            </a:r>
            <a:br/>
            <a:r>
              <a:t>시설 안전 점검 필증</a:t>
            </a:r>
            <a:br/>
            <a:r>
              <a:t>D-1개월 전 모든 시설 안전 검사 '적합' 판정</a:t>
            </a:r>
            <a:br/>
            <a:r>
              <a:t>대외협력팀</a:t>
            </a:r>
            <a:br/>
            <a:r>
              <a:t>스폰서십 입금 달성률</a:t>
            </a:r>
            <a:br/>
            <a:r>
              <a:t>D-2개월 전 목표 후원금 100% 약정 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3 •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5. Space &amp;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10.1 인스파이어 리조트 공간별 활용 전략</a:t>
            </a:r>
            <a:br/>
            <a:r>
              <a:t>공간</a:t>
            </a:r>
            <a:br/>
            <a:r>
              <a:t>면적/규모</a:t>
            </a:r>
            <a:br/>
            <a:r>
              <a:t>영화제 활용 프로그램</a:t>
            </a:r>
            <a:br/>
            <a:r>
              <a:t>인스파이어 아레나</a:t>
            </a:r>
            <a:br/>
            <a:r>
              <a:t>15,000석 다목적 공연장</a:t>
            </a:r>
            <a:br/>
            <a:r>
              <a:t>개·폐막식, 갈라</a:t>
            </a:r>
            <a:br/>
            <a:r>
              <a:t>                                    스크리닝, K-팝 콘서트, 시상식</a:t>
            </a:r>
            <a:br/>
            <a:r>
              <a:t>디스커버리 파크</a:t>
            </a:r>
            <a:br/>
            <a:r>
              <a:t>대규모 야외 공간</a:t>
            </a:r>
            <a:br/>
            <a:r>
              <a:t>Creator Camp 야영, 야외상영, 캠핑 페스티벌, K-푸드/뷰티 존</a:t>
            </a:r>
            <a:br/>
            <a:r>
              <a:t>MICE 시설</a:t>
            </a:r>
            <a:br/>
            <a:r>
              <a:t>컨벤션·회의실</a:t>
            </a:r>
            <a:br/>
            <a:r>
              <a:t>비즈니스 포럼,</a:t>
            </a:r>
            <a:br/>
            <a:r>
              <a:t>                                    마스터 클래스, 프레스 센터, 투자자 네트워킹</a:t>
            </a:r>
            <a:br/>
            <a:r>
              <a:t>오로라(디지털 스트리트)</a:t>
            </a:r>
            <a:br/>
            <a:r>
              <a:t>약 200m 디지털 미디어 조형물</a:t>
            </a:r>
            <a:br/>
            <a:r>
              <a:t>모바일 수상작</a:t>
            </a:r>
            <a:br/>
            <a:r>
              <a:t>                                    디지털 전시, 포토존, 스폰서 디지털 광고</a:t>
            </a:r>
            <a:br/>
            <a:r>
              <a:t>호텔·리조트</a:t>
            </a:r>
            <a:br/>
            <a:r>
              <a:t>숙박 시설</a:t>
            </a:r>
            <a:br/>
            <a:r>
              <a:t>VIP/게스트 숙소, 관객 패키지 연계</a:t>
            </a:r>
            <a:br/>
            <a:r>
              <a:t>10.2 인천 도심 연계 전략</a:t>
            </a:r>
            <a:br/>
            <a:r>
              <a:t>🎬 영화공간 주안</a:t>
            </a:r>
            <a:br/>
            <a:r>
              <a:t>인천의 독립영화 거점. 메소드-인디 섹션 위성 상영관 및 아트 스크리닝 셔틀 운영.</a:t>
            </a:r>
            <a:br/>
            <a:r>
              <a:t>🏢 송도 국제도시</a:t>
            </a:r>
            <a:br/>
            <a:r>
              <a:t>해외 비즈니스 게스트 숙박 대안, 네트워킹 디너 및 VIP 라운지 운영.</a:t>
            </a:r>
            <a:br/>
            <a:r>
              <a:t>🏛️ 인천 구도심</a:t>
            </a:r>
            <a:br/>
            <a:r>
              <a:t>개항장 일대 로케이션</a:t>
            </a:r>
            <a:br/>
            <a:r>
              <a:t>                            투어, 인천 아트 시네마 연계 특별 상영.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3 •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5. Space &amp;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10.3 K-컬처 파트너 네트워크</a:t>
            </a:r>
            <a:br/>
            <a:r>
              <a:t>발굴 카테고리</a:t>
            </a:r>
            <a:br/>
            <a:r>
              <a:t>잠재적 협력 파트너 (예시)</a:t>
            </a:r>
            <a:br/>
            <a:r>
              <a:t>영화제 기여 역할</a:t>
            </a:r>
            <a:br/>
            <a:r>
              <a:t>K-식품 / F&amp;B</a:t>
            </a:r>
            <a:br/>
            <a:r>
              <a:t>인천 지역 맛집, CJ푸드빌</a:t>
            </a:r>
            <a:br/>
            <a:r>
              <a:t>K-푸드 팝업 운영, 캠프 식음 케이터링</a:t>
            </a:r>
            <a:br/>
            <a:r>
              <a:t>K-뷰티</a:t>
            </a:r>
            <a:br/>
            <a:r>
              <a:t>아모레퍼시픽, 올리브영</a:t>
            </a:r>
            <a:br/>
            <a:r>
              <a:t>메이크업 체험 부스, 스타 뷰티 클래스</a:t>
            </a:r>
            <a:br/>
            <a:r>
              <a:t>K-팝·엔터</a:t>
            </a:r>
            <a:br/>
            <a:r>
              <a:t>하이브, JYP, SM</a:t>
            </a:r>
            <a:br/>
            <a:r>
              <a:t>미니 콘서트, 팬미팅, K-팝 스타 레드카펫</a:t>
            </a:r>
            <a:br/>
            <a:r>
              <a:t>K-관광</a:t>
            </a:r>
            <a:br/>
            <a:r>
              <a:t>인천관광공사, 한국관광공사</a:t>
            </a:r>
            <a:br/>
            <a:r>
              <a:t>외국인 관광 패키지, 팸투어 운영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3 •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6. BIFF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선배 영화제의 성과를 '벤치마크'로, IIFF만의 차별점을 '전략적 무기'로 삼는다</a:t>
            </a:r>
            <a:br/>
            <a:r>
              <a:t>비교 항목</a:t>
            </a:r>
            <a:br/>
            <a:r>
              <a:t>BIFF (부산국제영화제)</a:t>
            </a:r>
            <a:br/>
            <a:r>
              <a:t>i-NextWave FF (인천)</a:t>
            </a:r>
            <a:br/>
            <a:r>
              <a:t>위상</a:t>
            </a:r>
            <a:br/>
            <a:r>
              <a:t>아시아 최대 A급 국제영화제</a:t>
            </a:r>
            <a:br/>
            <a:r>
              <a:t>아시아 최초 '미래형 융합 영화</a:t>
            </a:r>
            <a:br/>
            <a:r>
              <a:t>                                플랫폼'</a:t>
            </a:r>
            <a:br/>
            <a:r>
              <a:t>주요 콘텐츠</a:t>
            </a:r>
            <a:br/>
            <a:r>
              <a:t>정통 영화 상영 및 시상 중심</a:t>
            </a:r>
            <a:br/>
            <a:r>
              <a:t>영화 + 모바일 + K-컬처</a:t>
            </a:r>
            <a:br/>
            <a:r>
              <a:t>                                + 야영 + 공연 융합</a:t>
            </a:r>
            <a:br/>
            <a:r>
              <a:t>예산 규모(1회)</a:t>
            </a:r>
            <a:br/>
            <a:r>
              <a:t>약 200억 원 (현재)</a:t>
            </a:r>
            <a:br/>
            <a:r>
              <a:t>약 30억 원 (인스파이어 현물 포함 시 50억+)</a:t>
            </a:r>
            <a:br/>
            <a:r>
              <a:t>핵심 관객층</a:t>
            </a:r>
            <a:br/>
            <a:r>
              <a:t>영화 관계자, 시네필</a:t>
            </a:r>
            <a:br/>
            <a:r>
              <a:t>영화인 + MZ세대 + 글로벌 K-컬처 팬</a:t>
            </a:r>
            <a:br/>
            <a:r>
              <a:t>                                + 관광객</a:t>
            </a:r>
            <a:br/>
            <a:r>
              <a:t>장소</a:t>
            </a:r>
            <a:br/>
            <a:r>
              <a:t>영화의 전당 (부산 센텀시티)</a:t>
            </a:r>
            <a:br/>
            <a:r>
              <a:t>인스파이어 리조트 + 인천 도심 상영관</a:t>
            </a:r>
            <a:br/>
            <a:r>
              <a:t>헐리우드 연계</a:t>
            </a:r>
            <a:br/>
            <a:r>
              <a:t>매년 할리우드 스타 초청 (수동적)</a:t>
            </a:r>
            <a:br/>
            <a:r>
              <a:t>Method Fest 공동 운영 (구조적 연결)</a:t>
            </a:r>
            <a:br/>
            <a:r>
              <a:t>차별화 무기</a:t>
            </a:r>
            <a:br/>
            <a:r>
              <a:t>30년 축적된 권위와 네트워크</a:t>
            </a:r>
            <a:br/>
            <a:r>
              <a:t>모바일</a:t>
            </a:r>
            <a:br/>
            <a:r>
              <a:t>                                영화제, 야영 캠프, K-컬처 융합, 인스파이어 인프라</a:t>
            </a:r>
            <a:br/>
            <a:r>
              <a:t>전략적 시사점:</a:t>
            </a:r>
            <a:br/>
            <a:r>
              <a:t>BIFF와 정면 경쟁이 아닌, BIFF가 커버하지 못하는 '미래형·체험형·K-컬처 융합형' 영역에서 독자적 포지션을 확보한다.</a:t>
            </a:r>
            <a:br/>
            <a:r>
              <a:t>                    BIFF가 '권위'의 영화제라면, IIFF는 '경험'의 영화제.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IFF 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601803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C9A84C"/>
                </a:solidFill>
                <a:latin typeface="Playfair Display"/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070"/>
                </a:solidFill>
                <a:latin typeface="Inter"/>
              </a:defRPr>
            </a:pPr>
            <a:r>
              <a:t>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재무 · Finance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4 •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1. Budget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제1회 기준, 30억 원 규모</a:t>
            </a:r>
            <a:br/>
            <a:r>
              <a:t>재원 확보 (Revenues)</a:t>
            </a:r>
            <a:br/>
            <a:r>
              <a:t>항목</a:t>
            </a:r>
            <a:br/>
            <a:r>
              <a:t>금액</a:t>
            </a:r>
            <a:br/>
            <a:r>
              <a:t>비율</a:t>
            </a:r>
            <a:br/>
            <a:r>
              <a:t>공적 자금 (시/정부)</a:t>
            </a:r>
            <a:br/>
            <a:r>
              <a:t>10억 원</a:t>
            </a:r>
            <a:br/>
            <a:r>
              <a:t>33.3%</a:t>
            </a:r>
            <a:br/>
            <a:r>
              <a:t>기업 스폰서십 (민간)</a:t>
            </a:r>
            <a:br/>
            <a:r>
              <a:t>12억 원</a:t>
            </a:r>
            <a:br/>
            <a:r>
              <a:t>40.0%</a:t>
            </a:r>
            <a:br/>
            <a:r>
              <a:t>수익 사업 (Ticket &amp; Market)</a:t>
            </a:r>
            <a:br/>
            <a:r>
              <a:t>6억 원</a:t>
            </a:r>
            <a:br/>
            <a:r>
              <a:t>20.0%</a:t>
            </a:r>
            <a:br/>
            <a:r>
              <a:t>기타 (재단 기금 등)</a:t>
            </a:r>
            <a:br/>
            <a:r>
              <a:t>2억 원</a:t>
            </a:r>
            <a:br/>
            <a:r>
              <a:t>6.7%</a:t>
            </a:r>
            <a:br/>
            <a:r>
              <a:t>합계</a:t>
            </a:r>
            <a:br/>
            <a:r>
              <a:t>30억 원</a:t>
            </a:r>
            <a:br/>
            <a:r>
              <a:t>100%</a:t>
            </a:r>
            <a:br/>
            <a:r>
              <a:t>지출 항목 (Expenses)</a:t>
            </a:r>
            <a:br/>
            <a:r>
              <a:t>항목</a:t>
            </a:r>
            <a:br/>
            <a:r>
              <a:t>금액</a:t>
            </a:r>
            <a:br/>
            <a:r>
              <a:t>비율</a:t>
            </a:r>
            <a:br/>
            <a:r>
              <a:t>프로그램 운영비</a:t>
            </a:r>
            <a:br/>
            <a:r>
              <a:t>8억 원</a:t>
            </a:r>
            <a:br/>
            <a:r>
              <a:t>26.7%</a:t>
            </a:r>
            <a:br/>
            <a:r>
              <a:t>초청 및 의전비</a:t>
            </a:r>
            <a:br/>
            <a:r>
              <a:t>9억 원</a:t>
            </a:r>
            <a:br/>
            <a:r>
              <a:t>30.0%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4 •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2.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"성공적인 영화제는</a:t>
            </a:r>
            <a:br/>
            <a:r>
              <a:t>                '돈맥경화'가 없어야 한다"</a:t>
            </a:r>
            <a:br/>
            <a:r>
              <a:t>구분</a:t>
            </a:r>
            <a:br/>
            <a:r>
              <a:t>1분기 (D-12~9)</a:t>
            </a:r>
            <a:br/>
            <a:r>
              <a:t>추진위 단계</a:t>
            </a:r>
            <a:br/>
            <a:r>
              <a:t>2분기 (D-8~6)</a:t>
            </a:r>
            <a:br/>
            <a:r>
              <a:t>조직위 출범</a:t>
            </a:r>
            <a:br/>
            <a:r>
              <a:t>3분기 (D-5~3)</a:t>
            </a:r>
            <a:br/>
            <a:r>
              <a:t>본격 준비</a:t>
            </a:r>
            <a:br/>
            <a:r>
              <a:t>4분기 (D-2~D+1)</a:t>
            </a:r>
            <a:br/>
            <a:r>
              <a:t>개최 및 정산</a:t>
            </a:r>
            <a:br/>
            <a:r>
              <a:t>합계</a:t>
            </a:r>
            <a:br/>
            <a:r>
              <a:t>현금 유입</a:t>
            </a:r>
            <a:br/>
            <a:r>
              <a:t>250</a:t>
            </a:r>
            <a:br/>
            <a:r>
              <a:t>800</a:t>
            </a:r>
            <a:br/>
            <a:r>
              <a:t>1,000</a:t>
            </a:r>
            <a:br/>
            <a:r>
              <a:t>950</a:t>
            </a:r>
            <a:br/>
            <a:r>
              <a:t>3,000</a:t>
            </a:r>
            <a:br/>
            <a:r>
              <a:t>› 지자체/공공</a:t>
            </a:r>
            <a:br/>
            <a:r>
              <a:t>100 (Seed)</a:t>
            </a:r>
            <a:br/>
            <a:r>
              <a:t>400 (보조금 1차)</a:t>
            </a:r>
            <a:br/>
            <a:r>
              <a:t>300 (보조금 2차)</a:t>
            </a:r>
            <a:br/>
            <a:r>
              <a:t>200 (Balance)</a:t>
            </a:r>
            <a:br/>
            <a:r>
              <a:t>1,000</a:t>
            </a:r>
            <a:br/>
            <a:r>
              <a:t>› 민간 스폰서</a:t>
            </a:r>
            <a:br/>
            <a:r>
              <a:t>100 (Seed)</a:t>
            </a:r>
            <a:br/>
            <a:r>
              <a:t>400 (1차 후원)</a:t>
            </a:r>
            <a:br/>
            <a:r>
              <a:t>500 (2차 후원)</a:t>
            </a:r>
            <a:br/>
            <a:r>
              <a:t>200 (Balance)</a:t>
            </a:r>
            <a:br/>
            <a:r>
              <a:t>1,200</a:t>
            </a:r>
            <a:br/>
            <a:r>
              <a:t>› 자체 수익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4 •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3. Initial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추진위원회 초기 경비 (약 6개월)</a:t>
            </a:r>
            <a:br/>
            <a:r>
              <a:t>항목</a:t>
            </a:r>
            <a:br/>
            <a:r>
              <a:t>금액 (백만 원)</a:t>
            </a:r>
            <a:br/>
            <a:r>
              <a:t>용도</a:t>
            </a:r>
            <a:br/>
            <a:r>
              <a:t>인건비 및 운영비</a:t>
            </a:r>
            <a:br/>
            <a:r>
              <a:t>80</a:t>
            </a:r>
            <a:br/>
            <a:r>
              <a:t>코어 인력(3인) 인건비, 사무실 임차</a:t>
            </a:r>
            <a:br/>
            <a:r>
              <a:t>회의 및 네트워킹</a:t>
            </a:r>
            <a:br/>
            <a:r>
              <a:t>60</a:t>
            </a:r>
            <a:br/>
            <a:r>
              <a:t>추진위/분과위 회의, 비전 발표회</a:t>
            </a:r>
            <a:br/>
            <a:r>
              <a:t>초기 네트워크 구축</a:t>
            </a:r>
            <a:br/>
            <a:r>
              <a:t>80</a:t>
            </a:r>
            <a:br/>
            <a:r>
              <a:t>메소드페스타/하와이 MOU 출장,</a:t>
            </a:r>
            <a:br/>
            <a:r>
              <a:t>                                        헐리우드 접촉</a:t>
            </a:r>
            <a:br/>
            <a:r>
              <a:t>홍보물 및 자료 제작</a:t>
            </a:r>
            <a:br/>
            <a:r>
              <a:t>30</a:t>
            </a:r>
            <a:br/>
            <a:r>
              <a:t>비전 선포 자료, 홈페이지, 로고/디자인</a:t>
            </a:r>
            <a:br/>
            <a:r>
              <a:t>총계</a:t>
            </a:r>
            <a:br/>
            <a:r>
              <a:t>250</a:t>
            </a:r>
            <a:br/>
            <a:r>
              <a:t>(한화 2억 5천만 원)</a:t>
            </a:r>
            <a:br/>
            <a:r>
              <a:t>50:50 매칭 펀딩 전략</a:t>
            </a:r>
            <a:br/>
            <a:r>
              <a:t>단계</a:t>
            </a:r>
            <a:br/>
            <a:r>
              <a:t>전략</a:t>
            </a:r>
            <a:br/>
            <a:r>
              <a:t>목표 금액</a:t>
            </a:r>
            <a:br/>
            <a:r>
              <a:t>1단계</a:t>
            </a:r>
            <a:br/>
            <a:r>
              <a:t>공공 시드 확보 (40%)</a:t>
            </a:r>
            <a:br/>
            <a:r>
              <a:t>인천시 문화예술진흥기금 활용</a:t>
            </a:r>
            <a:br/>
            <a:r>
              <a:t>100백만 원</a:t>
            </a:r>
            <a:br/>
            <a:r>
              <a:t>2단계</a:t>
            </a:r>
            <a:br/>
            <a:r>
              <a:t>민간 매칭 펀드 (40%)</a:t>
            </a:r>
            <a:br/>
            <a:r>
              <a:t>인스파이어 현금/현물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4 •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4. Sponsorship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9.1 스폰서십 등급 (Tier System)</a:t>
            </a:r>
            <a:br/>
            <a:r>
              <a:t>등급</a:t>
            </a:r>
            <a:br/>
            <a:r>
              <a:t>금액 기준</a:t>
            </a:r>
            <a:br/>
            <a:r>
              <a:t>주요 혜택</a:t>
            </a:r>
            <a:br/>
            <a:r>
              <a:t>타이틀 스폰서</a:t>
            </a:r>
            <a:br/>
            <a:r>
              <a:t>5억 원 이상</a:t>
            </a:r>
            <a:br/>
            <a:r>
              <a:t>영화제 공식 명칭 삽입, 모든 홍보물 로고 노출, 개막식 VIP석, 전용 브랜드 존 운영</a:t>
            </a:r>
            <a:br/>
            <a:r>
              <a:t>프리미엄 파트너</a:t>
            </a:r>
            <a:br/>
            <a:r>
              <a:t>2~5억 원</a:t>
            </a:r>
            <a:br/>
            <a:r>
              <a:t>핵심 섹션 네이밍권 (갈라/캠프/어워드), 주요 행사 VIP 초대, 프레스 월 로고 노출</a:t>
            </a:r>
            <a:br/>
            <a:r>
              <a:t>공식 파트너</a:t>
            </a:r>
            <a:br/>
            <a:r>
              <a:t>5천만~2억 원</a:t>
            </a:r>
            <a:br/>
            <a:r>
              <a:t>홈페이지 및</a:t>
            </a:r>
            <a:br/>
            <a:r>
              <a:t>                                    공식 인쇄물 로고, K-컬처 존 부스 운영권, SNS 콜라보 콘텐츠</a:t>
            </a:r>
            <a:br/>
            <a:r>
              <a:t>서포터</a:t>
            </a:r>
            <a:br/>
            <a:r>
              <a:t>5천만 원 이하</a:t>
            </a:r>
            <a:br/>
            <a:r>
              <a:t>홈페이지 로고 게시, 공식</a:t>
            </a:r>
            <a:br/>
            <a:r>
              <a:t>                                    굿즈 콜라보, 소규모 체험 부스 운영</a:t>
            </a:r>
            <a:br/>
            <a:r>
              <a:t>9.2 타겟 스폰서 업종 및 접근 전략</a:t>
            </a:r>
            <a:br/>
            <a:r>
              <a:t>업종</a:t>
            </a:r>
            <a:br/>
            <a:r>
              <a:t>타겟 기업 (예시)</a:t>
            </a:r>
            <a:br/>
            <a:r>
              <a:t>연계 가능 프로그램</a:t>
            </a:r>
            <a:br/>
            <a:r>
              <a:t>접근 방식</a:t>
            </a:r>
            <a:br/>
            <a:r>
              <a:t>IT/모바일</a:t>
            </a:r>
            <a:br/>
            <a:r>
              <a:t>삼성, Apple, SKT</a:t>
            </a:r>
            <a:br/>
            <a:r>
              <a:t>모바일 영화 컴피티션 (촬영 기기 제공 +</a:t>
            </a:r>
            <a:br/>
            <a:r>
              <a:t>                                    네이밍)</a:t>
            </a:r>
            <a:br/>
            <a:r>
              <a:t>모바일 콘텐츠 제작 인프라 제공 제안</a:t>
            </a:r>
            <a:br/>
            <a:r>
              <a:t>항공/여행</a:t>
            </a:r>
            <a:br/>
            <a:r>
              <a:t>대한항공, 아시아나</a:t>
            </a:r>
            <a:br/>
            <a:r>
              <a:t>해외 게스트 항공</a:t>
            </a:r>
            <a:br/>
            <a:r>
              <a:t>                                    지원 + 관광 패키지 공동 개발</a:t>
            </a:r>
            <a:br/>
            <a:r>
              <a:t>인천공항 → 영화제 연결 동선 마케팅</a:t>
            </a:r>
            <a:br/>
            <a:r>
              <a:t>소비재/뷰티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4 •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4. Sponsorship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9.3 3개년 스폰서십 전략</a:t>
            </a:r>
            <a:br/>
            <a:r>
              <a:t>연차</a:t>
            </a:r>
            <a:br/>
            <a:r>
              <a:t>전략</a:t>
            </a:r>
            <a:br/>
            <a:r>
              <a:t>스폰서십 목표</a:t>
            </a:r>
            <a:br/>
            <a:r>
              <a:t>1회차</a:t>
            </a:r>
            <a:br/>
            <a:r>
              <a:t>핵심 파트너 확보 + 현물 스폰서 중심</a:t>
            </a:r>
            <a:br/>
            <a:r>
              <a:t>~12억 원 (인스파이어 현물 포함)</a:t>
            </a:r>
            <a:br/>
            <a:r>
              <a:t>2회차</a:t>
            </a:r>
            <a:br/>
            <a:r>
              <a:t>브랜드 경쟁 구도 형성 + 프리미엄 네이밍</a:t>
            </a:r>
            <a:br/>
            <a:r>
              <a:t>                                    판매</a:t>
            </a:r>
            <a:br/>
            <a:r>
              <a:t>~20억 원</a:t>
            </a:r>
            <a:br/>
            <a:r>
              <a:t>3회차</a:t>
            </a:r>
            <a:br/>
            <a:r>
              <a:t>글로벌 브랜드 유치 +</a:t>
            </a:r>
            <a:br/>
            <a:r>
              <a:t>                                    멀티이어 계약 전환</a:t>
            </a:r>
            <a:br/>
            <a:r>
              <a:t>~30억 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4 •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5. Marketing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6.1 글로벌 인지도 확보 (전문성 강조)</a:t>
            </a:r>
            <a:br/>
            <a:r>
              <a:t>전략</a:t>
            </a:r>
            <a:br/>
            <a:r>
              <a:t>세부 활동</a:t>
            </a:r>
            <a:br/>
            <a:r>
              <a:t>헐리우드 네트워크 활용</a:t>
            </a:r>
            <a:br/>
            <a:r>
              <a:t>헐리우드 스타 및 메소드필름페스타 관계자와의 독점 인터뷰를 글로벌 주요 영화 매체(Variety, Hollywood Reporter 등)에 제공</a:t>
            </a:r>
            <a:br/>
            <a:r>
              <a:t>아시아 게이트웨이 브랜딩</a:t>
            </a:r>
            <a:br/>
            <a:r>
              <a:t>아시아 주요 영화 시장 관계자를 초청하고, 개막식에 아시아 대표 배우 및 감독 배치</a:t>
            </a:r>
            <a:br/>
            <a:r>
              <a:t>타겟 미디어 파트너십</a:t>
            </a:r>
            <a:br/>
            <a:r>
              <a:t>영화 전문 매거진 및 비즈니스 콘텐츠 미디어(포브스 아시아)와 협력</a:t>
            </a:r>
            <a:br/>
            <a:r>
              <a:t>6.2 대중 참여 및 바이럴 (참여성 강조)</a:t>
            </a:r>
            <a:br/>
            <a:r>
              <a:t>전략</a:t>
            </a:r>
            <a:br/>
            <a:r>
              <a:t>세부 활동</a:t>
            </a:r>
            <a:br/>
            <a:r>
              <a:t>NextWave Creator Challenge</a:t>
            </a:r>
            <a:br/>
            <a:r>
              <a:t>모바일 영화 제작 캠프를 숏폼 콘텐츠로 제작·배포. 인플루언서 참가자 초청</a:t>
            </a:r>
            <a:br/>
            <a:r>
              <a:t>K-WAVE 페스티벌 통합 홍보</a:t>
            </a:r>
            <a:br/>
            <a:r>
              <a:t>'영화와 캠핑을 함께 즐기는 유일한 축제'로 포지셔닝</a:t>
            </a:r>
            <a:br/>
            <a:r>
              <a:t>인스파이어 연계 마케팅</a:t>
            </a:r>
            <a:br/>
            <a:r>
              <a:t>숙박/F&amp;B 패키지와 영화제 티켓 묶어 판매, 상호 시너지 창출</a:t>
            </a:r>
            <a:br/>
            <a:r>
              <a:t>6.3 홍보 콘텐츠 및 프로모션 타임라인</a:t>
            </a:r>
            <a:br/>
            <a:r>
              <a:t>콘텐츠</a:t>
            </a:r>
            <a:br/>
            <a:r>
              <a:t>내용</a:t>
            </a:r>
            <a:br/>
            <a:r>
              <a:t>시기</a:t>
            </a:r>
            <a:br/>
            <a:r>
              <a:t>티저 영상</a:t>
            </a:r>
            <a:br/>
            <a:r>
              <a:t>아시아와 헐리우드 스타들의 과거 명장면과 인스파이어의 화려한 시설을 교차 편집하여 'NextWave' 컨셉 강조</a:t>
            </a:r>
            <a:br/>
            <a:r>
              <a:t>D-120 days</a:t>
            </a:r>
            <a:br/>
            <a:r>
              <a:t>공식 포스터</a:t>
            </a:r>
            <a:br/>
            <a:r>
              <a:t>인천의 도시 경관, 아레나, 디스커버리 파크의 야외 상영 장면을 모두 담아 영화제의 '공간적 특색' 시각화</a:t>
            </a:r>
            <a:br/>
            <a:r>
              <a:t>D-90 days</a:t>
            </a:r>
            <a:br/>
            <a:r>
              <a:t>얼리버드 티켓</a:t>
            </a:r>
            <a:br/>
            <a:r>
              <a:t>개/폐막식 및 NextWave 캠프 참가권을 한정 수량 판매하여 초기 관심도 및 현금 유동성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IFF 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97280"/>
            <a:ext cx="601803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C9A84C"/>
                </a:solidFill>
                <a:latin typeface="Playfair Display"/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070"/>
                </a:solidFill>
                <a:latin typeface="Inter"/>
              </a:defRPr>
            </a:pPr>
            <a:r>
              <a:t>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거버넌스 · Governance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5 •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1.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핵심 전략: "先 민간 주도(준비) → 後 관(官) 추인(개최)"</a:t>
            </a:r>
            <a:br/>
            <a:r>
              <a:t>2026년 6월 지방선거 변수는 영화제의 생존과 지속성을 결정짓는 가장 중요한 요소. '특정 정당이나 현직에 치우치지 않고, 선거 국면을 오히려 동력으로 활용하는' 고도의 정치적</a:t>
            </a:r>
            <a:br/>
            <a:r>
              <a:t>                    솔루션이 필요하다.</a:t>
            </a:r>
            <a:br/>
            <a:r>
              <a:t>여야 후보 모두가</a:t>
            </a:r>
            <a:br/>
            <a:r>
              <a:t>"내가 당선되면 이 영화제를 적극 지원하겠다"</a:t>
            </a:r>
            <a:br/>
            <a:r>
              <a:t>고 서약하게 만드는 '역제안 전략'</a:t>
            </a:r>
            <a:br/>
            <a:r>
              <a:t>단계</a:t>
            </a:r>
            <a:br/>
            <a:r>
              <a:t>시기</a:t>
            </a:r>
            <a:br/>
            <a:r>
              <a:t>정치적 상황</a:t>
            </a:r>
            <a:br/>
            <a:r>
              <a:t>영화제 추진 핵심 과제</a:t>
            </a:r>
            <a:br/>
            <a:r>
              <a:t>1단계</a:t>
            </a:r>
            <a:br/>
            <a:r>
              <a:t>민간 발족</a:t>
            </a:r>
            <a:br/>
            <a:r>
              <a:t>2025.12월</a:t>
            </a:r>
            <a:br/>
            <a:r>
              <a:t>현직 임기 말</a:t>
            </a:r>
            <a:br/>
            <a:r>
              <a:t>추진위 발족 (경제인+예술인+인스파이어, 정치인 배제). 100% 민간 씨드머니로 운영.</a:t>
            </a:r>
            <a:br/>
            <a:r>
              <a:t>2단계</a:t>
            </a:r>
            <a:br/>
            <a:r>
              <a:t>공약화</a:t>
            </a:r>
            <a:br/>
            <a:r>
              <a:t>2026.1~3월</a:t>
            </a:r>
            <a:br/>
            <a:r>
              <a:t>후보 경선 진행</a:t>
            </a:r>
            <a:br/>
            <a:r>
              <a:t>여야 유력 후보에게 '영화제 지원 확약서' 전달. 헐리우드 섭외 민간 채널로 병행.</a:t>
            </a:r>
            <a:br/>
            <a:r>
              <a:t>3단계</a:t>
            </a:r>
            <a:br/>
            <a:r>
              <a:t>선거 기간</a:t>
            </a:r>
            <a:br/>
            <a:r>
              <a:t>2026.4~5월</a:t>
            </a:r>
            <a:br/>
            <a:r>
              <a:t>공식 선거운동</a:t>
            </a:r>
            <a:br/>
            <a:r>
              <a:t>선거와 분리된 '문화 비전 선포식' 개최. 후보들의 방문·지지 발언 유도.</a:t>
            </a:r>
            <a:br/>
            <a:r>
              <a:t>4단계</a:t>
            </a:r>
            <a:br/>
            <a:r>
              <a:t>당선자 협력</a:t>
            </a:r>
            <a:br/>
            <a:r>
              <a:t>2026.6~7월</a:t>
            </a:r>
            <a:br/>
            <a:r>
              <a:t>선거(6.3) 및 인수위</a:t>
            </a:r>
            <a:br/>
            <a:r>
              <a:t>당선자를 당연직 조직위원장으로 추대. 추경 예산 편성 요청.</a:t>
            </a:r>
            <a:br/>
            <a:r>
              <a:t>5단계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5 •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1.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16.1 비당파 추진위원회 구성 원칙</a:t>
            </a:r>
            <a:br/>
            <a:r>
              <a:t>위원장:</a:t>
            </a:r>
            <a:br/>
            <a:r>
              <a:t>영화제 관련 문화계 원로 (경제 활성화 명분은 여야 막론 반대 불가)</a:t>
            </a:r>
            <a:br/>
            <a:r>
              <a:t>공동 위원장:</a:t>
            </a:r>
            <a:br/>
            <a:r>
              <a:t>인스파이어 리조트 대표, 인천상공회의소 회장</a:t>
            </a:r>
            <a:br/>
            <a:r>
              <a:t>고문단:</a:t>
            </a:r>
            <a:br/>
            <a:r>
              <a:t>인천 지역 대학 총장, 원로 영화감독 (정치적 성향 중립인 인물)</a:t>
            </a:r>
            <a:br/>
            <a:r>
              <a:t>원칙:</a:t>
            </a:r>
            <a:br/>
            <a:r>
              <a:t>선거 전까지는 인천시 예산을 받지 않는 것이 오히려 안전</a:t>
            </a:r>
            <a:br/>
            <a:r>
              <a:t>16.2 후보 대상 MOU 전략</a:t>
            </a:r>
            <a:br/>
            <a:r>
              <a:t>제안서 타이틀:</a:t>
            </a:r>
            <a:br/>
            <a:r>
              <a:t>"Global Incheon 2026: 아시아와 헐리우드를 잇는 문화</a:t>
            </a:r>
            <a:br/>
            <a:r>
              <a:t>                        경제 플랫폼 제안"</a:t>
            </a:r>
            <a:br/>
            <a:r>
              <a:t>당선 시 '인천 국제 넥스트웨이브 영화제'를 핵심 관광 전략 사업으로 지정</a:t>
            </a:r>
            <a:br/>
            <a:r>
              <a:t>추가경정예산</a:t>
            </a:r>
            <a:br/>
            <a:r>
              <a:t>                            편성 등 행정/재정적 지원 보장</a:t>
            </a:r>
            <a:br/>
            <a:r>
              <a:t>영화제의 자율성과 독립성 보장, 추진위 성과 계승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5 •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1.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16.3 선거 전후 업무 분장 (Shadow</a:t>
            </a:r>
            <a:br/>
            <a:r>
              <a:t>                    Operation)</a:t>
            </a:r>
            <a:br/>
            <a:r>
              <a:t>시기</a:t>
            </a:r>
            <a:br/>
            <a:r>
              <a:t>추진위원회 (민간) 역할</a:t>
            </a:r>
            <a:br/>
            <a:r>
              <a:t>정치권/인천시 역할</a:t>
            </a:r>
            <a:br/>
            <a:r>
              <a:t>12월~2월</a:t>
            </a:r>
            <a:br/>
            <a:r>
              <a:t>법인 설립, 사무국 구성, 인스파이어 자금 집행, 헐리우드 에이전시 접촉 (비공개)</a:t>
            </a:r>
            <a:br/>
            <a:r>
              <a:t>(관망) 선거 준비 돌입</a:t>
            </a:r>
            <a:br/>
            <a:r>
              <a:t>3월~5월</a:t>
            </a:r>
            <a:br/>
            <a:r>
              <a:t>상영작 선정·게스트 가계약 (보안 유지), 스폰서 가계약, 후보자 초청 비전 발표회</a:t>
            </a:r>
            <a:br/>
            <a:r>
              <a:t>후보자:</a:t>
            </a:r>
            <a:br/>
            <a:r>
              <a:t>                                    영화제 지원 공약 발표, 서약서 서명</a:t>
            </a:r>
            <a:br/>
            <a:r>
              <a:t>6월 (선거 직후)</a:t>
            </a:r>
            <a:br/>
            <a:r>
              <a:t>당선자 인수위에 보고서 제출, "예산만 승인하면 됨" 강조</a:t>
            </a:r>
            <a:br/>
            <a:r>
              <a:t>당선자: 업무 보고 청취, 추경 예산 긴급</a:t>
            </a:r>
            <a:br/>
            <a:r>
              <a:t>                                    편성</a:t>
            </a:r>
            <a:br/>
            <a:r>
              <a:t>7월~10월</a:t>
            </a:r>
            <a:br/>
            <a:r>
              <a:t>공식 조직위로 전환, 시장 취임 연계 대대적 홍보</a:t>
            </a:r>
            <a:br/>
            <a:r>
              <a:t>행정 인력 파견,</a:t>
            </a:r>
            <a:br/>
            <a:r>
              <a:t>                                    경찰/소방 안전 대책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5 •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2. Personnel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BIFF 노하우를 가진 '영화계 원로'를 전면에, '실무 전문가'가 허리가 되어 현장을 뛰는 구조</a:t>
            </a:r>
            <a:br/>
            <a:r>
              <a:t>17.1 컨트롤 타워 (Leadership)</a:t>
            </a:r>
            <a:br/>
            <a:r>
              <a:t>직책</a:t>
            </a:r>
            <a:br/>
            <a:r>
              <a:t>성명</a:t>
            </a:r>
            <a:br/>
            <a:r>
              <a:t>핵심 역할</a:t>
            </a:r>
            <a:br/>
            <a:r>
              <a:t>명예 위원장</a:t>
            </a:r>
            <a:br/>
            <a:r>
              <a:t>이용관 (전 BIFF 이사장)</a:t>
            </a:r>
            <a:br/>
            <a:r>
              <a:t>상징적 권위 및 방패. BIFF 성공 신화를 인천에 이식하는 상징성. 정치적 외풍을 막는 '어른' 역할.</a:t>
            </a:r>
            <a:br/>
            <a:r>
              <a:t>명예 위원장</a:t>
            </a:r>
            <a:br/>
            <a:r>
              <a:t>저스틴 김 (메소드영화제 조직위원장)</a:t>
            </a:r>
            <a:br/>
            <a:r>
              <a:t>비버리힐즈 메소드영화제의 독립영화 정신을 대변. 헐리우드와의 가교 역할.</a:t>
            </a:r>
            <a:br/>
            <a:r>
              <a:t>명예 위원장</a:t>
            </a:r>
            <a:br/>
            <a:r>
              <a:t>돈 플랑캔 (메소드영화제 조직위원장)</a:t>
            </a:r>
            <a:br/>
            <a:r>
              <a:t>헐리우드 영화인 인맥 총동원. 영화 자본과 월가의 큰손들과의 교류 총괄.</a:t>
            </a:r>
            <a:br/>
            <a:r>
              <a:t>추진 위원장</a:t>
            </a:r>
            <a:br/>
            <a:r>
              <a:t>이청산 (전 BIFF 비대위원장)</a:t>
            </a:r>
            <a:br/>
            <a:r>
              <a:t>실질적 리더십 &amp; 위기관리. '무'에서 '유'를 창조하는 추진위의 강력한 드라이브.</a:t>
            </a:r>
            <a:br/>
            <a:r>
              <a:t>공동 위원장</a:t>
            </a:r>
            <a:br/>
            <a:r>
              <a:t>박병용 (인스파이어 부회장)</a:t>
            </a:r>
            <a:br/>
            <a:r>
              <a:t>재정 및 조직, 업무 지원. 인스파이어 공간·설비 제공. 후원 조직 구성 관리.</a:t>
            </a:r>
            <a:br/>
            <a:r>
              <a:t>공동 위원장</a:t>
            </a:r>
            <a:br/>
            <a:r>
              <a:t>오석근 (전 영진위 위원장)</a:t>
            </a:r>
            <a:br/>
            <a:r>
              <a:t>정책 및 예산 설계. 영진위 네트워크 활용한 국비 지원. 문체부 행정 조율.</a:t>
            </a:r>
            <a:br/>
            <a:r>
              <a:t>17.2 대외 협력 및 정무</a:t>
            </a:r>
            <a:br/>
            <a:r>
              <a:t>직책</a:t>
            </a:r>
            <a:br/>
            <a:r>
              <a:t>성명</a:t>
            </a:r>
            <a:br/>
            <a:r>
              <a:t>핵심 역할</a:t>
            </a:r>
            <a:br/>
            <a:r>
              <a:t>상임 고문</a:t>
            </a:r>
            <a:br/>
            <a:r>
              <a:t>유동수 (국회의원)</a:t>
            </a:r>
            <a:br/>
            <a:r>
              <a:t>국회 차원 지원, 국비 예산 확보 교두보, 선거 국면 중립적 지원자 포지셔닝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070"/>
                </a:solidFill>
                <a:latin typeface="Inter"/>
              </a:defRPr>
            </a:pPr>
            <a:r>
              <a:t>PART 5 •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A251A"/>
                </a:solidFill>
                <a:latin typeface="맑은 고딕"/>
              </a:defRPr>
            </a:pPr>
            <a:r>
              <a:t>2. Personnel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44038"/>
                </a:solidFill>
                <a:latin typeface="맑은 고딕"/>
              </a:defRPr>
            </a:pPr>
            <a:r>
              <a:t>BIFF 노하우를 가진 '영화계 원로'를 전면에, '실무 전문가'가 허리가 되어 현장을 뛰는 구조</a:t>
            </a:r>
            <a:br/>
            <a:r>
              <a:t>17.3 글로벌 네트워크 (USA / Asia / Hollywood)</a:t>
            </a:r>
            <a:br/>
            <a:r>
              <a:t>직책</a:t>
            </a:r>
            <a:br/>
            <a:r>
              <a:t>성명</a:t>
            </a:r>
            <a:br/>
            <a:r>
              <a:t>핵심 역할</a:t>
            </a:r>
            <a:br/>
            <a:r>
              <a:t>해외 프로그래머</a:t>
            </a:r>
            <a:br/>
            <a:r>
              <a:t>Justin Kim</a:t>
            </a:r>
            <a:br/>
            <a:r>
              <a:t>메소드 섹션 총괄. 헐리우드 독립영화 감독·배우 섭외 창구.</a:t>
            </a:r>
            <a:br/>
            <a:r>
              <a:t>해외 프로그래머</a:t>
            </a:r>
            <a:br/>
            <a:r>
              <a:t>Don Franken</a:t>
            </a:r>
            <a:br/>
            <a:r>
              <a:t>헐리우드 스타 섭외. CAA, WME 등과 직접 접촉. A급 스타 및 심사위원단 섭외.</a:t>
            </a:r>
            <a:br/>
            <a:r>
              <a:t>아시아 전략 이사</a:t>
            </a:r>
            <a:br/>
            <a:r>
              <a:t>김무전</a:t>
            </a:r>
            <a:br/>
            <a:r>
              <a:t>중화권 톱스타 섭외 및 중국 거대 자본(알리바바 픽처스 등) 투자/스폰서십 연결.</a:t>
            </a:r>
            <a:br/>
            <a:r>
              <a:t>하와이 협력 이사</a:t>
            </a:r>
            <a:br/>
            <a:r>
              <a:t>제니스 (Janice)</a:t>
            </a:r>
            <a:br/>
            <a:r>
              <a:t>하와이 국제영화제 MOU 체결 실무. 교민 사회 후원 유도.</a:t>
            </a:r>
            <a:br/>
            <a:r>
              <a:t>17.4 실무 운영 및 기술/디자인</a:t>
            </a:r>
            <a:br/>
            <a:r>
              <a:t>직책</a:t>
            </a:r>
            <a:br/>
            <a:r>
              <a:t>성명</a:t>
            </a:r>
            <a:br/>
            <a:r>
              <a:t>핵심 역할</a:t>
            </a:r>
            <a:br/>
            <a:r>
              <a:t>총괄사업추진단장</a:t>
            </a:r>
            <a:br/>
            <a:r>
              <a:t>황보진호 (최초 기안자)</a:t>
            </a:r>
            <a:br/>
            <a:r>
              <a:t>Control Tower. 위원장 보좌, 전체 파트 업무 조율, 예산 집행 승인, 3개년 로드맵 관리. 모든 인맥의 허브.</a:t>
            </a:r>
            <a:br/>
            <a:r>
              <a:t>운영 본부장</a:t>
            </a:r>
            <a:br/>
            <a:r>
              <a:t>강준 (제니스글로컬 회장)</a:t>
            </a:r>
            <a:br/>
            <a:r>
              <a:t>현장 인력 및 자원봉사. 영종도 기획사 인프라 활용, 대학생 자원활동가 모집·교육.</a:t>
            </a:r>
            <a:br/>
            <a:r>
              <a:t>예술 감독 (AD)</a:t>
            </a:r>
            <a:br/>
            <a:r>
              <a:t>노준석 (LA 디자이너)</a:t>
            </a:r>
            <a:br/>
            <a:r>
              <a:t>글로벌 브랜딩. LA 트렌드 반영 CI/포스터/굿즈 디자인. 시각적 아이덴티티 '글로벌 스탠다드'로 격상.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DDD8CC"/>
                </a:solidFill>
                <a:latin typeface="맑은 고딕"/>
              </a:defRPr>
            </a:pPr>
            <a:r>
              <a:t>IIFF NEXT WAVE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IFF 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97280"/>
            <a:ext cx="112838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383"/>
                </a:solidFill>
                <a:latin typeface="맑은 고딕"/>
              </a:defRPr>
            </a:pPr>
            <a:r>
              <a:t>IIFF NEXT WAVE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2A251A"/>
                </a:solidFill>
                <a:latin typeface="Playfair Display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  <a:latin typeface="맑은 고딕"/>
              </a:defRPr>
            </a:pPr>
            <a:r>
              <a:t>"만약에, 이곳에서 내 이야기가 시작된다면?"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