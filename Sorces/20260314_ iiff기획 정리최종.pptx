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9"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p:restoredLeft sz="12579"/>
    <p:restoredTop sz="90000"/>
  </p:normalViewPr>
  <p:slideViewPr>
    <p:cSldViewPr snapToGrid="0" snapToObjects="1">
      <p:cViewPr varScale="1">
        <p:scale>
          <a:sx n="87" d="100"/>
          <a:sy n="87" d="100"/>
        </p:scale>
        <p:origin x="62" y="494"/>
      </p:cViewPr>
      <p:guideLst>
        <p:guide orient="horz" pos="2151"/>
        <p:guide pos="3839"/>
      </p:guideLst>
    </p:cSldViewPr>
  </p:slideViewPr>
  <p:notesTextViewPr>
    <p:cViewPr>
      <p:scale>
        <a:sx n="100" d="100"/>
        <a:sy n="100" d="100"/>
      </p:scale>
      <p:origin x="0" y="0"/>
    </p:cViewPr>
  </p:notesText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E2B2BC9D-A816-4D0A-858B-1D023B3A8ACA}" type="datetime1">
              <a:rPr lang="ko-KR" altLang="en-US"/>
              <a:pPr lvl="0">
                <a:defRPr/>
              </a:pPr>
              <a:t>2026-03-14</a:t>
            </a:fld>
            <a:endParaRPr lang="ko-KR" altLang="en-US"/>
          </a:p>
        </p:txBody>
      </p:sp>
      <p:sp>
        <p:nvSpPr>
          <p:cNvPr id="4" name="슬라이드 이미지 개체 틀 3"/>
          <p:cNvSpPr>
            <a:spLocks noGrp="1" noRot="1" noChangeAspect="1" noTextEdi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09F4262C-968C-4EE9-8164-CE16364706B3}"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40</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lstStyle/>
          <a:p>
            <a:pPr>
              <a:defRPr/>
            </a:pPr>
            <a:endParaRPr lang="ko-KR" altLang="en-US"/>
          </a:p>
        </p:txBody>
      </p:sp>
      <p:sp>
        <p:nvSpPr>
          <p:cNvPr id="3" name="슬라이드 노트 개체 틀 4"/>
          <p:cNvSpPr>
            <a:spLocks noGrp="1"/>
          </p:cNvSpPr>
          <p:nvPr>
            <p:ph type="body" sz="quarter" idx="3"/>
          </p:nvPr>
        </p:nvSpPr>
        <p:spPr/>
        <p:txBody>
          <a:bodyPr/>
          <a:lstStyle/>
          <a:p>
            <a:pPr>
              <a:defRPr/>
            </a:pPr>
            <a:endParaRPr lang="ko-KR" altLang="en-US"/>
          </a:p>
        </p:txBody>
      </p:sp>
      <p:sp>
        <p:nvSpPr>
          <p:cNvPr id="4" name="슬라이드 번호 개체 틀 6"/>
          <p:cNvSpPr>
            <a:spLocks noGrp="1"/>
          </p:cNvSpPr>
          <p:nvPr>
            <p:ph type="sldNum" sz="quarter" idx="5"/>
          </p:nvPr>
        </p:nvSpPr>
        <p:spPr/>
        <p:txBody>
          <a:bodyPr/>
          <a:lstStyle/>
          <a:p>
            <a:pPr lvl="0">
              <a:defRPr/>
            </a:pPr>
            <a:fld id="{09F4262C-968C-4EE9-8164-CE16364706B3}" type="slidenum">
              <a:rPr lang="en-US" altLang="en-US"/>
              <a:pPr lvl="0">
                <a:defRPr/>
              </a:pPr>
              <a:t>48</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399" y="2130425"/>
            <a:ext cx="10363198" cy="1470025"/>
          </a:xfrm>
        </p:spPr>
        <p:txBody>
          <a:bodyPr/>
          <a:lstStyle/>
          <a:p>
            <a:r>
              <a:rPr lang="ko-KR" altLang="en-US"/>
              <a:t>마스터 제목 스타일 편집</a:t>
            </a:r>
          </a:p>
        </p:txBody>
      </p:sp>
      <p:sp>
        <p:nvSpPr>
          <p:cNvPr id="3" name="부제목 2"/>
          <p:cNvSpPr>
            <a:spLocks noGrp="1"/>
          </p:cNvSpPr>
          <p:nvPr>
            <p:ph type="subTitle" idx="1"/>
          </p:nvPr>
        </p:nvSpPr>
        <p:spPr>
          <a:xfrm>
            <a:off x="1828799" y="3886200"/>
            <a:ext cx="8534399"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940A130E-E3B8-4EBE-931F-81B26B8448AA}"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00C6A38-4290-41DD-B95C-4155372FD4AF}"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953836A-82A3-4C8B-9D31-CD724F3673ED}"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p:cNvSpPr>
            <a:spLocks noGrp="1"/>
          </p:cNvSpPr>
          <p:nvPr>
            <p:ph type="dt" sz="half" idx="10"/>
          </p:nvPr>
        </p:nvSpPr>
        <p:spPr/>
        <p:txBody>
          <a:bodyPr/>
          <a:lstStyle/>
          <a:p>
            <a:fld id="{AD2EBAF6-36D0-4DD8-B695-D4C1B37E35D6}" type="datetime1">
              <a:rPr lang="ko-KR" altLang="en-US" smtClean="0"/>
              <a:pPr/>
              <a:t>2026-03-14</a:t>
            </a:fld>
            <a:endParaRPr lang="ko-KR" altLang="en-US"/>
          </a:p>
        </p:txBody>
      </p:sp>
      <p:sp>
        <p:nvSpPr>
          <p:cNvPr id="3" name="바닥글 개체 틀 4"/>
          <p:cNvSpPr>
            <a:spLocks noGrp="1"/>
          </p:cNvSpPr>
          <p:nvPr>
            <p:ph type="ftr" sz="quarter" idx="11"/>
          </p:nvPr>
        </p:nvSpPr>
        <p:spPr/>
        <p:txBody>
          <a:bodyPr/>
          <a:lstStyle/>
          <a:p>
            <a:endParaRPr lang="ko-KR" altLang="en-US"/>
          </a:p>
        </p:txBody>
      </p:sp>
      <p:sp>
        <p:nvSpPr>
          <p:cNvPr id="4"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963083" y="4406900"/>
            <a:ext cx="10363198"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963083" y="2906713"/>
            <a:ext cx="10363198"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60728D28-603B-4EFC-80F8-17E5E9107035}"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내용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09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97599" y="1600200"/>
            <a:ext cx="5384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p:cNvSpPr>
            <a:spLocks noGrp="1"/>
          </p:cNvSpPr>
          <p:nvPr>
            <p:ph type="dt" sz="half" idx="10"/>
          </p:nvPr>
        </p:nvSpPr>
        <p:spPr/>
        <p:txBody>
          <a:bodyPr/>
          <a:lstStyle/>
          <a:p>
            <a:fld id="{A27A1F4E-0809-4239-8034-C38E431DAF92}" type="datetime1">
              <a:rPr lang="ko-KR" altLang="en-US" smtClean="0"/>
              <a:pPr/>
              <a:t>2026-03-14</a:t>
            </a:fld>
            <a:endParaRPr lang="ko-KR" altLang="en-US"/>
          </a:p>
        </p:txBody>
      </p:sp>
      <p:sp>
        <p:nvSpPr>
          <p:cNvPr id="6" name="바닥글 개체 틀 4"/>
          <p:cNvSpPr>
            <a:spLocks noGrp="1"/>
          </p:cNvSpPr>
          <p:nvPr>
            <p:ph type="ftr" sz="quarter" idx="11"/>
          </p:nvPr>
        </p:nvSpPr>
        <p:spPr/>
        <p:txBody>
          <a:bodyPr/>
          <a:lstStyle/>
          <a:p>
            <a:endParaRPr lang="ko-KR" altLang="en-US"/>
          </a:p>
        </p:txBody>
      </p:sp>
      <p:sp>
        <p:nvSpPr>
          <p:cNvPr id="7"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p:cNvSpPr>
            <a:spLocks noGrp="1"/>
          </p:cNvSpPr>
          <p:nvPr>
            <p:ph type="dt" sz="half" idx="10"/>
          </p:nvPr>
        </p:nvSpPr>
        <p:spPr/>
        <p:txBody>
          <a:bodyPr/>
          <a:lstStyle/>
          <a:p>
            <a:fld id="{5E0DA496-7307-4E8B-88DE-CB97B48BAB6F}" type="datetime1">
              <a:rPr lang="ko-KR" altLang="en-US" smtClean="0"/>
              <a:pPr/>
              <a:t>2026-03-14</a:t>
            </a:fld>
            <a:endParaRPr lang="ko-KR" altLang="en-US"/>
          </a:p>
        </p:txBody>
      </p:sp>
      <p:sp>
        <p:nvSpPr>
          <p:cNvPr id="4" name="바닥글 개체 틀 4"/>
          <p:cNvSpPr>
            <a:spLocks noGrp="1"/>
          </p:cNvSpPr>
          <p:nvPr>
            <p:ph type="ftr" sz="quarter" idx="11"/>
          </p:nvPr>
        </p:nvSpPr>
        <p:spPr/>
        <p:txBody>
          <a:bodyPr/>
          <a:lstStyle/>
          <a:p>
            <a:endParaRPr lang="ko-KR" altLang="en-US"/>
          </a:p>
        </p:txBody>
      </p:sp>
      <p:sp>
        <p:nvSpPr>
          <p:cNvPr id="5"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bl" preserve="1">
  <p:cSld name="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표 개체 틀 2"/>
          <p:cNvSpPr>
            <a:spLocks noGrp="1"/>
          </p:cNvSpPr>
          <p:nvPr>
            <p:ph type="tbl" sz="quarter" idx="13"/>
          </p:nvPr>
        </p:nvSpPr>
        <p:spPr>
          <a:xfrm>
            <a:off x="608037" y="1643063"/>
            <a:ext cx="10972798" cy="4525200"/>
          </a:xfrm>
        </p:spPr>
        <p:txBody>
          <a:bodyPr/>
          <a:lstStyle>
            <a:lvl1pPr>
              <a:buFontTx/>
              <a:buNone/>
              <a:defRPr/>
            </a:lvl1pPr>
          </a:lstStyle>
          <a:p>
            <a:r>
              <a:rPr lang="ko-KR" altLang="en-US"/>
              <a:t>표를 추가하려면 아이콘을 클릭하십시오</a:t>
            </a:r>
          </a:p>
        </p:txBody>
      </p:sp>
      <p:sp>
        <p:nvSpPr>
          <p:cNvPr id="4" name="날짜 개체 틀 3"/>
          <p:cNvSpPr>
            <a:spLocks noGrp="1"/>
          </p:cNvSpPr>
          <p:nvPr>
            <p:ph type="dt" sz="half" idx="10"/>
          </p:nvPr>
        </p:nvSpPr>
        <p:spPr/>
        <p:txBody>
          <a:bodyPr/>
          <a:lstStyle/>
          <a:p>
            <a:fld id="{58721E90-850C-410B-8B89-8394F580CFDA}"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fourObj" preserve="1">
  <p:cSld name="내용 4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quarter" idx="1"/>
          </p:nvPr>
        </p:nvSpPr>
        <p:spPr>
          <a:xfrm>
            <a:off x="609599" y="160020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quarter" idx="2"/>
          </p:nvPr>
        </p:nvSpPr>
        <p:spPr>
          <a:xfrm>
            <a:off x="6197599" y="160020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내용 개체 틀 4"/>
          <p:cNvSpPr>
            <a:spLocks noGrp="1"/>
          </p:cNvSpPr>
          <p:nvPr>
            <p:ph sz="quarter" idx="3"/>
          </p:nvPr>
        </p:nvSpPr>
        <p:spPr>
          <a:xfrm>
            <a:off x="608037" y="398422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내용 개체 틀 5"/>
          <p:cNvSpPr>
            <a:spLocks noGrp="1"/>
          </p:cNvSpPr>
          <p:nvPr>
            <p:ph sz="quarter" idx="4"/>
          </p:nvPr>
        </p:nvSpPr>
        <p:spPr>
          <a:xfrm>
            <a:off x="6196036" y="3984220"/>
            <a:ext cx="5384799" cy="21960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p:cNvSpPr>
            <a:spLocks noGrp="1"/>
          </p:cNvSpPr>
          <p:nvPr>
            <p:ph type="dt" sz="half" idx="10"/>
          </p:nvPr>
        </p:nvSpPr>
        <p:spPr/>
        <p:txBody>
          <a:bodyPr/>
          <a:lstStyle/>
          <a:p>
            <a:fld id="{5ACE7E28-9336-4363-8674-B91477D8F243}" type="datetime1">
              <a:rPr lang="ko-KR" altLang="en-US" smtClean="0"/>
              <a:pPr/>
              <a:t>2026-03-14</a:t>
            </a:fld>
            <a:endParaRPr lang="ko-KR" altLang="en-US"/>
          </a:p>
        </p:txBody>
      </p:sp>
      <p:sp>
        <p:nvSpPr>
          <p:cNvPr id="8" name="바닥글 개체 틀 4"/>
          <p:cNvSpPr>
            <a:spLocks noGrp="1"/>
          </p:cNvSpPr>
          <p:nvPr>
            <p:ph type="ftr" sz="quarter" idx="11"/>
          </p:nvPr>
        </p:nvSpPr>
        <p:spPr/>
        <p:txBody>
          <a:bodyPr/>
          <a:lstStyle/>
          <a:p>
            <a:endParaRPr lang="ko-KR" altLang="en-US"/>
          </a:p>
        </p:txBody>
      </p:sp>
      <p:sp>
        <p:nvSpPr>
          <p:cNvPr id="9"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그림 및 설명">
    <p:spTree>
      <p:nvGrpSpPr>
        <p:cNvPr id="1" name=""/>
        <p:cNvGrpSpPr/>
        <p:nvPr/>
      </p:nvGrpSpPr>
      <p:grpSpPr>
        <a:xfrm>
          <a:off x="0" y="0"/>
          <a:ext cx="0" cy="0"/>
          <a:chOff x="0" y="0"/>
          <a:chExt cx="0" cy="0"/>
        </a:xfrm>
      </p:grpSpPr>
      <p:sp>
        <p:nvSpPr>
          <p:cNvPr id="2" name="제목 1"/>
          <p:cNvSpPr>
            <a:spLocks noGrp="1"/>
          </p:cNvSpPr>
          <p:nvPr>
            <p:ph type="title"/>
          </p:nvPr>
        </p:nvSpPr>
        <p:spPr>
          <a:xfrm>
            <a:off x="2389716" y="4800600"/>
            <a:ext cx="7315199"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2389716" y="612775"/>
            <a:ext cx="731519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p>
        </p:txBody>
      </p:sp>
      <p:sp>
        <p:nvSpPr>
          <p:cNvPr id="4" name="텍스트 개체 틀 3"/>
          <p:cNvSpPr>
            <a:spLocks noGrp="1"/>
          </p:cNvSpPr>
          <p:nvPr>
            <p:ph type="body" sz="half" idx="2"/>
          </p:nvPr>
        </p:nvSpPr>
        <p:spPr>
          <a:xfrm>
            <a:off x="2389716" y="5367338"/>
            <a:ext cx="731519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ko-KR" altLang="en-US"/>
              <a:t>마스터 텍스트 스타일을 편집합니다</a:t>
            </a:r>
          </a:p>
        </p:txBody>
      </p:sp>
      <p:sp>
        <p:nvSpPr>
          <p:cNvPr id="5" name="날짜 개체 틀 3"/>
          <p:cNvSpPr>
            <a:spLocks noGrp="1"/>
          </p:cNvSpPr>
          <p:nvPr>
            <p:ph type="dt" sz="half" idx="10"/>
          </p:nvPr>
        </p:nvSpPr>
        <p:spPr/>
        <p:txBody>
          <a:bodyPr/>
          <a:lstStyle/>
          <a:p>
            <a:fld id="{5ACE7E28-9336-4363-8674-B91477D8F243}" type="datetime1">
              <a:rPr lang="ko-KR" altLang="en-US" smtClean="0"/>
              <a:pPr/>
              <a:t>2026-03-14</a:t>
            </a:fld>
            <a:endParaRPr lang="ko-KR" altLang="en-US"/>
          </a:p>
        </p:txBody>
      </p:sp>
      <p:sp>
        <p:nvSpPr>
          <p:cNvPr id="6" name="바닥글 개체 틀 4"/>
          <p:cNvSpPr>
            <a:spLocks noGrp="1"/>
          </p:cNvSpPr>
          <p:nvPr>
            <p:ph type="ftr" sz="quarter" idx="11"/>
          </p:nvPr>
        </p:nvSpPr>
        <p:spPr/>
        <p:txBody>
          <a:bodyPr/>
          <a:lstStyle/>
          <a:p>
            <a:endParaRPr lang="ko-KR" altLang="en-US"/>
          </a:p>
        </p:txBody>
      </p:sp>
      <p:sp>
        <p:nvSpPr>
          <p:cNvPr id="7"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간지">
    <p:spTree>
      <p:nvGrpSpPr>
        <p:cNvPr id="1" name=""/>
        <p:cNvGrpSpPr/>
        <p:nvPr/>
      </p:nvGrpSpPr>
      <p:grpSpPr>
        <a:xfrm>
          <a:off x="0" y="0"/>
          <a:ext cx="0" cy="0"/>
          <a:chOff x="0" y="0"/>
          <a:chExt cx="0" cy="0"/>
        </a:xfrm>
      </p:grpSpPr>
      <p:sp>
        <p:nvSpPr>
          <p:cNvPr id="2" name="제목 1"/>
          <p:cNvSpPr>
            <a:spLocks noGrp="1"/>
          </p:cNvSpPr>
          <p:nvPr>
            <p:ph type="ctrTitle"/>
          </p:nvPr>
        </p:nvSpPr>
        <p:spPr>
          <a:xfrm>
            <a:off x="0" y="2130425"/>
            <a:ext cx="12192000" cy="1470025"/>
          </a:xfrm>
        </p:spPr>
        <p:txBody>
          <a:bodyPr>
            <a:normAutofit/>
          </a:bodyPr>
          <a:lstStyle>
            <a:lvl1pPr>
              <a:defRPr sz="4400" b="1"/>
            </a:lvl1pPr>
          </a:lstStyle>
          <a:p>
            <a:r>
              <a:rPr lang="ko-KR" altLang="en-US"/>
              <a:t>마스터 제목 스타일 편집</a:t>
            </a:r>
          </a:p>
        </p:txBody>
      </p:sp>
      <p:sp>
        <p:nvSpPr>
          <p:cNvPr id="3" name="날짜 개체 틀 3"/>
          <p:cNvSpPr>
            <a:spLocks noGrp="1"/>
          </p:cNvSpPr>
          <p:nvPr>
            <p:ph type="dt" sz="half" idx="10"/>
          </p:nvPr>
        </p:nvSpPr>
        <p:spPr/>
        <p:txBody>
          <a:bodyPr/>
          <a:lstStyle/>
          <a:p>
            <a:fld id="{CA348888-F454-4AD2-BA62-3AF29D9807C0}" type="datetime1">
              <a:rPr lang="ko-KR" altLang="en-US" smtClean="0"/>
              <a:pPr/>
              <a:t>2026-03-14</a:t>
            </a:fld>
            <a:endParaRPr lang="ko-KR" altLang="en-US"/>
          </a:p>
        </p:txBody>
      </p:sp>
      <p:sp>
        <p:nvSpPr>
          <p:cNvPr id="4" name="바닥글 개체 틀 4"/>
          <p:cNvSpPr>
            <a:spLocks noGrp="1"/>
          </p:cNvSpPr>
          <p:nvPr>
            <p:ph type="ftr" sz="quarter" idx="11"/>
          </p:nvPr>
        </p:nvSpPr>
        <p:spPr/>
        <p:txBody>
          <a:bodyPr/>
          <a:lstStyle/>
          <a:p>
            <a:endParaRPr lang="ko-KR" altLang="en-US"/>
          </a:p>
        </p:txBody>
      </p:sp>
      <p:sp>
        <p:nvSpPr>
          <p:cNvPr id="5"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clipArtAndTx" preserve="1">
  <p:cSld name="목차">
    <p:spTree>
      <p:nvGrpSpPr>
        <p:cNvPr id="1" name=""/>
        <p:cNvGrpSpPr/>
        <p:nvPr/>
      </p:nvGrpSpPr>
      <p:grpSpPr>
        <a:xfrm>
          <a:off x="0" y="0"/>
          <a:ext cx="0" cy="0"/>
          <a:chOff x="0" y="0"/>
          <a:chExt cx="0" cy="0"/>
        </a:xfrm>
      </p:grpSpPr>
      <p:sp>
        <p:nvSpPr>
          <p:cNvPr id="2" name="제목 1"/>
          <p:cNvSpPr>
            <a:spLocks noGrp="1"/>
          </p:cNvSpPr>
          <p:nvPr>
            <p:ph type="title"/>
          </p:nvPr>
        </p:nvSpPr>
        <p:spPr>
          <a:xfrm>
            <a:off x="609599" y="274638"/>
            <a:ext cx="10972798" cy="1143000"/>
          </a:xfrm>
        </p:spPr>
        <p:txBody>
          <a:bodyPr/>
          <a:lstStyle>
            <a:lvl1pPr>
              <a:defRPr/>
            </a:lvl1pPr>
          </a:lstStyle>
          <a:p>
            <a:r>
              <a:rPr lang="ko-KR" altLang="en-US"/>
              <a:t>마스터 제목 스타일 편집</a:t>
            </a:r>
          </a:p>
        </p:txBody>
      </p:sp>
      <p:sp>
        <p:nvSpPr>
          <p:cNvPr id="8" name="텍스트 개체 틀 7"/>
          <p:cNvSpPr>
            <a:spLocks noGrp="1"/>
          </p:cNvSpPr>
          <p:nvPr>
            <p:ph type="body" sz="quarter" idx="14" hasCustomPrompt="1"/>
          </p:nvPr>
        </p:nvSpPr>
        <p:spPr>
          <a:xfrm>
            <a:off x="2857477" y="2214563"/>
            <a:ext cx="6477021" cy="3214687"/>
          </a:xfrm>
        </p:spPr>
        <p:txBody>
          <a:bodyPr>
            <a:normAutofit/>
          </a:bodyPr>
          <a:lstStyle>
            <a:lvl1pPr>
              <a:lnSpc>
                <a:spcPct val="150000"/>
              </a:lnSpc>
              <a:defRPr sz="2400"/>
            </a:lvl1pPr>
          </a:lstStyle>
          <a:p>
            <a:pPr lvl="0"/>
            <a:r>
              <a:rPr lang="ko-KR" altLang="en-US"/>
              <a:t>첫째 목차</a:t>
            </a:r>
          </a:p>
          <a:p>
            <a:pPr lvl="0"/>
            <a:r>
              <a:rPr lang="ko-KR" altLang="en-US"/>
              <a:t>둘째 목차</a:t>
            </a:r>
          </a:p>
          <a:p>
            <a:pPr lvl="0"/>
            <a:r>
              <a:rPr lang="ko-KR" altLang="en-US"/>
              <a:t>셋째 목차</a:t>
            </a:r>
          </a:p>
          <a:p>
            <a:pPr lvl="0"/>
            <a:r>
              <a:rPr lang="ko-KR" altLang="en-US"/>
              <a:t>넷째 목차</a:t>
            </a:r>
          </a:p>
          <a:p>
            <a:pPr lvl="0"/>
            <a:r>
              <a:rPr lang="ko-KR" altLang="en-US"/>
              <a:t>다섯째 목차</a:t>
            </a:r>
          </a:p>
        </p:txBody>
      </p:sp>
      <p:sp>
        <p:nvSpPr>
          <p:cNvPr id="4" name="날짜 개체 틀 3"/>
          <p:cNvSpPr>
            <a:spLocks noGrp="1"/>
          </p:cNvSpPr>
          <p:nvPr>
            <p:ph type="dt" sz="half" idx="10"/>
          </p:nvPr>
        </p:nvSpPr>
        <p:spPr/>
        <p:txBody>
          <a:bodyPr/>
          <a:lstStyle/>
          <a:p>
            <a:fld id="{956FEC12-A4C9-4837-AF94-AD867782C04C}"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본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839199" y="274638"/>
            <a:ext cx="2743199"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09599" y="274638"/>
            <a:ext cx="8026399"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57F84A3-4F29-4053-ACFD-1BAF2D3F140C}" type="datetime1">
              <a:rPr lang="ko-KR" altLang="en-US" smtClean="0"/>
              <a:pPr/>
              <a:t>2026-03-14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D22CD3B-FDDF-4998-970C-76E6E0BEC65F}"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09599" y="274638"/>
            <a:ext cx="10972798"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609599" y="1600200"/>
            <a:ext cx="10972798" cy="4525963"/>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ko-KR" altLang="en-US"/>
          </a:p>
        </p:txBody>
      </p:sp>
      <p:sp>
        <p:nvSpPr>
          <p:cNvPr id="4" name="날짜 개체 틀 3"/>
          <p:cNvSpPr>
            <a:spLocks noGrp="1"/>
          </p:cNvSpPr>
          <p:nvPr>
            <p:ph type="dt" sz="half" idx="2"/>
          </p:nvPr>
        </p:nvSpPr>
        <p:spPr>
          <a:xfrm>
            <a:off x="609599" y="6356350"/>
            <a:ext cx="28447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2D86A-5F52-4165-8473-F1B836277586}" type="datetime1">
              <a:rPr lang="ko-KR" altLang="en-US" smtClean="0"/>
              <a:pPr/>
              <a:t>2026-03-14</a:t>
            </a:fld>
            <a:endParaRPr lang="ko-KR" altLang="en-US"/>
          </a:p>
        </p:txBody>
      </p:sp>
      <p:sp>
        <p:nvSpPr>
          <p:cNvPr id="5" name="바닥글 개체 틀 4"/>
          <p:cNvSpPr>
            <a:spLocks noGrp="1"/>
          </p:cNvSpPr>
          <p:nvPr>
            <p:ph type="ftr" sz="quarter" idx="3"/>
          </p:nvPr>
        </p:nvSpPr>
        <p:spPr>
          <a:xfrm>
            <a:off x="4165599" y="6356350"/>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737599" y="6356350"/>
            <a:ext cx="284479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2CD3B-FDDF-4998-970C-76E6E0BEC65F}"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sldNum="0"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a:lvl2pPr rtl="0" eaLnBrk="1" latinLnBrk="1" hangingPunct="1">
        <a:defRPr>
          <a:solidFill>
            <a:schemeClr val="tx2"/>
          </a:solidFill>
        </a:defRPr>
      </a:lvl2pPr>
      <a:lvl3pPr rtl="0" eaLnBrk="1" latinLnBrk="1" hangingPunct="1">
        <a:defRPr>
          <a:solidFill>
            <a:schemeClr val="tx2"/>
          </a:solidFill>
        </a:defRPr>
      </a:lvl3pPr>
      <a:lvl4pPr rtl="0" eaLnBrk="1" latinLnBrk="1" hangingPunct="1">
        <a:defRPr>
          <a:solidFill>
            <a:schemeClr val="tx2"/>
          </a:solidFill>
        </a:defRPr>
      </a:lvl4pPr>
      <a:lvl5pPr rtl="0" eaLnBrk="1" latinLnBrk="1" hangingPunct="1">
        <a:defRPr>
          <a:solidFill>
            <a:schemeClr val="tx2"/>
          </a:solidFill>
        </a:defRPr>
      </a:lvl5pPr>
      <a:lvl6pPr rtl="0" eaLnBrk="1" latinLnBrk="1" hangingPunct="1">
        <a:defRPr>
          <a:solidFill>
            <a:schemeClr val="tx2"/>
          </a:solidFill>
        </a:defRPr>
      </a:lvl6pPr>
      <a:lvl7pPr rtl="0" eaLnBrk="1" latinLnBrk="1" hangingPunct="1">
        <a:defRPr>
          <a:solidFill>
            <a:schemeClr val="tx2"/>
          </a:solidFill>
        </a:defRPr>
      </a:lvl7pPr>
      <a:lvl8pPr rtl="0" eaLnBrk="1" latinLnBrk="1" hangingPunct="1">
        <a:defRPr>
          <a:solidFill>
            <a:schemeClr val="tx2"/>
          </a:solidFill>
        </a:defRPr>
      </a:lvl8pPr>
      <a:lvl9pPr rtl="0" eaLnBrk="1" latinLnBrk="1" hangingPunct="1">
        <a:defRPr>
          <a:solidFill>
            <a:schemeClr val="tx2"/>
          </a:solidFill>
        </a:defRPr>
      </a:lvl9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1556496"/>
            <a:ext cx="10363198" cy="1147856"/>
          </a:xfrm>
        </p:spPr>
        <p:txBody>
          <a:bodyPr/>
          <a:lstStyle/>
          <a:p>
            <a:pPr>
              <a:defRPr/>
            </a:pPr>
            <a:r>
              <a:rPr lang="ko-KR" altLang="en-US" sz="5200" b="1"/>
              <a:t>Incheon International Film Festival</a:t>
            </a:r>
          </a:p>
        </p:txBody>
      </p:sp>
      <p:sp>
        <p:nvSpPr>
          <p:cNvPr id="5" name="부제목 2"/>
          <p:cNvSpPr/>
          <p:nvPr/>
        </p:nvSpPr>
        <p:spPr>
          <a:xfrm>
            <a:off x="4208368" y="5404038"/>
            <a:ext cx="4304177"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000" b="1" i="0" u="none" strike="noStrike" kern="1200" cap="none" spc="0" normalizeH="0" baseline="0">
                <a:solidFill>
                  <a:srgbClr val="8C8C8C"/>
                </a:solidFill>
                <a:latin typeface="Calibri"/>
                <a:ea typeface="맑은 고딕"/>
                <a:cs typeface="맑은 고딕"/>
              </a:rPr>
              <a:t>인천국제영화제 </a:t>
            </a:r>
            <a:r>
              <a:rPr kumimoji="0" lang="en-US" altLang="ko-KR" sz="2000" b="1" i="0" u="none" strike="noStrike" kern="1200" cap="none" spc="0" normalizeH="0" baseline="0">
                <a:solidFill>
                  <a:srgbClr val="8C8C8C"/>
                </a:solidFill>
                <a:latin typeface="Calibri"/>
                <a:ea typeface="맑은 고딕"/>
                <a:cs typeface="맑은 고딕"/>
              </a:rPr>
              <a:t>IIFF </a:t>
            </a:r>
            <a:r>
              <a:rPr kumimoji="0" lang="ko-KR" altLang="en-US" sz="2000" b="1" i="0" u="none" strike="noStrike" kern="1200" cap="none" spc="0" normalizeH="0" baseline="0">
                <a:solidFill>
                  <a:srgbClr val="8C8C8C"/>
                </a:solidFill>
                <a:latin typeface="Calibri"/>
                <a:ea typeface="맑은 고딕"/>
                <a:cs typeface="맑은 고딕"/>
              </a:rPr>
              <a:t>추진위원회</a:t>
            </a:r>
          </a:p>
        </p:txBody>
      </p:sp>
      <p:sp>
        <p:nvSpPr>
          <p:cNvPr id="6" name="부제목 2"/>
          <p:cNvSpPr/>
          <p:nvPr/>
        </p:nvSpPr>
        <p:spPr>
          <a:xfrm>
            <a:off x="4238624" y="6088717"/>
            <a:ext cx="4304177"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en-US" altLang="ko-KR" sz="2000" b="1" i="0" u="none" strike="noStrike" kern="1200" cap="none" spc="0" normalizeH="0" baseline="0">
                <a:solidFill>
                  <a:srgbClr val="8C8C8C"/>
                </a:solidFill>
                <a:latin typeface="Calibri"/>
                <a:ea typeface="맑은 고딕"/>
                <a:cs typeface="맑은 고딕"/>
              </a:rPr>
              <a:t>2026.02.</a:t>
            </a:r>
          </a:p>
        </p:txBody>
      </p:sp>
      <p:sp>
        <p:nvSpPr>
          <p:cNvPr id="8" name="부제목 2"/>
          <p:cNvSpPr/>
          <p:nvPr/>
        </p:nvSpPr>
        <p:spPr>
          <a:xfrm>
            <a:off x="1828800" y="2704352"/>
            <a:ext cx="8534399" cy="660026"/>
          </a:xfrm>
          <a:prstGeom prst="rect">
            <a:avLst/>
          </a:prstGeom>
        </p:spPr>
        <p:txBody>
          <a:bodyPr vert="horz" lIns="91440" tIns="45720" rIns="91440" bIns="45720">
            <a:normAutofit/>
          </a:bodyPr>
          <a:lstStyle/>
          <a:p>
            <a:pPr marL="0" indent="0" algn="ctr" defTabSz="914400" rtl="0" eaLnBrk="1" latinLnBrk="1" hangingPunct="1">
              <a:lnSpc>
                <a:spcPct val="100000"/>
              </a:lnSpc>
              <a:spcBef>
                <a:spcPct val="20000"/>
              </a:spcBef>
              <a:spcAft>
                <a:spcPts val="0"/>
              </a:spcAft>
              <a:buFont typeface="Arial"/>
              <a:buNone/>
              <a:defRPr/>
            </a:pPr>
            <a:r>
              <a:rPr kumimoji="0" lang="en-US" altLang="en-US" sz="3200" b="0" i="0" u="none" strike="noStrike" kern="1200" cap="none" spc="0" normalizeH="0" baseline="0">
                <a:solidFill>
                  <a:srgbClr val="8C8C8C"/>
                </a:solidFill>
                <a:latin typeface="Calibri"/>
                <a:ea typeface="Times New Roman"/>
                <a:cs typeface="Times New Roman"/>
              </a:rPr>
              <a:t> Insights from I</a:t>
            </a:r>
            <a:r>
              <a:rPr kumimoji="0" lang="en-US" altLang="ko-KR" sz="3200" b="0" i="0" u="none" strike="noStrike" kern="1200" cap="none" spc="0" normalizeH="0" baseline="0">
                <a:solidFill>
                  <a:srgbClr val="8C8C8C"/>
                </a:solidFill>
                <a:latin typeface="Calibri"/>
                <a:ea typeface="Times New Roman"/>
                <a:cs typeface="Times New Roman"/>
              </a:rPr>
              <a:t>NSPIRE</a:t>
            </a:r>
            <a:endParaRPr kumimoji="0" lang="en-US" altLang="en-US" sz="3200" b="0" i="0" u="none" strike="noStrike" kern="1200" cap="none" spc="0" normalizeH="0" baseline="0">
              <a:solidFill>
                <a:srgbClr val="8C8C8C"/>
              </a:solidFill>
              <a:latin typeface="Calibri"/>
              <a:ea typeface="Times New Roman"/>
              <a:cs typeface="Times New Roman"/>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부제목 2"/>
          <p:cNvSpPr>
            <a:spLocks noGrp="1"/>
          </p:cNvSpPr>
          <p:nvPr/>
        </p:nvSpPr>
        <p:spPr>
          <a:xfrm>
            <a:off x="5903258" y="1122641"/>
            <a:ext cx="3099546" cy="716056"/>
          </a:xfrm>
          <a:prstGeom prst="rect">
            <a:avLst/>
          </a:prstGeom>
        </p:spPr>
        <p:txBody>
          <a:bodyPr vert="horz" lIns="91440" tIns="45720" rIns="91440" bIns="45720">
            <a:normAutofit/>
          </a:bodyPr>
          <a:lstStyle/>
          <a:p>
            <a:pPr marL="0" indent="0" algn="ctr" defTabSz="914400" rtl="0" eaLnBrk="1" latinLnBrk="1" hangingPunct="1">
              <a:lnSpc>
                <a:spcPct val="100000"/>
              </a:lnSpc>
              <a:spcBef>
                <a:spcPct val="20000"/>
              </a:spcBef>
              <a:spcAft>
                <a:spcPts val="0"/>
              </a:spcAft>
              <a:buFont typeface="Arial"/>
              <a:buNone/>
              <a:defRPr/>
            </a:pPr>
            <a:r>
              <a:rPr kumimoji="0" lang="ja-JP" altLang="en-US" sz="3700" b="1" i="0" u="none" strike="noStrike" kern="1200" cap="none" spc="0" normalizeH="0" baseline="0">
                <a:solidFill>
                  <a:srgbClr val="8C8C8C"/>
                </a:solidFill>
                <a:latin typeface="Calibri"/>
                <a:ea typeface="MS PGothic"/>
                <a:cs typeface="MS PGothic"/>
              </a:rPr>
              <a:t>〔</a:t>
            </a:r>
            <a:r>
              <a:rPr kumimoji="0" lang="ko-KR" altLang="en-US" sz="3700" b="1" i="0" u="none" strike="noStrike" kern="1200" cap="none" spc="0" normalizeH="0" baseline="0">
                <a:solidFill>
                  <a:srgbClr val="8C8C8C"/>
                </a:solidFill>
                <a:latin typeface="Calibri"/>
                <a:ea typeface="맑은 고딕"/>
                <a:cs typeface="맑은 고딕"/>
              </a:rPr>
              <a:t>NEXT WAVE</a:t>
            </a:r>
            <a:r>
              <a:rPr kumimoji="0" lang="ja-JP" altLang="en-US" sz="3700" b="1" i="0" u="none" strike="noStrike" kern="1200" cap="none" spc="0" normalizeH="0" baseline="0">
                <a:solidFill>
                  <a:srgbClr val="8C8C8C"/>
                </a:solidFill>
                <a:latin typeface="Calibri"/>
                <a:ea typeface="MS PGothic"/>
                <a:cs typeface="MS PGothic"/>
              </a:rPr>
              <a:t>〕</a:t>
            </a:r>
          </a:p>
        </p:txBody>
      </p:sp>
      <p:sp>
        <p:nvSpPr>
          <p:cNvPr id="5" name="부제목 2"/>
          <p:cNvSpPr/>
          <p:nvPr/>
        </p:nvSpPr>
        <p:spPr>
          <a:xfrm>
            <a:off x="2009214" y="2864261"/>
            <a:ext cx="8534399"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700" b="1" i="0" u="none" strike="noStrike" kern="1200" cap="none" spc="0" normalizeH="0" baseline="0">
                <a:solidFill>
                  <a:schemeClr val="tx1"/>
                </a:solidFill>
                <a:latin typeface="Calibri"/>
                <a:ea typeface="맑은 고딕"/>
                <a:cs typeface="맑은 고딕"/>
              </a:rPr>
              <a:t>아시아와 헐리우드, 그리고 미래 영화계의 새로운 물결</a:t>
            </a:r>
          </a:p>
        </p:txBody>
      </p:sp>
      <p:sp>
        <p:nvSpPr>
          <p:cNvPr id="6" name="부제목 2"/>
          <p:cNvSpPr>
            <a:spLocks noGrp="1"/>
          </p:cNvSpPr>
          <p:nvPr/>
        </p:nvSpPr>
        <p:spPr>
          <a:xfrm>
            <a:off x="3450666" y="897589"/>
            <a:ext cx="3149597" cy="1033556"/>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en-US" altLang="ko-KR" sz="6900" b="1" i="0" u="none" strike="noStrike" kern="1200" cap="none" spc="0" normalizeH="0" baseline="0">
                <a:solidFill>
                  <a:schemeClr val="tx1"/>
                </a:solidFill>
                <a:latin typeface="Calibri"/>
                <a:ea typeface="MS PGothic"/>
                <a:cs typeface="MS PGothic"/>
              </a:rPr>
              <a:t>I I F F</a:t>
            </a:r>
          </a:p>
        </p:txBody>
      </p:sp>
      <p:sp>
        <p:nvSpPr>
          <p:cNvPr id="8" name="부제목 2"/>
          <p:cNvSpPr/>
          <p:nvPr/>
        </p:nvSpPr>
        <p:spPr>
          <a:xfrm>
            <a:off x="2093257" y="3476906"/>
            <a:ext cx="8534399"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000" b="1" i="0" u="none" strike="noStrike" kern="1200" cap="none" spc="0" normalizeH="0" baseline="0">
                <a:solidFill>
                  <a:srgbClr val="8C8C8C"/>
                </a:solidFill>
                <a:latin typeface="Calibri"/>
                <a:ea typeface="맑은 고딕"/>
                <a:cs typeface="맑은 고딕"/>
              </a:rPr>
              <a:t>헐리우드와 공동제작</a:t>
            </a:r>
            <a:r>
              <a:rPr kumimoji="0" lang="en-US" altLang="ko-KR" sz="2000" b="1" i="0" u="none" strike="noStrike" kern="1200" cap="none" spc="0" normalizeH="0" baseline="0">
                <a:solidFill>
                  <a:srgbClr val="8C8C8C"/>
                </a:solidFill>
                <a:latin typeface="Calibri"/>
                <a:ea typeface="맑은 고딕"/>
                <a:cs typeface="맑은 고딕"/>
              </a:rPr>
              <a:t>,</a:t>
            </a:r>
            <a:r>
              <a:rPr kumimoji="0" lang="ko-KR" altLang="en-US" sz="2000" b="1" i="0" u="none" strike="noStrike" kern="1200" cap="none" spc="0" normalizeH="0" baseline="0">
                <a:solidFill>
                  <a:srgbClr val="8C8C8C"/>
                </a:solidFill>
                <a:latin typeface="Calibri"/>
                <a:ea typeface="맑은 고딕"/>
                <a:cs typeface="맑은 고딕"/>
              </a:rPr>
              <a:t> 투자</a:t>
            </a:r>
            <a:r>
              <a:rPr kumimoji="0" lang="en-US" altLang="ko-KR" sz="2000" b="1" i="0" u="none" strike="noStrike" kern="1200" cap="none" spc="0" normalizeH="0" baseline="0">
                <a:solidFill>
                  <a:srgbClr val="8C8C8C"/>
                </a:solidFill>
                <a:latin typeface="Calibri"/>
                <a:ea typeface="맑은 고딕"/>
                <a:cs typeface="맑은 고딕"/>
              </a:rPr>
              <a:t>,</a:t>
            </a:r>
            <a:r>
              <a:rPr kumimoji="0" lang="ko-KR" altLang="en-US" sz="2000" b="1" i="0" u="none" strike="noStrike" kern="1200" cap="none" spc="0" normalizeH="0" baseline="0">
                <a:solidFill>
                  <a:srgbClr val="8C8C8C"/>
                </a:solidFill>
                <a:latin typeface="Calibri"/>
                <a:ea typeface="맑은 고딕"/>
                <a:cs typeface="맑은 고딕"/>
              </a:rPr>
              <a:t> 배급 실전협업 영화제</a:t>
            </a:r>
          </a:p>
        </p:txBody>
      </p:sp>
      <p:sp>
        <p:nvSpPr>
          <p:cNvPr id="9" name="부제목 2"/>
          <p:cNvSpPr/>
          <p:nvPr/>
        </p:nvSpPr>
        <p:spPr>
          <a:xfrm>
            <a:off x="2093257" y="4139828"/>
            <a:ext cx="8534399"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000" b="1" i="0" u="none" strike="noStrike" kern="1200" cap="none" spc="0" normalizeH="0" baseline="0">
                <a:solidFill>
                  <a:srgbClr val="8C8C8C"/>
                </a:solidFill>
                <a:latin typeface="Calibri"/>
                <a:ea typeface="맑은 고딕"/>
                <a:cs typeface="맑은 고딕"/>
              </a:rPr>
              <a:t>상업영화와 독립영화가 공존하는 영화제</a:t>
            </a:r>
          </a:p>
        </p:txBody>
      </p:sp>
      <p:sp>
        <p:nvSpPr>
          <p:cNvPr id="10" name="부제목 2"/>
          <p:cNvSpPr/>
          <p:nvPr/>
        </p:nvSpPr>
        <p:spPr>
          <a:xfrm>
            <a:off x="2167965" y="4774827"/>
            <a:ext cx="8534399"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000" b="1" i="0" u="none" strike="noStrike" kern="1200" cap="none" spc="0" normalizeH="0" baseline="0">
                <a:solidFill>
                  <a:srgbClr val="8C8C8C"/>
                </a:solidFill>
                <a:latin typeface="Calibri"/>
                <a:ea typeface="맑은 고딕"/>
                <a:cs typeface="맑은 고딕"/>
              </a:rPr>
              <a:t>참여하고 공동창작하고 즐기는 잼보리형 영화제</a:t>
            </a:r>
            <a:endParaRPr kumimoji="0" lang="en-US" altLang="ko-KR" sz="2000" b="1" i="0" u="none" strike="noStrike" kern="1200" cap="none" spc="0" normalizeH="0" baseline="0">
              <a:solidFill>
                <a:srgbClr val="8C8C8C"/>
              </a:solidFill>
              <a:latin typeface="Calibri"/>
              <a:ea typeface="맑은 고딕"/>
              <a:cs typeface="맑은 고딕"/>
            </a:endParaRPr>
          </a:p>
        </p:txBody>
      </p:sp>
      <p:sp>
        <p:nvSpPr>
          <p:cNvPr id="11" name="부제목 2"/>
          <p:cNvSpPr/>
          <p:nvPr/>
        </p:nvSpPr>
        <p:spPr>
          <a:xfrm>
            <a:off x="2214657" y="5288430"/>
            <a:ext cx="8534399" cy="442072"/>
          </a:xfrm>
          <a:prstGeom prst="rect">
            <a:avLst/>
          </a:prstGeom>
        </p:spPr>
        <p:txBody>
          <a:bodyPr vert="horz" lIns="91440" tIns="45720" rIns="91440" bIns="45720">
            <a:noAutofit/>
          </a:bodyPr>
          <a:lstStyle/>
          <a:p>
            <a:pPr marL="0" indent="0" algn="ctr" defTabSz="914400" rtl="0" eaLnBrk="1" latinLnBrk="1" hangingPunct="1">
              <a:lnSpc>
                <a:spcPct val="100000"/>
              </a:lnSpc>
              <a:spcBef>
                <a:spcPct val="20000"/>
              </a:spcBef>
              <a:spcAft>
                <a:spcPts val="0"/>
              </a:spcAft>
              <a:buFont typeface="Arial"/>
              <a:buNone/>
              <a:defRPr/>
            </a:pPr>
            <a:r>
              <a:rPr kumimoji="0" lang="ko-KR" altLang="en-US" sz="2000" b="1" i="0" u="none" strike="noStrike" kern="1200" cap="none" spc="0" normalizeH="0" baseline="0">
                <a:solidFill>
                  <a:srgbClr val="8C8C8C"/>
                </a:solidFill>
                <a:latin typeface="Calibri"/>
                <a:ea typeface="맑은 고딕"/>
                <a:cs typeface="맑은 고딕"/>
              </a:rPr>
              <a:t>온라인 오프라인 </a:t>
            </a:r>
            <a:r>
              <a:rPr kumimoji="0" lang="en-US" altLang="ko-KR" sz="2000" b="1" i="0" u="none" strike="noStrike" kern="1200" cap="none" spc="0" normalizeH="0" baseline="0">
                <a:solidFill>
                  <a:srgbClr val="8C8C8C"/>
                </a:solidFill>
                <a:latin typeface="Calibri"/>
                <a:ea typeface="맑은 고딕"/>
                <a:cs typeface="맑은 고딕"/>
              </a:rPr>
              <a:t>365</a:t>
            </a:r>
            <a:r>
              <a:rPr kumimoji="0" lang="ko-KR" altLang="en-US" sz="2000" b="1" i="0" u="none" strike="noStrike" kern="1200" cap="none" spc="0" normalizeH="0" baseline="0">
                <a:solidFill>
                  <a:srgbClr val="8C8C8C"/>
                </a:solidFill>
                <a:latin typeface="Calibri"/>
                <a:ea typeface="맑은 고딕"/>
                <a:cs typeface="맑은 고딕"/>
              </a:rPr>
              <a:t>일  영화제</a:t>
            </a:r>
          </a:p>
        </p:txBody>
      </p:sp>
      <p:sp>
        <p:nvSpPr>
          <p:cNvPr id="13" name="부제목 2"/>
          <p:cNvSpPr/>
          <p:nvPr/>
        </p:nvSpPr>
        <p:spPr>
          <a:xfrm>
            <a:off x="1828800" y="1997447"/>
            <a:ext cx="8534399" cy="660026"/>
          </a:xfrm>
          <a:prstGeom prst="rect">
            <a:avLst/>
          </a:prstGeom>
        </p:spPr>
        <p:txBody>
          <a:bodyPr vert="horz" lIns="91440" tIns="45720" rIns="91440" bIns="45720">
            <a:normAutofit/>
          </a:bodyPr>
          <a:lstStyle/>
          <a:p>
            <a:pPr marL="0" indent="0" algn="ctr" defTabSz="914400" rtl="0" eaLnBrk="1" latinLnBrk="1" hangingPunct="1">
              <a:lnSpc>
                <a:spcPct val="100000"/>
              </a:lnSpc>
              <a:spcBef>
                <a:spcPct val="20000"/>
              </a:spcBef>
              <a:spcAft>
                <a:spcPts val="0"/>
              </a:spcAft>
              <a:buFont typeface="Arial"/>
              <a:buNone/>
              <a:defRPr/>
            </a:pPr>
            <a:r>
              <a:rPr kumimoji="0" lang="en-US" altLang="en-US" sz="3000" b="0" i="0" u="none" strike="noStrike" kern="1200" cap="none" spc="0" normalizeH="0" baseline="0">
                <a:solidFill>
                  <a:srgbClr val="8C8C8C"/>
                </a:solidFill>
                <a:latin typeface="Calibri"/>
                <a:ea typeface="Times New Roman"/>
                <a:cs typeface="Times New Roman"/>
              </a:rPr>
              <a:t>Cinematic Insights from  I</a:t>
            </a:r>
            <a:r>
              <a:rPr kumimoji="0" lang="en-US" altLang="ko-KR" sz="3000" b="0" i="0" u="none" strike="noStrike" kern="1200" cap="none" spc="0" normalizeH="0" baseline="0">
                <a:solidFill>
                  <a:srgbClr val="8C8C8C"/>
                </a:solidFill>
                <a:latin typeface="Calibri"/>
                <a:ea typeface="Times New Roman"/>
                <a:cs typeface="Times New Roman"/>
              </a:rPr>
              <a:t>NSPIRE</a:t>
            </a:r>
            <a:r>
              <a:rPr kumimoji="0" lang="en-US" altLang="en-US" sz="3000" b="0" i="0" u="none" strike="noStrike" kern="1200" cap="none" spc="0" normalizeH="0" baseline="0">
                <a:solidFill>
                  <a:srgbClr val="8C8C8C"/>
                </a:solidFill>
                <a:latin typeface="Calibri"/>
                <a:ea typeface="Times New Roman"/>
                <a:cs typeface="Times New Roman"/>
              </a:rPr>
              <a:t> Resort</a:t>
            </a:r>
          </a:p>
        </p:txBody>
      </p:sp>
      <p:sp>
        <p:nvSpPr>
          <p:cNvPr id="14" name="TextBox 13"/>
          <p:cNvSpPr txBox="1"/>
          <p:nvPr/>
        </p:nvSpPr>
        <p:spPr>
          <a:xfrm>
            <a:off x="3450666" y="5730502"/>
            <a:ext cx="7169898" cy="363592"/>
          </a:xfrm>
          <a:prstGeom prst="rect">
            <a:avLst/>
          </a:prstGeom>
        </p:spPr>
        <p:txBody>
          <a:bodyPr wrap="square">
            <a:spAutoFit/>
          </a:bodyPr>
          <a:lstStyle/>
          <a:p>
            <a:pPr>
              <a:defRPr/>
            </a:pPr>
            <a:r>
              <a:rPr lang="ko-KR" altLang="en-US"/>
              <a:t>영화 · 음악 · 테크놀로지 · K-컬처가  융합된 영화 플랫폼</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3799522" y="2027872"/>
            <a:ext cx="4592956" cy="1401128"/>
          </a:xfrm>
          <a:prstGeom prst="rect">
            <a:avLst/>
          </a:prstGeom>
          <a:noFill/>
          <a:ln>
            <a:noFill/>
          </a:ln>
        </p:spPr>
        <p:txBody>
          <a:bodyPr vert="horz" wrap="square" lIns="91440" tIns="45720" rIns="91440" bIns="45720" anchor="t">
            <a:spAutoFit/>
          </a:bodyPr>
          <a:lstStyle/>
          <a:p>
            <a:pPr algn="ctr">
              <a:spcBef>
                <a:spcPts val="0"/>
              </a:spcBef>
              <a:spcAft>
                <a:spcPts val="0"/>
              </a:spcAft>
              <a:defRPr/>
            </a:pPr>
            <a:r>
              <a:rPr sz="5000" b="1" spc="0">
                <a:solidFill>
                  <a:srgbClr val="BFBFBF"/>
                </a:solidFill>
                <a:latin typeface="Arial"/>
                <a:ea typeface="굴림"/>
              </a:rPr>
              <a:t>PART 1</a:t>
            </a:r>
            <a:endParaRPr sz="1800" b="0" i="0" strike="noStrike">
              <a:solidFill>
                <a:srgbClr val="000000">
                  <a:alpha val="100000"/>
                </a:srgbClr>
              </a:solidFill>
              <a:latin typeface="Arial"/>
              <a:ea typeface="굴림"/>
            </a:endParaRPr>
          </a:p>
          <a:p>
            <a:pPr algn="l">
              <a:defRPr/>
            </a:pPr>
            <a:endParaRPr sz="1800" b="0" i="0" strike="noStrike">
              <a:solidFill>
                <a:srgbClr val="000000">
                  <a:alpha val="100000"/>
                </a:srgbClr>
              </a:solidFill>
              <a:latin typeface="Arial"/>
              <a:ea typeface="굴림"/>
            </a:endParaRPr>
          </a:p>
          <a:p>
            <a:pPr algn="l">
              <a:defRPr/>
            </a:pPr>
            <a:r>
              <a:rPr lang="ko-KR" altLang="en-US" sz="1800" b="0" i="0" strike="noStrike">
                <a:solidFill>
                  <a:srgbClr val="000000">
                    <a:alpha val="100000"/>
                  </a:srgbClr>
                </a:solidFill>
                <a:latin typeface="Arial"/>
                <a:ea typeface="굴림"/>
              </a:rPr>
              <a:t>                   </a:t>
            </a:r>
            <a:r>
              <a:rPr sz="1800" b="0" i="0" strike="noStrike">
                <a:solidFill>
                  <a:srgbClr val="000000">
                    <a:alpha val="100000"/>
                  </a:srgbClr>
                </a:solidFill>
                <a:latin typeface="Arial"/>
                <a:ea typeface="굴림"/>
              </a:rPr>
              <a:t>소개 · Introduction</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What is IIFF? </a:t>
            </a:r>
            <a:endParaRPr lang="en-US" altLang="en-US"/>
          </a:p>
        </p:txBody>
      </p:sp>
      <p:sp>
        <p:nvSpPr>
          <p:cNvPr id="3" name="내용 개체 틀 2"/>
          <p:cNvSpPr>
            <a:spLocks noGrp="1"/>
          </p:cNvSpPr>
          <p:nvPr>
            <p:ph idx="1"/>
          </p:nvPr>
        </p:nvSpPr>
        <p:spPr>
          <a:xfrm>
            <a:off x="609599" y="1417638"/>
            <a:ext cx="10972798" cy="4708525"/>
          </a:xfrm>
        </p:spPr>
        <p:txBody>
          <a:bodyPr>
            <a:normAutofit fontScale="62500" lnSpcReduction="20000"/>
          </a:bodyPr>
          <a:lstStyle/>
          <a:p>
            <a:pPr>
              <a:defRPr/>
            </a:pPr>
            <a:r>
              <a:rPr lang="en-US" altLang="en-US"/>
              <a:t>All coincidences, all possibilities, endless imagination</a:t>
            </a:r>
          </a:p>
          <a:p>
            <a:pPr>
              <a:defRPr/>
            </a:pPr>
            <a:endParaRPr lang="en-US" altLang="en-US"/>
          </a:p>
          <a:p>
            <a:pPr>
              <a:defRPr/>
            </a:pPr>
            <a:r>
              <a:rPr lang="ko-KR" altLang="en-US"/>
              <a:t>발음은 "이프(if)" — i 두 번, f 두 번 — 강조의 의미이며, 발음은 단순한 하나의 단어입니다.</a:t>
            </a:r>
          </a:p>
          <a:p>
            <a:pPr>
              <a:defRPr/>
            </a:pPr>
            <a:endParaRPr lang="ko-KR" altLang="en-US"/>
          </a:p>
          <a:p>
            <a:pPr>
              <a:defRPr/>
            </a:pPr>
            <a:r>
              <a:rPr lang="ko-KR" altLang="en-US"/>
              <a:t>if</a:t>
            </a:r>
          </a:p>
          <a:p>
            <a:pPr>
              <a:defRPr/>
            </a:pPr>
            <a:r>
              <a:rPr lang="ko-KR" altLang="en-US"/>
              <a:t>"만약에"</a:t>
            </a:r>
          </a:p>
          <a:p>
            <a:pPr>
              <a:defRPr/>
            </a:pPr>
            <a:endParaRPr lang="ko-KR" altLang="en-US"/>
          </a:p>
          <a:p>
            <a:pPr>
              <a:defRPr/>
            </a:pPr>
            <a:r>
              <a:rPr lang="ko-KR" altLang="en-US"/>
              <a:t>만약에 올해, 내 영화가 이곳에서 처음으로 주목받는다면?</a:t>
            </a:r>
          </a:p>
          <a:p>
            <a:pPr>
              <a:defRPr/>
            </a:pPr>
            <a:r>
              <a:rPr lang="ko-KR" altLang="en-US"/>
              <a:t>만약에 이 무대에서, 내 연기가 올해의 최우수 연기자로 불린다면?</a:t>
            </a:r>
          </a:p>
          <a:p>
            <a:pPr>
              <a:defRPr/>
            </a:pPr>
            <a:r>
              <a:rPr lang="ko-KR" altLang="en-US"/>
              <a:t>만약에 이 선택이, 내 인생의 방향을 바꾸는 순간이 된다면?</a:t>
            </a:r>
          </a:p>
          <a:p>
            <a:pPr>
              <a:defRPr/>
            </a:pPr>
            <a:endParaRPr lang="ko-KR" altLang="en-US"/>
          </a:p>
          <a:p>
            <a:pPr>
              <a:defRPr/>
            </a:pPr>
            <a:r>
              <a:rPr lang="en-US" altLang="ko-KR"/>
              <a:t>if</a:t>
            </a:r>
            <a:r>
              <a:rPr lang="ko-KR" altLang="en-US"/>
              <a:t>는 일어날수 있는 모든 우연 즉 모든 가능성입니다</a:t>
            </a:r>
            <a:r>
              <a:rPr lang="en-US" altLang="ko-KR"/>
              <a:t>.</a:t>
            </a:r>
            <a:r>
              <a:rPr lang="ko-KR" altLang="en-US"/>
              <a:t> 끝없는 상상입니다</a:t>
            </a:r>
          </a:p>
          <a:p>
            <a:pPr>
              <a:defRPr/>
            </a:pPr>
            <a:endParaRPr lang="ko-KR" altLang="en-US"/>
          </a:p>
          <a:p>
            <a:pPr>
              <a:defRPr/>
            </a:pPr>
            <a:r>
              <a:rPr lang="ko-KR" altLang="en-US"/>
              <a:t>IIFF는 바로 그 '만약에'를 시작하게 하는 영화제입니다.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What is IIFF?</a:t>
            </a:r>
          </a:p>
        </p:txBody>
      </p:sp>
      <p:sp>
        <p:nvSpPr>
          <p:cNvPr id="3" name="내용 개체 틀 2"/>
          <p:cNvSpPr>
            <a:spLocks noGrp="1"/>
          </p:cNvSpPr>
          <p:nvPr>
            <p:ph idx="1"/>
          </p:nvPr>
        </p:nvSpPr>
        <p:spPr/>
        <p:txBody>
          <a:bodyPr>
            <a:normAutofit fontScale="62500" lnSpcReduction="20000"/>
          </a:bodyPr>
          <a:lstStyle/>
          <a:p>
            <a:pPr>
              <a:defRPr/>
            </a:pPr>
            <a:r>
              <a:rPr lang="en-US" altLang="en-US"/>
              <a:t>Unlimited imagination and free creation</a:t>
            </a:r>
          </a:p>
          <a:p>
            <a:pPr>
              <a:defRPr/>
            </a:pPr>
            <a:r>
              <a:rPr lang="ko-KR" altLang="en-US"/>
              <a:t>IIFF는</a:t>
            </a:r>
          </a:p>
          <a:p>
            <a:pPr>
              <a:defRPr/>
            </a:pPr>
            <a:r>
              <a:rPr lang="ko-KR" altLang="en-US"/>
              <a:t>이미 성공한 사람들만을 위한 영화제가 아닙니다. 이미 이름이 알려진 작품만을 위한 무대도 아닙니다.</a:t>
            </a:r>
          </a:p>
          <a:p>
            <a:pPr>
              <a:defRPr/>
            </a:pPr>
            <a:endParaRPr lang="ko-KR" altLang="en-US"/>
          </a:p>
          <a:p>
            <a:pPr>
              <a:defRPr/>
            </a:pPr>
            <a:r>
              <a:rPr lang="ko-KR" altLang="en-US"/>
              <a:t>아직 기회가 오지 않은 이야기, 아직 발견되지 않은 재능, 아직 불리지 않은 이름들에게 "만약에"를 상상할 수 있는 용기를 주는 영화제입니다.</a:t>
            </a:r>
          </a:p>
          <a:p>
            <a:pPr>
              <a:defRPr/>
            </a:pPr>
            <a:endParaRPr lang="ko-KR" altLang="en-US"/>
          </a:p>
          <a:p>
            <a:pPr>
              <a:defRPr/>
            </a:pPr>
            <a:endParaRPr lang="ko-KR" altLang="en-US"/>
          </a:p>
          <a:p>
            <a:pPr>
              <a:defRPr/>
            </a:pPr>
            <a:r>
              <a:rPr lang="ko-KR" altLang="en-US"/>
              <a:t>What if this year changes everything?</a:t>
            </a:r>
          </a:p>
          <a:p>
            <a:pPr>
              <a:defRPr/>
            </a:pPr>
            <a:r>
              <a:rPr lang="ko-KR" altLang="en-US"/>
              <a:t>What if this is where your story begins?</a:t>
            </a:r>
          </a:p>
          <a:p>
            <a:pPr>
              <a:defRPr/>
            </a:pPr>
            <a:endParaRPr lang="ko-KR" altLang="en-US"/>
          </a:p>
          <a:p>
            <a:pPr>
              <a:defRPr/>
            </a:pPr>
            <a:endParaRPr lang="ko-KR" altLang="en-US"/>
          </a:p>
          <a:p>
            <a:pPr>
              <a:defRPr/>
            </a:pPr>
            <a:r>
              <a:rPr lang="ko-KR" altLang="en-US"/>
              <a:t>누구에게나 열려 있는 질문, 모든이에게 꿈과 희망을, 그리고 새로운 파도를 만드는 상상.</a:t>
            </a:r>
          </a:p>
          <a:p>
            <a:pPr>
              <a:defRPr/>
            </a:pPr>
            <a:r>
              <a:rPr lang="ko-KR" altLang="en-US"/>
              <a:t>if, 그 한 단어에서, IIFF는 시작됩니다.</a:t>
            </a:r>
          </a:p>
          <a:p>
            <a:pPr>
              <a:defRPr/>
            </a:pPr>
            <a:endParaRPr lang="ko-KR" altLang="en-US"/>
          </a:p>
          <a:p>
            <a:pPr>
              <a:defRPr/>
            </a:pPr>
            <a:endParaRPr lang="ko-KR" altLang="en-US"/>
          </a:p>
          <a:p>
            <a:pPr>
              <a:defRPr/>
            </a:pPr>
            <a:endParaRPr lang="ko-KR" altLang="en-US"/>
          </a:p>
          <a:p>
            <a:pPr>
              <a:defRPr/>
            </a:pPr>
            <a:endParaRPr lang="ko-KR" altLang="en-US"/>
          </a:p>
          <a:p>
            <a:pPr>
              <a:defRPr/>
            </a:pPr>
            <a:endParaRPr lang="ko-KR" altLang="en-US"/>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What is IIFF?</a:t>
            </a:r>
          </a:p>
        </p:txBody>
      </p:sp>
      <p:sp>
        <p:nvSpPr>
          <p:cNvPr id="4" name="TextBox 3"/>
          <p:cNvSpPr txBox="1"/>
          <p:nvPr/>
        </p:nvSpPr>
        <p:spPr>
          <a:xfrm>
            <a:off x="1359647" y="2354468"/>
            <a:ext cx="7212853" cy="363855"/>
          </a:xfrm>
          <a:prstGeom prst="rect">
            <a:avLst/>
          </a:prstGeom>
        </p:spPr>
        <p:txBody>
          <a:bodyPr wrap="square">
            <a:spAutoFit/>
          </a:bodyPr>
          <a:lstStyle/>
          <a:p>
            <a:pPr>
              <a:defRPr/>
            </a:pPr>
            <a:r>
              <a:rPr lang="en-US" altLang="en-US"/>
              <a:t>See, enjoy, create, evaluate each other, and spread it.</a:t>
            </a:r>
          </a:p>
        </p:txBody>
      </p:sp>
      <p:sp>
        <p:nvSpPr>
          <p:cNvPr id="5" name="TextBox 4"/>
          <p:cNvSpPr txBox="1"/>
          <p:nvPr/>
        </p:nvSpPr>
        <p:spPr>
          <a:xfrm>
            <a:off x="1391769" y="2905424"/>
            <a:ext cx="6606989" cy="359746"/>
          </a:xfrm>
          <a:prstGeom prst="rect">
            <a:avLst/>
          </a:prstGeom>
        </p:spPr>
        <p:txBody>
          <a:bodyPr wrap="square">
            <a:spAutoFit/>
          </a:bodyPr>
          <a:lstStyle/>
          <a:p>
            <a:pPr>
              <a:defRPr/>
            </a:pPr>
            <a:r>
              <a:rPr lang="en-US" altLang="en-US"/>
              <a:t>We meet across borders, dream together, and act together.</a:t>
            </a:r>
          </a:p>
        </p:txBody>
      </p:sp>
      <p:sp>
        <p:nvSpPr>
          <p:cNvPr id="6" name="TextBox 5"/>
          <p:cNvSpPr txBox="1"/>
          <p:nvPr/>
        </p:nvSpPr>
        <p:spPr>
          <a:xfrm>
            <a:off x="1520542" y="3569017"/>
            <a:ext cx="7348635" cy="363855"/>
          </a:xfrm>
          <a:prstGeom prst="rect">
            <a:avLst/>
          </a:prstGeom>
        </p:spPr>
        <p:txBody>
          <a:bodyPr wrap="square">
            <a:spAutoFit/>
          </a:bodyPr>
          <a:lstStyle/>
          <a:p>
            <a:pPr>
              <a:defRPr/>
            </a:pPr>
            <a:r>
              <a:rPr lang="en-US" altLang="en-US"/>
              <a:t>The one and only film festival in the universe that opens a new era</a:t>
            </a:r>
          </a:p>
        </p:txBody>
      </p:sp>
      <p:sp>
        <p:nvSpPr>
          <p:cNvPr id="7" name="TextBox 6"/>
          <p:cNvSpPr txBox="1"/>
          <p:nvPr/>
        </p:nvSpPr>
        <p:spPr>
          <a:xfrm>
            <a:off x="1404937" y="4194101"/>
            <a:ext cx="8183281" cy="366469"/>
          </a:xfrm>
          <a:prstGeom prst="rect">
            <a:avLst/>
          </a:prstGeom>
        </p:spPr>
        <p:txBody>
          <a:bodyPr wrap="square">
            <a:spAutoFit/>
          </a:bodyPr>
          <a:lstStyle/>
          <a:p>
            <a:pPr>
              <a:defRPr/>
            </a:pPr>
            <a:r>
              <a:rPr lang="en-US" altLang="en-US"/>
              <a:t>Incheon will now become the gateway to a new era, breaking down old boundaries.</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Festival Overview</a:t>
            </a:r>
          </a:p>
        </p:txBody>
      </p:sp>
      <p:sp>
        <p:nvSpPr>
          <p:cNvPr id="3" name="내용 개체 틀 2"/>
          <p:cNvSpPr>
            <a:spLocks noGrp="1"/>
          </p:cNvSpPr>
          <p:nvPr>
            <p:ph idx="1"/>
          </p:nvPr>
        </p:nvSpPr>
        <p:spPr/>
        <p:txBody>
          <a:bodyPr>
            <a:normAutofit fontScale="77500" lnSpcReduction="20000"/>
          </a:bodyPr>
          <a:lstStyle/>
          <a:p>
            <a:pPr>
              <a:defRPr/>
            </a:pPr>
            <a:endParaRPr lang="ko-KR" altLang="en-US"/>
          </a:p>
          <a:p>
            <a:pPr>
              <a:defRPr/>
            </a:pPr>
            <a:r>
              <a:rPr lang="en-US" altLang="ko-KR"/>
              <a:t>00. complex platform -music, technology, and K-culture.</a:t>
            </a:r>
          </a:p>
          <a:p>
            <a:pPr>
              <a:defRPr/>
            </a:pPr>
            <a:r>
              <a:rPr lang="ko-KR" altLang="en-US"/>
              <a:t>IIFF — NextWave는 단순히 영화를 상영하는 기존 영화제의 틀을 넘어, 영화 · 음악 · 테크놀로지 · K-컬처가 유기적으로 융합되는 미래형 글로벌 영화 플랫폼을 지향하는 국제 영화제입니다.</a:t>
            </a:r>
          </a:p>
          <a:p>
            <a:pPr>
              <a:defRPr/>
            </a:pPr>
            <a:endParaRPr lang="ko-KR" altLang="en-US"/>
          </a:p>
          <a:p>
            <a:pPr>
              <a:defRPr/>
            </a:pPr>
            <a:r>
              <a:rPr lang="ko-KR" altLang="en-US"/>
              <a:t>IIFF — NextWave는 전통적인 영화제의 가치 위에 새로운 콘텐츠 환경과 산업 구조를 결합하여, '다음 세대의 영화제 모델'을 인천에서 시작합니다.</a:t>
            </a:r>
          </a:p>
          <a:p>
            <a:pPr>
              <a:defRPr/>
            </a:pPr>
            <a:endParaRPr lang="ko-KR" altLang="en-US"/>
          </a:p>
          <a:p>
            <a:pPr>
              <a:defRPr/>
            </a:pPr>
            <a:r>
              <a:rPr lang="ko-KR" altLang="en-US"/>
              <a:t>IIFF — NextWave 또한, '칸'이나 '오스카'처럼 이름 그 자체로 권위를 갖는 "iiff" 브랜드로 성장합니다.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Festival Overview  </a:t>
            </a:r>
          </a:p>
        </p:txBody>
      </p:sp>
      <p:sp>
        <p:nvSpPr>
          <p:cNvPr id="3" name="내용 개체 틀 2"/>
          <p:cNvSpPr>
            <a:spLocks noGrp="1"/>
          </p:cNvSpPr>
          <p:nvPr>
            <p:ph idx="1"/>
          </p:nvPr>
        </p:nvSpPr>
        <p:spPr/>
        <p:txBody>
          <a:bodyPr>
            <a:normAutofit fontScale="85000" lnSpcReduction="20000"/>
          </a:bodyPr>
          <a:lstStyle/>
          <a:p>
            <a:pPr marL="0" indent="0">
              <a:buNone/>
              <a:defRPr/>
            </a:pPr>
            <a:r>
              <a:rPr lang="ko-KR" altLang="en-US" sz="3200"/>
              <a:t>0</a:t>
            </a:r>
            <a:r>
              <a:rPr lang="en-US" altLang="ko-KR" sz="3200"/>
              <a:t>1.</a:t>
            </a:r>
            <a:r>
              <a:rPr kumimoji="0" lang="ko-KR" altLang="en-US" sz="3200" b="0" i="0" u="none" strike="noStrike" kern="1200" cap="none" spc="0" normalizeH="0" baseline="0">
                <a:solidFill>
                  <a:srgbClr val="000000"/>
                </a:solidFill>
                <a:latin typeface="Calibri"/>
                <a:ea typeface="맑은 고딕"/>
                <a:cs typeface="Times New Roman"/>
              </a:rPr>
              <a:t> </a:t>
            </a:r>
            <a:r>
              <a:rPr lang="ko-KR" altLang="en-US"/>
              <a:t>INCHEON × HOLLYWOOD</a:t>
            </a:r>
          </a:p>
          <a:p>
            <a:pPr>
              <a:defRPr/>
            </a:pPr>
            <a:r>
              <a:rPr lang="ko-KR" altLang="en-US"/>
              <a:t> Method Fest와 함께하는 글로벌 영화 플랫폼</a:t>
            </a:r>
          </a:p>
          <a:p>
            <a:pPr>
              <a:defRPr/>
            </a:pPr>
            <a:endParaRPr lang="ko-KR" altLang="en-US"/>
          </a:p>
          <a:p>
            <a:pPr>
              <a:defRPr/>
            </a:pPr>
            <a:r>
              <a:rPr lang="ko-KR" altLang="en-US"/>
              <a:t>헐리우드에서 실제로 독립영화 생태계를 개척해온 Method Fest Independent Film Festival과의 직접적인 협업을 통해 아시아와 헐리우드를 연결하는 국제 영화 플랫폼을 구축합니다.</a:t>
            </a:r>
          </a:p>
          <a:p>
            <a:pPr>
              <a:defRPr/>
            </a:pPr>
            <a:endParaRPr lang="ko-KR" altLang="en-US"/>
          </a:p>
          <a:p>
            <a:pPr>
              <a:defRPr/>
            </a:pPr>
            <a:r>
              <a:rPr lang="ko-KR" altLang="en-US"/>
              <a:t>Justin Kim과 Don Franken이 명예위원장 및 글로벌 파트너로 참여합니다. 헐리우드 독립영화 네트워크의 실질적 연결, 글로벌 영화인의 인천 방문 및 교류, 공동 섹션 운영을 통한 국제 프로그램 구성 등 실제 작동하는 글로벌 연계 구조를 의미합니다.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Festival Overview</a:t>
            </a:r>
          </a:p>
        </p:txBody>
      </p:sp>
      <p:sp>
        <p:nvSpPr>
          <p:cNvPr id="3" name="내용 개체 틀 2"/>
          <p:cNvSpPr>
            <a:spLocks noGrp="1"/>
          </p:cNvSpPr>
          <p:nvPr>
            <p:ph idx="1"/>
          </p:nvPr>
        </p:nvSpPr>
        <p:spPr/>
        <p:txBody>
          <a:bodyPr>
            <a:normAutofit fontScale="92500" lnSpcReduction="20000"/>
          </a:bodyPr>
          <a:lstStyle/>
          <a:p>
            <a:pPr marL="0" indent="0">
              <a:buNone/>
              <a:defRPr/>
            </a:pPr>
            <a:r>
              <a:rPr lang="ko-KR" altLang="en-US"/>
              <a:t>02</a:t>
            </a:r>
            <a:r>
              <a:rPr lang="en-US" altLang="ko-KR"/>
              <a:t>.</a:t>
            </a:r>
            <a:r>
              <a:rPr lang="ko-KR" altLang="en-US"/>
              <a:t> DUAL STRUCTURE</a:t>
            </a:r>
          </a:p>
          <a:p>
            <a:pPr marL="0" indent="0">
              <a:buNone/>
              <a:defRPr/>
            </a:pPr>
            <a:r>
              <a:rPr lang="ko-KR" altLang="en-US"/>
              <a:t>상업영화와 독립영화가 공존하는 이중 구조</a:t>
            </a:r>
          </a:p>
          <a:p>
            <a:pPr marL="0" indent="0">
              <a:buNone/>
              <a:defRPr/>
            </a:pPr>
            <a:endParaRPr lang="ko-KR" altLang="en-US"/>
          </a:p>
          <a:p>
            <a:pPr marL="0" indent="0">
              <a:buNone/>
              <a:defRPr/>
            </a:pPr>
            <a:r>
              <a:rPr lang="ko-KR" altLang="en-US"/>
              <a:t>IIFF는 하나의 장르나 규모에 국한되지 않습니다. 상업영화와 독립영화가 분리되지 않고 공존하는 이중 구조를 통해 영화 산업의 현재와 미래를 동시에 조망합니다.</a:t>
            </a:r>
          </a:p>
          <a:p>
            <a:pPr marL="0" indent="0">
              <a:buNone/>
              <a:defRPr/>
            </a:pPr>
            <a:endParaRPr lang="ko-KR" altLang="en-US"/>
          </a:p>
          <a:p>
            <a:pPr marL="0" indent="0">
              <a:buNone/>
              <a:defRPr/>
            </a:pPr>
            <a:r>
              <a:rPr lang="en-US" altLang="ko-KR"/>
              <a:t>-</a:t>
            </a:r>
            <a:r>
              <a:rPr lang="ko-KR" altLang="en-US"/>
              <a:t> 글로벌 상업영화를 통해 대중성과 확장성 확보</a:t>
            </a:r>
          </a:p>
          <a:p>
            <a:pPr marL="0" indent="0">
              <a:buNone/>
              <a:defRPr/>
            </a:pPr>
            <a:r>
              <a:rPr lang="en-US" altLang="ko-KR"/>
              <a:t>-</a:t>
            </a:r>
            <a:r>
              <a:rPr lang="ko-KR" altLang="en-US"/>
              <a:t> Method Fest 연계를 통한 독립·예술영화의 정체성 강화</a:t>
            </a:r>
          </a:p>
          <a:p>
            <a:pPr marL="0" indent="0">
              <a:buNone/>
              <a:defRPr/>
            </a:pPr>
            <a:r>
              <a:rPr lang="en-US" altLang="ko-KR"/>
              <a:t>-</a:t>
            </a:r>
            <a:r>
              <a:rPr lang="ko-KR" altLang="en-US"/>
              <a:t> 산업성과 예술성이 균형을 이루는 건강한 영화 생태계 조성</a:t>
            </a:r>
          </a:p>
          <a:p>
            <a:pPr marL="0" indent="0">
              <a:buNone/>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Festival Overview</a:t>
            </a:r>
          </a:p>
        </p:txBody>
      </p:sp>
      <p:sp>
        <p:nvSpPr>
          <p:cNvPr id="3" name="내용 개체 틀 2"/>
          <p:cNvSpPr>
            <a:spLocks noGrp="1"/>
          </p:cNvSpPr>
          <p:nvPr>
            <p:ph idx="1"/>
          </p:nvPr>
        </p:nvSpPr>
        <p:spPr/>
        <p:txBody>
          <a:bodyPr>
            <a:normAutofit fontScale="92500" lnSpcReduction="20000"/>
          </a:bodyPr>
          <a:lstStyle/>
          <a:p>
            <a:pPr marL="342900" indent="-342900" algn="l" defTabSz="914400" rtl="0" eaLnBrk="1" latinLnBrk="1" hangingPunct="1">
              <a:lnSpc>
                <a:spcPct val="100000"/>
              </a:lnSpc>
              <a:spcBef>
                <a:spcPct val="20000"/>
              </a:spcBef>
              <a:spcAft>
                <a:spcPts val="0"/>
              </a:spcAft>
              <a:buFont typeface="Arial"/>
              <a:buChar char="•"/>
              <a:defRPr/>
            </a:pPr>
            <a:r>
              <a:rPr kumimoji="0" lang="ko-KR" altLang="en-US" sz="3200" b="0" i="0" u="none" strike="noStrike" kern="1200" cap="none" spc="0" normalizeH="0" baseline="0">
                <a:solidFill>
                  <a:srgbClr val="000000"/>
                </a:solidFill>
                <a:latin typeface="Calibri"/>
                <a:ea typeface="맑은 고딕"/>
                <a:cs typeface="맑은 고딕"/>
              </a:rPr>
              <a:t>03</a:t>
            </a:r>
            <a:r>
              <a:rPr kumimoji="0" lang="en-US" altLang="ko-KR" sz="3200" b="0" i="0" u="none" strike="noStrike" kern="1200" cap="none" spc="0" normalizeH="0" baseline="0">
                <a:solidFill>
                  <a:srgbClr val="000000"/>
                </a:solidFill>
                <a:latin typeface="Calibri"/>
                <a:ea typeface="맑은 고딕"/>
                <a:cs typeface="Times New Roman"/>
              </a:rPr>
              <a:t>.</a:t>
            </a:r>
            <a:r>
              <a:rPr kumimoji="0" lang="ko-KR" altLang="en-US" sz="3200" b="0" i="0" u="none" strike="noStrike" kern="1200" cap="none" spc="0" normalizeH="0" baseline="0">
                <a:solidFill>
                  <a:srgbClr val="000000"/>
                </a:solidFill>
                <a:latin typeface="Calibri"/>
                <a:ea typeface="맑은 고딕"/>
                <a:cs typeface="Times New Roman"/>
              </a:rPr>
              <a:t> </a:t>
            </a:r>
            <a:r>
              <a:rPr lang="ko-KR" altLang="en-US"/>
              <a:t>PARTICIPATORY FESTIVAL</a:t>
            </a:r>
          </a:p>
          <a:p>
            <a:pPr>
              <a:defRPr/>
            </a:pPr>
            <a:r>
              <a:rPr lang="ko-KR" altLang="en-US"/>
              <a:t> 관객이 참여하고, 창작자가 성장하는 체험형 영화제</a:t>
            </a:r>
          </a:p>
          <a:p>
            <a:pPr marL="0" indent="0">
              <a:buNone/>
              <a:defRPr/>
            </a:pPr>
            <a:endParaRPr lang="ko-KR" altLang="en-US"/>
          </a:p>
          <a:p>
            <a:pPr marL="0" indent="0">
              <a:buNone/>
              <a:defRPr/>
            </a:pPr>
            <a:r>
              <a:rPr lang="ko-KR" altLang="en-US"/>
              <a:t> </a:t>
            </a:r>
            <a:r>
              <a:rPr lang="en-US" altLang="ko-KR"/>
              <a:t>-</a:t>
            </a:r>
            <a:r>
              <a:rPr lang="ko-KR" altLang="en-US"/>
              <a:t> IIFF — NextWave는 '보는 영화제'가 아닌 "참여하는 영화제"를 지향합니다.</a:t>
            </a:r>
          </a:p>
          <a:p>
            <a:pPr>
              <a:defRPr/>
            </a:pPr>
            <a:endParaRPr lang="ko-KR" altLang="en-US"/>
          </a:p>
          <a:p>
            <a:pPr marL="0" indent="0">
              <a:buNone/>
              <a:defRPr/>
            </a:pPr>
            <a:r>
              <a:rPr lang="en-US" altLang="ko-KR"/>
              <a:t>-</a:t>
            </a:r>
            <a:r>
              <a:rPr lang="ko-KR" altLang="en-US"/>
              <a:t> 관객 참여형 프로그램 및 투표, 체험 콘텐츠 운영</a:t>
            </a:r>
          </a:p>
          <a:p>
            <a:pPr marL="0" indent="0">
              <a:buNone/>
              <a:defRPr/>
            </a:pPr>
            <a:r>
              <a:rPr lang="en-US" altLang="ko-KR"/>
              <a:t>-</a:t>
            </a:r>
            <a:r>
              <a:rPr lang="ko-KR" altLang="en-US"/>
              <a:t> 신진 감독, 배우, 창작자를 위한 멘토링·피칭·워크숍</a:t>
            </a:r>
          </a:p>
          <a:p>
            <a:pPr marL="0" indent="0">
              <a:buNone/>
              <a:defRPr/>
            </a:pPr>
            <a:r>
              <a:rPr lang="en-US" altLang="ko-KR"/>
              <a:t>-</a:t>
            </a:r>
            <a:r>
              <a:rPr lang="ko-KR" altLang="en-US"/>
              <a:t> 단편, 숏폼, 모바일 콘텐츠 등 새로운 영상 포맷을 포용하는 개방형 경쟁 구조</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Festival Overview</a:t>
            </a:r>
          </a:p>
        </p:txBody>
      </p:sp>
      <p:sp>
        <p:nvSpPr>
          <p:cNvPr id="3" name="내용 개체 틀 2"/>
          <p:cNvSpPr>
            <a:spLocks noGrp="1"/>
          </p:cNvSpPr>
          <p:nvPr>
            <p:ph idx="1"/>
          </p:nvPr>
        </p:nvSpPr>
        <p:spPr/>
        <p:txBody>
          <a:bodyPr>
            <a:normAutofit fontScale="85000" lnSpcReduction="20000"/>
          </a:bodyPr>
          <a:lstStyle/>
          <a:p>
            <a:pPr marL="0" indent="0" algn="l" defTabSz="914400" rtl="0" eaLnBrk="1" latinLnBrk="1" hangingPunct="1">
              <a:lnSpc>
                <a:spcPct val="100000"/>
              </a:lnSpc>
              <a:spcBef>
                <a:spcPct val="20000"/>
              </a:spcBef>
              <a:spcAft>
                <a:spcPts val="0"/>
              </a:spcAft>
              <a:buFont typeface="Arial"/>
              <a:buNone/>
              <a:defRPr/>
            </a:pPr>
            <a:r>
              <a:rPr kumimoji="0" lang="en-US" altLang="ko-KR" sz="3200" b="0" i="0" u="none" strike="noStrike" kern="1200" cap="none" spc="0" normalizeH="0" baseline="0">
                <a:solidFill>
                  <a:srgbClr val="000000"/>
                </a:solidFill>
                <a:latin typeface="Calibri"/>
                <a:ea typeface="맑은 고딕"/>
                <a:cs typeface="Times New Roman"/>
              </a:rPr>
              <a:t>04.</a:t>
            </a:r>
            <a:r>
              <a:rPr kumimoji="0" lang="ko-KR" altLang="en-US" sz="3200" b="0" i="0" u="none" strike="noStrike" kern="1200" cap="none" spc="0" normalizeH="0" baseline="0">
                <a:solidFill>
                  <a:srgbClr val="000000"/>
                </a:solidFill>
                <a:latin typeface="Calibri"/>
                <a:ea typeface="맑은 고딕"/>
                <a:cs typeface="Times New Roman"/>
              </a:rPr>
              <a:t> </a:t>
            </a:r>
            <a:r>
              <a:rPr kumimoji="0" lang="en-US" altLang="ko-KR" sz="3200" b="0" i="0" u="none" strike="noStrike" kern="1200" cap="none" spc="0" normalizeH="0" baseline="0">
                <a:solidFill>
                  <a:srgbClr val="000000"/>
                </a:solidFill>
                <a:latin typeface="Calibri"/>
                <a:ea typeface="맑은 고딕"/>
                <a:cs typeface="Times New Roman"/>
              </a:rPr>
              <a:t>BEYOND THE FESTIVAL</a:t>
            </a:r>
          </a:p>
          <a:p>
            <a:pPr marL="0" indent="0" algn="l" defTabSz="914400" rtl="0" eaLnBrk="1" latinLnBrk="1" hangingPunct="1">
              <a:lnSpc>
                <a:spcPct val="100000"/>
              </a:lnSpc>
              <a:spcBef>
                <a:spcPct val="20000"/>
              </a:spcBef>
              <a:spcAft>
                <a:spcPts val="0"/>
              </a:spcAft>
              <a:buFont typeface="Arial"/>
              <a:buNone/>
              <a:defRPr/>
            </a:pPr>
            <a:r>
              <a:rPr lang="en-US" altLang="ko-KR"/>
              <a:t>영화제 이후에도 지속되는 연중 콘텐츠 생태계</a:t>
            </a:r>
          </a:p>
          <a:p>
            <a:pPr marL="0" indent="0" algn="l" defTabSz="914400" rtl="0" eaLnBrk="1" latinLnBrk="1" hangingPunct="1">
              <a:lnSpc>
                <a:spcPct val="100000"/>
              </a:lnSpc>
              <a:spcBef>
                <a:spcPct val="20000"/>
              </a:spcBef>
              <a:spcAft>
                <a:spcPts val="0"/>
              </a:spcAft>
              <a:buFont typeface="Arial"/>
              <a:buNone/>
              <a:defRPr/>
            </a:pPr>
            <a:endParaRPr lang="en-US" altLang="ko-KR"/>
          </a:p>
          <a:p>
            <a:pPr marL="0" indent="0">
              <a:buNone/>
              <a:defRPr/>
            </a:pPr>
            <a:r>
              <a:rPr lang="en-US" altLang="ko-KR"/>
              <a:t>-</a:t>
            </a:r>
            <a:r>
              <a:rPr lang="ko-KR" altLang="en-US"/>
              <a:t> </a:t>
            </a:r>
            <a:r>
              <a:rPr lang="en-US" altLang="ko-KR"/>
              <a:t>IIFF — NextWave는 1년에 한 번 열리고 끝나는 이벤트가 아닙니다.</a:t>
            </a:r>
          </a:p>
          <a:p>
            <a:pPr>
              <a:defRPr/>
            </a:pPr>
            <a:endParaRPr lang="en-US" altLang="ko-KR"/>
          </a:p>
          <a:p>
            <a:pPr>
              <a:defRPr/>
            </a:pPr>
            <a:r>
              <a:rPr lang="en-US" altLang="ko-KR"/>
              <a:t>영화제 이후에도 이어지는 상영, 교육, 제작, 교류 프로그램</a:t>
            </a:r>
          </a:p>
          <a:p>
            <a:pPr>
              <a:defRPr/>
            </a:pPr>
            <a:r>
              <a:rPr lang="en-US" altLang="ko-KR"/>
              <a:t>인천을 거점으로 한 영화·콘텐츠 관련 인프라 활성화</a:t>
            </a:r>
          </a:p>
          <a:p>
            <a:pPr>
              <a:defRPr/>
            </a:pPr>
            <a:r>
              <a:rPr lang="en-US" altLang="ko-KR"/>
              <a:t>영화, 영상, 공연, 테크 기반 콘텐츠가 연중 지속적으로 생산·유통되는 구조 구축</a:t>
            </a:r>
          </a:p>
          <a:p>
            <a:pPr>
              <a:defRPr/>
            </a:pPr>
            <a:r>
              <a:rPr lang="en-US" altLang="ko-KR"/>
              <a:t>IIFF는 영화제를 시작으로 인천에 새로운 콘텐츠 생태계를 만들어가는 프로젝트입니다.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77500" lnSpcReduction="20000"/>
          </a:bodyPr>
          <a:lstStyle/>
          <a:p>
            <a:pPr>
              <a:defRPr/>
            </a:pPr>
            <a:r>
              <a:rPr lang="en-US" altLang="en-US"/>
              <a:t>Together Platform</a:t>
            </a:r>
          </a:p>
          <a:p>
            <a:pPr>
              <a:defRPr/>
            </a:pPr>
            <a:endParaRPr lang="en-US" altLang="en-US"/>
          </a:p>
          <a:p>
            <a:pPr>
              <a:defRPr/>
            </a:pPr>
            <a:r>
              <a:rPr lang="ko-KR" altLang="en-US"/>
              <a:t>"노출"을 넘어, 함께 만드는 브랜드 플랫폼</a:t>
            </a:r>
          </a:p>
          <a:p>
            <a:pPr>
              <a:defRPr/>
            </a:pPr>
            <a:r>
              <a:rPr lang="ko-KR" altLang="en-US"/>
              <a:t>IIFF는 로고를 붙이는 후원이 아니라, 브랜드가 프로그램과 경험 속에 '주인공'으로 결합되는 구조입니다.</a:t>
            </a:r>
          </a:p>
          <a:p>
            <a:pPr>
              <a:defRPr/>
            </a:pPr>
            <a:endParaRPr lang="ko-KR" altLang="en-US"/>
          </a:p>
          <a:p>
            <a:pPr>
              <a:defRPr/>
            </a:pPr>
            <a:r>
              <a:rPr lang="ko-KR" altLang="en-US"/>
              <a:t>실행 계획: 스폰서별 브랜드 존/체험형 부스/콜라보 프로그램을 영화제 공식 동선에 배치. '오프닝 나이트/갈라/마스터클래스/숏폼 컴피티션' 등 핵심 콘텐츠에 네이밍 권한 제공.</a:t>
            </a:r>
          </a:p>
          <a:p>
            <a:pPr>
              <a:defRPr/>
            </a:pPr>
            <a:endParaRPr lang="ko-KR" altLang="en-US"/>
          </a:p>
          <a:p>
            <a:pPr>
              <a:defRPr/>
            </a:pPr>
            <a:r>
              <a:rPr lang="ko-KR" altLang="en-US"/>
              <a:t>측정 지표: 현장 동선 유입, 부스 체류 시간, 프로그램 참여자 수, 콘텐츠 내 브랜드 노출 횟수, 조회수/공유수/UGC 생성량</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77500" lnSpcReduction="20000"/>
          </a:bodyPr>
          <a:lstStyle/>
          <a:p>
            <a:pPr>
              <a:defRPr/>
            </a:pPr>
            <a:r>
              <a:rPr lang="en-US" altLang="en-US"/>
              <a:t>The center of K </a:t>
            </a:r>
            <a:r>
              <a:rPr lang="en-US" altLang="ko-KR"/>
              <a:t>-</a:t>
            </a:r>
            <a:r>
              <a:rPr lang="ko-KR" altLang="en-US"/>
              <a:t> </a:t>
            </a:r>
            <a:r>
              <a:rPr lang="en-US" altLang="en-US"/>
              <a:t>content</a:t>
            </a:r>
          </a:p>
          <a:p>
            <a:pPr>
              <a:defRPr/>
            </a:pPr>
            <a:endParaRPr lang="en-US" altLang="en-US"/>
          </a:p>
          <a:p>
            <a:pPr>
              <a:defRPr/>
            </a:pPr>
            <a:r>
              <a:rPr lang="ko-KR" altLang="en-US"/>
              <a:t>K-콘텐츠 중심 시장에서의 글로벌 노출 가치</a:t>
            </a:r>
          </a:p>
          <a:p>
            <a:pPr>
              <a:defRPr/>
            </a:pPr>
            <a:r>
              <a:rPr lang="ko-KR" altLang="en-US"/>
              <a:t>전 세계 영화인과 브랜드가 주목하는 K-콘텐츠 중심지에서 작품과 브랜드를 소개할 기회입니다.</a:t>
            </a:r>
          </a:p>
          <a:p>
            <a:pPr>
              <a:defRPr/>
            </a:pPr>
            <a:endParaRPr lang="ko-KR" altLang="en-US"/>
          </a:p>
          <a:p>
            <a:pPr>
              <a:defRPr/>
            </a:pPr>
            <a:r>
              <a:rPr lang="ko-KR" altLang="en-US"/>
              <a:t>실행 계획: 초청작/수상작 중심으로 K-콘텐츠 연계 프로그램 운영. 해외 게스트·출품작의 한국 내 노출을 극대화하는 프레스·SNS 패키지 제공. "K-컬처 Experience Zone" 운영.</a:t>
            </a:r>
          </a:p>
          <a:p>
            <a:pPr>
              <a:defRPr/>
            </a:pPr>
            <a:endParaRPr lang="ko-KR" altLang="en-US"/>
          </a:p>
          <a:p>
            <a:pPr>
              <a:defRPr/>
            </a:pPr>
            <a:r>
              <a:rPr lang="ko-KR" altLang="en-US"/>
              <a:t>측정 지표: 출품작/감독 인터뷰 수, 언론 노출, 관객 반응, 해외 참가자 재방문 의향</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92500" lnSpcReduction="20000"/>
          </a:bodyPr>
          <a:lstStyle/>
          <a:p>
            <a:pPr>
              <a:defRPr/>
            </a:pPr>
            <a:r>
              <a:rPr lang="en-US" altLang="en-US"/>
              <a:t>Amazing Inspire Resort</a:t>
            </a:r>
          </a:p>
          <a:p>
            <a:pPr>
              <a:defRPr/>
            </a:pPr>
            <a:endParaRPr lang="en-US" altLang="en-US"/>
          </a:p>
          <a:p>
            <a:pPr>
              <a:defRPr/>
            </a:pPr>
            <a:r>
              <a:rPr lang="ko-KR" altLang="en-US"/>
              <a:t>인스파이어 리조트 × 프리미엄 운영 인프라</a:t>
            </a:r>
          </a:p>
          <a:p>
            <a:pPr>
              <a:defRPr/>
            </a:pPr>
            <a:r>
              <a:rPr lang="ko-KR" altLang="en-US"/>
              <a:t>아레나·MICE·야외공간(디스커버리 파크)과 인천 대표 상영관을 결합한 대규모/고품격 운영 인프라.</a:t>
            </a:r>
          </a:p>
          <a:p>
            <a:pPr>
              <a:defRPr/>
            </a:pPr>
            <a:endParaRPr lang="ko-KR" altLang="en-US"/>
          </a:p>
          <a:p>
            <a:pPr>
              <a:defRPr/>
            </a:pPr>
            <a:r>
              <a:rPr lang="ko-KR" altLang="en-US"/>
              <a:t>Arena: 개·폐막식, 갈라, 라이브 이벤트</a:t>
            </a:r>
          </a:p>
          <a:p>
            <a:pPr>
              <a:defRPr/>
            </a:pPr>
            <a:r>
              <a:rPr lang="ko-KR" altLang="en-US"/>
              <a:t>MICE: 마스터클래스, 피칭/포럼, 네트워킹, 프레스룸</a:t>
            </a:r>
          </a:p>
          <a:p>
            <a:pPr>
              <a:defRPr/>
            </a:pPr>
            <a:r>
              <a:rPr lang="ko-KR" altLang="en-US"/>
              <a:t>Discovery Park: 캠프형 페스티벌, 야외 상영, 공연/체험</a:t>
            </a:r>
          </a:p>
          <a:p>
            <a:pPr>
              <a:defRPr/>
            </a:pPr>
            <a:r>
              <a:rPr lang="ko-KR" altLang="en-US"/>
              <a:t>City Screens: 인천 내 대표 상영관 연계 정통 상영 섹션</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77500" lnSpcReduction="20000"/>
          </a:bodyPr>
          <a:lstStyle/>
          <a:p>
            <a:pPr>
              <a:defRPr/>
            </a:pPr>
            <a:r>
              <a:rPr lang="en-US" altLang="en-US"/>
              <a:t>Attractive K-pop, K-food, and K-beauty</a:t>
            </a:r>
          </a:p>
          <a:p>
            <a:pPr>
              <a:defRPr/>
            </a:pPr>
            <a:endParaRPr lang="ko-KR" altLang="en-US"/>
          </a:p>
          <a:p>
            <a:pPr>
              <a:defRPr/>
            </a:pPr>
            <a:r>
              <a:rPr lang="ko-KR" altLang="en-US"/>
              <a:t>K-팝·K-푸드·K-뷰티·숏폼의 젊고 글로벌한 관객 유입 구조</a:t>
            </a:r>
          </a:p>
          <a:p>
            <a:pPr>
              <a:defRPr/>
            </a:pPr>
            <a:r>
              <a:rPr lang="ko-KR" altLang="en-US"/>
              <a:t>영화만으로 관객을 모으는 시대가 아니라, K-컬처 경험이 관객을 끌고, 영화가 중심으로 남게 만드는 구조입니다.</a:t>
            </a:r>
          </a:p>
          <a:p>
            <a:pPr>
              <a:defRPr/>
            </a:pPr>
            <a:endParaRPr lang="ko-KR" altLang="en-US"/>
          </a:p>
          <a:p>
            <a:pPr>
              <a:defRPr/>
            </a:pPr>
            <a:r>
              <a:rPr lang="ko-KR" altLang="en-US"/>
              <a:t>실행 계획: K-푸드/뷰티/뮤직 존을 영화제 동선의 핵심 경험으로 설계. 영화 상영과 경험 공간을 패키지화. 해외 관객을 겨냥한 체류형 프로그램 운영.</a:t>
            </a:r>
          </a:p>
          <a:p>
            <a:pPr>
              <a:defRPr/>
            </a:pPr>
            <a:endParaRPr lang="ko-KR" altLang="en-US"/>
          </a:p>
          <a:p>
            <a:pPr>
              <a:defRPr/>
            </a:pPr>
            <a:r>
              <a:rPr lang="ko-KR" altLang="en-US"/>
              <a:t>측정 지표: 관객 연령/국적 분포, 체험존 참여율, SNS UGC 발생량, 해시태그 도달</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77500" lnSpcReduction="20000"/>
          </a:bodyPr>
          <a:lstStyle/>
          <a:p>
            <a:pPr>
              <a:defRPr/>
            </a:pPr>
            <a:r>
              <a:rPr lang="en-US" altLang="en-US"/>
              <a:t>Mobile Short Film Competition + Camping Festival Viral Engine</a:t>
            </a:r>
          </a:p>
          <a:p>
            <a:pPr>
              <a:defRPr/>
            </a:pPr>
            <a:endParaRPr lang="ko-KR" altLang="en-US"/>
          </a:p>
          <a:p>
            <a:pPr>
              <a:defRPr/>
            </a:pPr>
            <a:r>
              <a:rPr lang="ko-KR" altLang="en-US"/>
              <a:t>모바일 숏필름 컴피티션 + 캠핑형 페스티벌 바이럴 엔진</a:t>
            </a:r>
          </a:p>
          <a:p>
            <a:pPr>
              <a:defRPr/>
            </a:pPr>
            <a:r>
              <a:rPr lang="ko-KR" altLang="en-US"/>
              <a:t>IIFF-NextWave는 "끝나는 행사"가 아니라, 콘텐츠가 계속 생산되는 구조로 설계됩니다.</a:t>
            </a:r>
          </a:p>
          <a:p>
            <a:pPr>
              <a:defRPr/>
            </a:pPr>
            <a:endParaRPr lang="ko-KR" altLang="en-US"/>
          </a:p>
          <a:p>
            <a:pPr>
              <a:defRPr/>
            </a:pPr>
            <a:r>
              <a:rPr lang="ko-KR" altLang="en-US"/>
              <a:t>실행 계획: "Mobile Short Film Competition"을 대표 프로그램으로 확립. 촬영→편집→상영→시상까지 연결. 캠핑형 페스티벌에서 SNS 콘텐츠 패키지로 운영.</a:t>
            </a:r>
          </a:p>
          <a:p>
            <a:pPr>
              <a:defRPr/>
            </a:pPr>
            <a:endParaRPr lang="ko-KR" altLang="en-US"/>
          </a:p>
          <a:p>
            <a:pPr>
              <a:defRPr/>
            </a:pPr>
            <a:r>
              <a:rPr lang="ko-KR" altLang="en-US"/>
              <a:t>측정 지표: 출품작 수, 조회수/공유수, 참가자 재참여율, 숏폼 콘텐츠 총 생산량</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fontScale="85000" lnSpcReduction="20000"/>
          </a:bodyPr>
          <a:lstStyle/>
          <a:p>
            <a:pPr>
              <a:defRPr/>
            </a:pPr>
            <a:r>
              <a:rPr lang="en-US" altLang="en-US"/>
              <a:t>365 days a year, offline and online</a:t>
            </a:r>
          </a:p>
          <a:p>
            <a:pPr>
              <a:defRPr/>
            </a:pPr>
            <a:endParaRPr lang="ko-KR" altLang="en-US"/>
          </a:p>
          <a:p>
            <a:pPr>
              <a:defRPr/>
            </a:pPr>
            <a:r>
              <a:rPr lang="ko-KR" altLang="en-US"/>
              <a:t>"콘텐츠가 계속 재생산되는 영화제"</a:t>
            </a:r>
          </a:p>
          <a:p>
            <a:pPr>
              <a:defRPr/>
            </a:pPr>
            <a:r>
              <a:rPr lang="ko-KR" altLang="en-US"/>
              <a:t>영화제 이후에도 숏폼·공연·비하인드·인터뷰가 지속 배포되어 브랜드와 작품이 장기 노출됩니다.</a:t>
            </a:r>
          </a:p>
          <a:p>
            <a:pPr>
              <a:defRPr/>
            </a:pPr>
            <a:endParaRPr lang="ko-KR" altLang="en-US"/>
          </a:p>
          <a:p>
            <a:pPr>
              <a:defRPr/>
            </a:pPr>
            <a:r>
              <a:rPr lang="ko-KR" altLang="en-US"/>
              <a:t>실행 계획: 공식 채널(YouTube/IG/TikTok) 운영을 아카이브/미디어 자산으로 설계. 수상작·초청작 중심 "IIFF Selection" 온라인 큐레이션 연동.</a:t>
            </a:r>
          </a:p>
          <a:p>
            <a:pPr>
              <a:defRPr/>
            </a:pPr>
            <a:endParaRPr lang="ko-KR" altLang="en-US"/>
          </a:p>
          <a:p>
            <a:pPr>
              <a:defRPr/>
            </a:pPr>
            <a:r>
              <a:rPr lang="ko-KR" altLang="en-US"/>
              <a:t>측정 지표: 종료 후 30/60/90일 콘텐츠 조회수, 구독자 증가, 검색량, PR 가치 환산</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lnSpcReduction="10000"/>
          </a:bodyPr>
          <a:lstStyle/>
          <a:p>
            <a:pPr>
              <a:defRPr/>
            </a:pPr>
            <a:r>
              <a:rPr lang="en-US" altLang="ko-KR"/>
              <a:t>networking - </a:t>
            </a:r>
            <a:r>
              <a:rPr lang="ko-KR" altLang="en-US"/>
              <a:t>IIFF Partner Circle</a:t>
            </a:r>
          </a:p>
          <a:p>
            <a:pPr>
              <a:defRPr/>
            </a:pPr>
            <a:endParaRPr lang="ko-KR" altLang="en-US"/>
          </a:p>
          <a:p>
            <a:pPr>
              <a:defRPr/>
            </a:pPr>
            <a:r>
              <a:rPr lang="ko-KR" altLang="en-US"/>
              <a:t>브랜드 가치 · 글로벌 네트워크 · 장기 비즈니스 자산</a:t>
            </a:r>
          </a:p>
          <a:p>
            <a:pPr>
              <a:defRPr/>
            </a:pPr>
            <a:r>
              <a:rPr lang="ko-KR" altLang="en-US"/>
              <a:t>IIFF는 영화제가 끝나도 사라지지 않는 네트워크 기반 자산을 남깁니다.</a:t>
            </a:r>
          </a:p>
          <a:p>
            <a:pPr>
              <a:defRPr/>
            </a:pPr>
            <a:endParaRPr lang="ko-KR" altLang="en-US"/>
          </a:p>
          <a:p>
            <a:pPr>
              <a:defRPr/>
            </a:pPr>
            <a:r>
              <a:rPr lang="ko-KR" altLang="en-US"/>
              <a:t>실행 계획: 한국 파트너의 해외 진출 연결을 위한 네트워킹 라운드/포럼 운영. "IIFF Partner Circle"로 장기 파트너십 체계화.</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Why Participate?</a:t>
            </a:r>
          </a:p>
        </p:txBody>
      </p:sp>
      <p:sp>
        <p:nvSpPr>
          <p:cNvPr id="3" name="내용 개체 틀 2"/>
          <p:cNvSpPr>
            <a:spLocks noGrp="1"/>
          </p:cNvSpPr>
          <p:nvPr>
            <p:ph idx="1"/>
          </p:nvPr>
        </p:nvSpPr>
        <p:spPr/>
        <p:txBody>
          <a:bodyPr>
            <a:normAutofit lnSpcReduction="10000"/>
          </a:bodyPr>
          <a:lstStyle/>
          <a:p>
            <a:pPr>
              <a:defRPr/>
            </a:pPr>
            <a:r>
              <a:rPr lang="en-US" altLang="en-US"/>
              <a:t>long-term partnership</a:t>
            </a:r>
            <a:r>
              <a:rPr lang="en-US" altLang="ko-KR"/>
              <a:t> &amp; </a:t>
            </a:r>
            <a:r>
              <a:rPr lang="ko-KR" altLang="en-US"/>
              <a:t>IIFF Lab / IIFF Campus</a:t>
            </a:r>
            <a:endParaRPr lang="en-US" altLang="ko-KR"/>
          </a:p>
          <a:p>
            <a:pPr>
              <a:defRPr/>
            </a:pPr>
            <a:endParaRPr lang="ko-KR" altLang="en-US"/>
          </a:p>
          <a:p>
            <a:pPr>
              <a:defRPr/>
            </a:pPr>
            <a:r>
              <a:rPr lang="ko-KR" altLang="en-US"/>
              <a:t>1회성 이벤트가 아닌 장기 파트너십 구조</a:t>
            </a:r>
          </a:p>
          <a:p>
            <a:pPr>
              <a:defRPr/>
            </a:pPr>
            <a:r>
              <a:rPr lang="ko-KR" altLang="en-US"/>
              <a:t>인천의 영화·콘텐츠 생태계와 함께 성장하는 "연중 운영형" 구조로 설계합니다.</a:t>
            </a:r>
          </a:p>
          <a:p>
            <a:pPr>
              <a:defRPr/>
            </a:pPr>
            <a:endParaRPr lang="ko-KR" altLang="en-US"/>
          </a:p>
          <a:p>
            <a:pPr>
              <a:defRPr/>
            </a:pPr>
            <a:r>
              <a:rPr lang="ko-KR" altLang="en-US"/>
              <a:t>실행 계획: 영화제 기간 외에도 교육/워크숍/제작 지원/쇼케이스 등 연중 프로그램 구성. "IIFF Lab / IIFF Campus" 개념 단계적 도입.</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Why Incheon?</a:t>
            </a:r>
          </a:p>
        </p:txBody>
      </p:sp>
      <p:sp>
        <p:nvSpPr>
          <p:cNvPr id="3" name="내용 개체 틀 2"/>
          <p:cNvSpPr>
            <a:spLocks noGrp="1"/>
          </p:cNvSpPr>
          <p:nvPr>
            <p:ph idx="1"/>
          </p:nvPr>
        </p:nvSpPr>
        <p:spPr/>
        <p:txBody>
          <a:bodyPr>
            <a:normAutofit fontScale="70000" lnSpcReduction="20000"/>
          </a:bodyPr>
          <a:lstStyle/>
          <a:p>
            <a:pPr>
              <a:defRPr/>
            </a:pPr>
            <a:r>
              <a:rPr lang="ko-KR" altLang="en-US"/>
              <a:t>인천은 단순한 '공항 도시'가 아니라 세계가 가장 먼저 만나는 대한민국의 얼굴입니다.</a:t>
            </a:r>
          </a:p>
          <a:p>
            <a:pPr>
              <a:defRPr/>
            </a:pPr>
            <a:endParaRPr lang="ko-KR" altLang="en-US"/>
          </a:p>
          <a:p>
            <a:pPr>
              <a:defRPr/>
            </a:pPr>
            <a:r>
              <a:rPr lang="ko-KR" altLang="en-US"/>
              <a:t>'거쳐가는 도시'에서 "전 세계 영화인의 문화 종착지(Destination)"로</a:t>
            </a:r>
          </a:p>
          <a:p>
            <a:pPr>
              <a:defRPr/>
            </a:pPr>
            <a:r>
              <a:rPr lang="ko-KR" altLang="en-US"/>
              <a:t>공항 → 서울로 이동하는 동선이 아닌 "인천에 머무르고, 인천을 경험하게 만드는 구조". 개·폐막식, 갈라, 마스터클래스, 밋업, 캠핑형 페스티벌을 인천 전역에 배치하여 체류형 문화 목적지로 전환.</a:t>
            </a:r>
          </a:p>
          <a:p>
            <a:pPr>
              <a:defRPr/>
            </a:pPr>
            <a:r>
              <a:rPr lang="ko-KR" altLang="en-US"/>
              <a:t>👉 인천은 더 이상 '통과 지점'이 아닌 찾아오는 이유가 있는 도시가 됩니다.</a:t>
            </a:r>
          </a:p>
          <a:p>
            <a:pPr>
              <a:defRPr/>
            </a:pPr>
            <a:endParaRPr lang="ko-KR" altLang="en-US"/>
          </a:p>
          <a:p>
            <a:pPr>
              <a:defRPr/>
            </a:pPr>
            <a:r>
              <a:rPr lang="ko-KR" altLang="en-US"/>
              <a:t>헐리우드와 직접 연결되는 글로벌 자본 · 인재 · 관광객 유입 구조</a:t>
            </a:r>
          </a:p>
          <a:p>
            <a:pPr>
              <a:defRPr/>
            </a:pPr>
            <a:r>
              <a:rPr lang="ko-KR" altLang="en-US"/>
              <a:t>헐리우드 영화인, 제작자, 투자자들의 실질적 참여. 글로벌 영화제 네트워크를 통한 해외 상영, 공동 제작, 투자 연결. 영화제 기간 동안 유입되는 해외 방문객 → 숙박·관광·소비로 이어지는 직접적 경제 효과.</a:t>
            </a:r>
          </a:p>
          <a:p>
            <a:pPr>
              <a:defRPr/>
            </a:pPr>
            <a:r>
              <a:rPr lang="ko-KR" altLang="en-US"/>
              <a:t>👉 단기 이벤트가 아닌 지속적인 글로벌 자본 흐름의 입구를 인천에 만듭니다.</a:t>
            </a:r>
          </a:p>
          <a:p>
            <a:pPr>
              <a:defRPr/>
            </a:pPr>
            <a:endParaRPr lang="ko-KR" altLang="en-US"/>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Why Incheon?</a:t>
            </a:r>
          </a:p>
        </p:txBody>
      </p:sp>
      <p:sp>
        <p:nvSpPr>
          <p:cNvPr id="3" name="내용 개체 틀 2"/>
          <p:cNvSpPr>
            <a:spLocks noGrp="1"/>
          </p:cNvSpPr>
          <p:nvPr>
            <p:ph idx="1"/>
          </p:nvPr>
        </p:nvSpPr>
        <p:spPr/>
        <p:txBody>
          <a:bodyPr>
            <a:normAutofit fontScale="77500" lnSpcReduction="20000"/>
          </a:bodyPr>
          <a:lstStyle/>
          <a:p>
            <a:pPr>
              <a:defRPr/>
            </a:pPr>
            <a:r>
              <a:rPr lang="ko-KR" altLang="en-US"/>
              <a:t>인천시의 문화 행정 역량을 세계에 '증명'하는 상징 자산</a:t>
            </a:r>
          </a:p>
          <a:p>
            <a:pPr>
              <a:defRPr/>
            </a:pPr>
            <a:r>
              <a:rPr lang="ko-KR" altLang="en-US"/>
              <a:t>영화계 거장 및 헐리우드 인사의 공식 참여. 국제 영화제 운영 경험을 통해 인천시의 문화·행정·국제 협력 역량을 글로벌 무대에서 입증. 향후 국제 문화 행사, 엑스포, 글로벌 이벤트 유치에 있어 강력한 레퍼런스 자산 확보.</a:t>
            </a:r>
          </a:p>
          <a:p>
            <a:pPr>
              <a:defRPr/>
            </a:pPr>
            <a:r>
              <a:rPr lang="ko-KR" altLang="en-US"/>
              <a:t>👉 IIFF는 인천시가 '문화 중심 도시'로 도약했음을 보여주는 가장 강력한 증거가 됩니다.</a:t>
            </a:r>
          </a:p>
          <a:p>
            <a:pPr>
              <a:defRPr/>
            </a:pPr>
            <a:endParaRPr lang="ko-KR" altLang="en-US"/>
          </a:p>
          <a:p>
            <a:pPr>
              <a:defRPr/>
            </a:pPr>
            <a:r>
              <a:rPr lang="ko-KR" altLang="en-US"/>
              <a:t>365일 작동하는 영화·콘텐츠 허브</a:t>
            </a:r>
          </a:p>
          <a:p>
            <a:pPr>
              <a:defRPr/>
            </a:pPr>
            <a:r>
              <a:rPr lang="ko-KR" altLang="en-US"/>
              <a:t>영화제 이후에도 지속되는 교육 프로그램 / 창작자 레지던시 / 영화·콘텐츠 제작 워크숍 / 국제 공동 프로젝트. 연중 운영되는 '영화가 만들어지고 소비되는 도시 시스템' 구축.</a:t>
            </a:r>
          </a:p>
          <a:p>
            <a:pPr>
              <a:defRPr/>
            </a:pPr>
            <a:r>
              <a:rPr lang="ko-KR" altLang="en-US"/>
              <a:t>👉 인천은 행사 도시가 아니라 산업 도시로 진화합니다.</a:t>
            </a:r>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Why Incheon?</a:t>
            </a:r>
          </a:p>
        </p:txBody>
      </p:sp>
      <p:sp>
        <p:nvSpPr>
          <p:cNvPr id="3" name="내용 개체 틀 2"/>
          <p:cNvSpPr>
            <a:spLocks noGrp="1"/>
          </p:cNvSpPr>
          <p:nvPr>
            <p:ph idx="1"/>
          </p:nvPr>
        </p:nvSpPr>
        <p:spPr/>
        <p:txBody>
          <a:bodyPr>
            <a:normAutofit fontScale="92500" lnSpcReduction="10000"/>
          </a:bodyPr>
          <a:lstStyle/>
          <a:p>
            <a:pPr>
              <a:defRPr/>
            </a:pPr>
            <a:r>
              <a:rPr lang="ko-KR" altLang="en-US"/>
              <a:t>유휴 부지와 공간을 미래 콘텐츠 자산으로 전환</a:t>
            </a:r>
          </a:p>
          <a:p>
            <a:pPr>
              <a:defRPr/>
            </a:pPr>
            <a:r>
              <a:rPr lang="ko-KR" altLang="en-US"/>
              <a:t>유휴 부지·건물 → 영화 세트장, 교육 공간, 창작자 캠퍼스. 글로벌 인플루언서 및 크리에이터 유입. 한류 콘텐츠 제작의 실질 거점화.</a:t>
            </a:r>
          </a:p>
          <a:p>
            <a:pPr>
              <a:defRPr/>
            </a:pPr>
            <a:r>
              <a:rPr lang="ko-KR" altLang="en-US"/>
              <a:t>👉 버려진 공간이 도시의 미래 먹거리가 됩니다.</a:t>
            </a:r>
          </a:p>
          <a:p>
            <a:pPr>
              <a:defRPr/>
            </a:pPr>
            <a:endParaRPr lang="ko-KR" altLang="en-US"/>
          </a:p>
          <a:p>
            <a:pPr>
              <a:defRPr/>
            </a:pPr>
            <a:r>
              <a:rPr lang="ko-KR" altLang="en-US"/>
              <a:t>결론: 영화제를 시작으로, 인천은 '아시아의 새로운 콘텐츠 중심 도시'로 브랜딩됩니다. IIFF는 단순한 문화 행사가 아니라, 인천의 정체성과 미래를 재정의하는 도시 프로젝트입니다.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5. Vision &amp; Philosophy</a:t>
            </a:r>
          </a:p>
        </p:txBody>
      </p:sp>
      <p:sp>
        <p:nvSpPr>
          <p:cNvPr id="3" name="내용 개체 틀 2"/>
          <p:cNvSpPr>
            <a:spLocks noGrp="1"/>
          </p:cNvSpPr>
          <p:nvPr>
            <p:ph idx="1"/>
          </p:nvPr>
        </p:nvSpPr>
        <p:spPr/>
        <p:txBody>
          <a:bodyPr>
            <a:normAutofit fontScale="92500" lnSpcReduction="10000"/>
          </a:bodyPr>
          <a:lstStyle/>
          <a:p>
            <a:pPr>
              <a:defRPr/>
            </a:pPr>
            <a:r>
              <a:rPr lang="ko-KR" altLang="en-US"/>
              <a:t>인천 국제 넥스트웨이브 영화제는</a:t>
            </a:r>
          </a:p>
          <a:p>
            <a:pPr>
              <a:defRPr/>
            </a:pPr>
            <a:r>
              <a:rPr lang="ko-KR" altLang="en-US"/>
              <a:t>하나의 영화제가 아니라, 하나의 도시 전략입니다.</a:t>
            </a:r>
          </a:p>
          <a:p>
            <a:pPr>
              <a:defRPr/>
            </a:pPr>
            <a:endParaRPr lang="ko-KR" altLang="en-US"/>
          </a:p>
          <a:p>
            <a:pPr>
              <a:defRPr/>
            </a:pPr>
            <a:r>
              <a:rPr lang="ko-KR" altLang="en-US"/>
              <a:t>IIFF-NextWave는</a:t>
            </a:r>
          </a:p>
          <a:p>
            <a:pPr>
              <a:defRPr/>
            </a:pPr>
            <a:r>
              <a:rPr lang="ko-KR" altLang="en-US"/>
              <a:t>영화를 상영하는 이벤트가 아니라,</a:t>
            </a:r>
          </a:p>
          <a:p>
            <a:pPr>
              <a:defRPr/>
            </a:pPr>
            <a:r>
              <a:rPr lang="ko-KR" altLang="en-US"/>
              <a:t>도시의 정체성을 다시 설계하는 프로젝트입니다.</a:t>
            </a:r>
          </a:p>
          <a:p>
            <a:pPr>
              <a:defRPr/>
            </a:pPr>
            <a:endParaRPr lang="ko-KR" altLang="en-US"/>
          </a:p>
          <a:p>
            <a:pPr>
              <a:defRPr/>
            </a:pPr>
            <a:r>
              <a:rPr lang="ko-KR" altLang="en-US"/>
              <a:t>"영화가 머무는 도시 / 창작자가 성장하는 도시 / 세계가 다시 찾는 인천"</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5. Vision &amp; Philosophy</a:t>
            </a:r>
          </a:p>
        </p:txBody>
      </p:sp>
      <p:sp>
        <p:nvSpPr>
          <p:cNvPr id="3" name="내용 개체 틀 2"/>
          <p:cNvSpPr>
            <a:spLocks noGrp="1"/>
          </p:cNvSpPr>
          <p:nvPr>
            <p:ph idx="1"/>
          </p:nvPr>
        </p:nvSpPr>
        <p:spPr/>
        <p:txBody>
          <a:bodyPr>
            <a:normAutofit fontScale="70000" lnSpcReduction="20000"/>
          </a:bodyPr>
          <a:lstStyle/>
          <a:p>
            <a:pPr>
              <a:defRPr/>
            </a:pPr>
            <a:r>
              <a:rPr lang="ko-KR" altLang="en-US"/>
              <a:t>우리가 살고 있는 시대는 불과 몇 년 전과도 완전히 다른 세상이 되었습니다. 사람들이 모이던 몰과 백화점들은 문을 닫고 도시는 비어 있는 공간을 안게 되었습니다. 창작은 더 이상 소수의 재능이나 고가의 장비를 가진 사람만의 영역이 아닙니다.</a:t>
            </a:r>
          </a:p>
          <a:p>
            <a:pPr>
              <a:defRPr/>
            </a:pPr>
            <a:endParaRPr lang="ko-KR" altLang="en-US"/>
          </a:p>
          <a:p>
            <a:pPr>
              <a:defRPr/>
            </a:pPr>
            <a:r>
              <a:rPr lang="ko-KR" altLang="en-US"/>
              <a:t>AI와 자동화는 아이디어가 없어도, 경험이 없어도 콘텐츠를 만들고 유통할 수 있는 시대를 열었습니다. 앞으로는 무엇이 진짜이고, 무엇이 가짜인지조차 구분하기 어려운 세상이 펼쳐질 것입니다.</a:t>
            </a:r>
          </a:p>
          <a:p>
            <a:pPr>
              <a:defRPr/>
            </a:pPr>
            <a:endParaRPr lang="ko-KR" altLang="en-US"/>
          </a:p>
          <a:p>
            <a:pPr>
              <a:defRPr/>
            </a:pPr>
            <a:r>
              <a:rPr lang="ko-KR" altLang="en-US"/>
              <a:t>이 변화는 막을 수 없습니다. 그리고 거스를 필요도 없습니다.</a:t>
            </a:r>
          </a:p>
          <a:p>
            <a:pPr>
              <a:defRPr/>
            </a:pPr>
            <a:endParaRPr lang="ko-KR" altLang="en-US"/>
          </a:p>
          <a:p>
            <a:pPr>
              <a:defRPr/>
            </a:pPr>
            <a:r>
              <a:rPr lang="ko-KR" altLang="en-US"/>
              <a:t>그럼에도 불구하고, 사람은 지난날을 기억합니다. 기술이 아무리 발전해도, 사람의 마음속에는 여전히 추억과 낭만이 남아 있습니다. 손으로 만든 것, 사람을 직접 만나 눈을 마주하는 경험, 같은 공간에서 숨을 쉬며 웃고, 울고, 감동하는 순간.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5. Vision &amp; Philosophy</a:t>
            </a:r>
          </a:p>
        </p:txBody>
      </p:sp>
      <p:sp>
        <p:nvSpPr>
          <p:cNvPr id="3" name="내용 개체 틀 2"/>
          <p:cNvSpPr>
            <a:spLocks noGrp="1"/>
          </p:cNvSpPr>
          <p:nvPr>
            <p:ph idx="1"/>
          </p:nvPr>
        </p:nvSpPr>
        <p:spPr/>
        <p:txBody>
          <a:bodyPr>
            <a:normAutofit fontScale="47500" lnSpcReduction="20000"/>
          </a:bodyPr>
          <a:lstStyle/>
          <a:p>
            <a:pPr>
              <a:defRPr/>
            </a:pPr>
            <a:r>
              <a:rPr lang="ko-KR" altLang="en-US"/>
              <a:t>IIFF는, 이 두 세대 사이에 단절이 아닌 '연결'을 만들고자 합니다. IIFF는, 사람의 마음과 손으로 만들어진 것들이 다시 중심이 되는 공간을 꿈꿉니다.</a:t>
            </a:r>
          </a:p>
          <a:p>
            <a:pPr>
              <a:defRPr/>
            </a:pPr>
            <a:endParaRPr lang="ko-KR" altLang="en-US"/>
          </a:p>
          <a:p>
            <a:pPr>
              <a:defRPr/>
            </a:pPr>
            <a:r>
              <a:rPr lang="ko-KR" altLang="en-US"/>
              <a:t>동시에, AI와 새로운 테크놀로지와의 공존도 숨기지 않습니다. IIFF는, 과거를 붙잡는 영화제가 아니라, 과거의 낭만과 미래의 기술이 만나는 '브릿지'가 되고자 합니다.</a:t>
            </a:r>
          </a:p>
          <a:p>
            <a:pPr>
              <a:defRPr/>
            </a:pPr>
            <a:endParaRPr lang="ko-KR" altLang="en-US"/>
          </a:p>
          <a:p>
            <a:pPr>
              <a:defRPr/>
            </a:pPr>
            <a:r>
              <a:rPr lang="ko-KR" altLang="en-US"/>
              <a:t>이전의 어떤 영화제와도 닮지 않은, 솔직하고, 따뜻하고, 감동이 있는 영화제를 지향합니다.</a:t>
            </a:r>
          </a:p>
          <a:p>
            <a:pPr>
              <a:defRPr/>
            </a:pPr>
            <a:endParaRPr lang="ko-KR" altLang="en-US"/>
          </a:p>
          <a:p>
            <a:pPr>
              <a:defRPr/>
            </a:pPr>
            <a:r>
              <a:rPr lang="ko-KR" altLang="en-US"/>
              <a:t>기술을 부정하지 않되, 사람을 지우지 않고</a:t>
            </a:r>
          </a:p>
          <a:p>
            <a:pPr>
              <a:defRPr/>
            </a:pPr>
            <a:r>
              <a:rPr lang="ko-KR" altLang="en-US"/>
              <a:t>미래를 말하되, 기억과 감정을 잃지 않으며</a:t>
            </a:r>
          </a:p>
          <a:p>
            <a:pPr>
              <a:defRPr/>
            </a:pPr>
            <a:r>
              <a:rPr lang="ko-KR" altLang="en-US"/>
              <a:t>경쟁보다 가능성을, 결과보다 '다음 장면'을 남기는 영화제</a:t>
            </a:r>
          </a:p>
          <a:p>
            <a:pPr>
              <a:defRPr/>
            </a:pPr>
            <a:r>
              <a:rPr lang="ko-KR" altLang="en-US"/>
              <a:t>IIFF는 계속해서 'If'를 선물하는 영화제가 되고자 합니다.</a:t>
            </a:r>
          </a:p>
          <a:p>
            <a:pPr>
              <a:defRPr/>
            </a:pPr>
            <a:endParaRPr lang="ko-KR" altLang="en-US"/>
          </a:p>
          <a:p>
            <a:pPr>
              <a:defRPr/>
            </a:pPr>
            <a:r>
              <a:rPr lang="ko-KR" altLang="en-US"/>
              <a:t>"만약에, 이곳에서 내 이야기가 시작된다면? 만약에, 이 만남이 나의 다음 인생을 바꾼다면?"</a:t>
            </a:r>
          </a:p>
          <a:p>
            <a:pPr>
              <a:defRPr/>
            </a:pPr>
            <a:endParaRPr lang="ko-KR" altLang="en-US"/>
          </a:p>
          <a:p>
            <a:pPr>
              <a:defRPr/>
            </a:pPr>
            <a:r>
              <a:rPr lang="ko-KR" altLang="en-US"/>
              <a:t>그 질문이 사람들의 마음속에 오래 남는 영화제.</a:t>
            </a:r>
          </a:p>
          <a:p>
            <a:pPr>
              <a:defRPr/>
            </a:pPr>
            <a:r>
              <a:rPr lang="ko-KR" altLang="en-US"/>
              <a:t>인천 국제 넥스트웨이브 영화제는 영화를 통해 도시를 바꾸고, 사람을 다시 연결하며, 미래를 따뜻하게 건너가는 방법을 제안합니다.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0" y="2727960"/>
            <a:ext cx="6096000" cy="1403985"/>
          </a:xfrm>
          <a:prstGeom prst="rect">
            <a:avLst/>
          </a:prstGeom>
        </p:spPr>
        <p:txBody>
          <a:bodyPr wrap="square">
            <a:spAutoFit/>
          </a:bodyPr>
          <a:lstStyle/>
          <a:p>
            <a:pPr algn="ctr">
              <a:spcBef>
                <a:spcPts val="0"/>
              </a:spcBef>
              <a:spcAft>
                <a:spcPts val="0"/>
              </a:spcAft>
              <a:defRPr/>
            </a:pPr>
            <a:r>
              <a:rPr sz="5000" b="1" spc="0">
                <a:solidFill>
                  <a:srgbClr val="BFBFBF"/>
                </a:solidFill>
                <a:latin typeface="Arial"/>
                <a:ea typeface="굴림"/>
              </a:rPr>
              <a:t>PART </a:t>
            </a:r>
            <a:r>
              <a:rPr lang="en-US" altLang="ko-KR" sz="5000" b="1" spc="0">
                <a:solidFill>
                  <a:srgbClr val="BFBFBF"/>
                </a:solidFill>
                <a:latin typeface="Arial"/>
                <a:ea typeface="굴림"/>
              </a:rPr>
              <a:t>2</a:t>
            </a:r>
          </a:p>
          <a:p>
            <a:pPr algn="l">
              <a:defRPr/>
            </a:pPr>
            <a:endParaRPr sz="1800" b="0" i="0" strike="noStrike">
              <a:solidFill>
                <a:srgbClr val="000000">
                  <a:alpha val="100000"/>
                </a:srgbClr>
              </a:solidFill>
              <a:latin typeface="Arial"/>
              <a:ea typeface="굴림"/>
            </a:endParaRPr>
          </a:p>
          <a:p>
            <a:pPr algn="l">
              <a:defRPr/>
            </a:pPr>
            <a:r>
              <a:rPr lang="ko-KR" altLang="en-US" sz="1800" b="0" i="0" strike="noStrike">
                <a:solidFill>
                  <a:srgbClr val="000000">
                    <a:alpha val="100000"/>
                  </a:srgbClr>
                </a:solidFill>
                <a:latin typeface="Arial"/>
                <a:ea typeface="굴림"/>
              </a:rPr>
              <a:t>                  프로그램</a:t>
            </a:r>
            <a:r>
              <a:rPr sz="1800" b="0" i="0" strike="noStrike">
                <a:solidFill>
                  <a:srgbClr val="000000">
                    <a:alpha val="100000"/>
                  </a:srgbClr>
                </a:solidFill>
                <a:latin typeface="Arial"/>
                <a:ea typeface="굴림"/>
              </a:rPr>
              <a:t> · </a:t>
            </a:r>
            <a:r>
              <a:rPr lang="en-US" altLang="ko-KR" sz="1800" b="0" i="0" strike="noStrike">
                <a:solidFill>
                  <a:srgbClr val="000000">
                    <a:alpha val="100000"/>
                  </a:srgbClr>
                </a:solidFill>
                <a:latin typeface="Arial"/>
                <a:ea typeface="굴림"/>
              </a:rPr>
              <a:t>programs</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Programs</a:t>
            </a:r>
          </a:p>
        </p:txBody>
      </p:sp>
      <p:sp>
        <p:nvSpPr>
          <p:cNvPr id="3" name="내용 개체 틀 2"/>
          <p:cNvSpPr>
            <a:spLocks noGrp="1"/>
          </p:cNvSpPr>
          <p:nvPr>
            <p:ph idx="1"/>
          </p:nvPr>
        </p:nvSpPr>
        <p:spPr/>
        <p:txBody>
          <a:bodyPr>
            <a:normAutofit fontScale="70000" lnSpcReduction="20000"/>
          </a:bodyPr>
          <a:lstStyle/>
          <a:p>
            <a:pPr>
              <a:defRPr/>
            </a:pPr>
            <a:r>
              <a:rPr lang="ko-KR" altLang="en-US"/>
              <a:t>COMMERCIAL &amp; GLOBAL SHOWCASE</a:t>
            </a:r>
          </a:p>
          <a:p>
            <a:pPr>
              <a:defRPr/>
            </a:pPr>
            <a:r>
              <a:rPr lang="ko-KR" altLang="en-US"/>
              <a:t>대중성과 국제 화제성을 동시에 확보하는 메인 스트림 섹션</a:t>
            </a:r>
          </a:p>
          <a:p>
            <a:pPr>
              <a:defRPr/>
            </a:pPr>
            <a:endParaRPr lang="ko-KR" altLang="en-US"/>
          </a:p>
          <a:p>
            <a:pPr>
              <a:defRPr/>
            </a:pPr>
            <a:endParaRPr lang="ko-KR" altLang="en-US"/>
          </a:p>
          <a:p>
            <a:pPr>
              <a:defRPr/>
            </a:pPr>
            <a:r>
              <a:rPr lang="ko-KR" altLang="en-US"/>
              <a:t>헐리우드 및 글로벌 상업영화, 국제 초청작 중심의 프리미엄 상영 섹션. 개·폐막작, 갈라 스크리닝, 레드카펫 이벤트를 통해 대중·미디어·스폰서 주목도를 극대화.</a:t>
            </a:r>
          </a:p>
          <a:p>
            <a:pPr>
              <a:defRPr/>
            </a:pPr>
            <a:endParaRPr lang="ko-KR" altLang="en-US"/>
          </a:p>
          <a:p>
            <a:pPr>
              <a:defRPr/>
            </a:pPr>
            <a:r>
              <a:rPr lang="ko-KR" altLang="en-US"/>
              <a:t>상업성과 작품성을 겸비한 작품 위주로 구성하여 "영화제가 어렵다"는 인식을 낮추고 관객 유입의 중심축 역할 수행. 주요 작품은 감독·배우 내한, 관객과의 대화(GV), 프레스 인터뷰 연계.</a:t>
            </a:r>
          </a:p>
          <a:p>
            <a:pPr>
              <a:defRPr/>
            </a:pPr>
            <a:endParaRPr lang="ko-KR" altLang="en-US"/>
          </a:p>
          <a:p>
            <a:pPr>
              <a:defRPr/>
            </a:pPr>
            <a:r>
              <a:rPr lang="ko-KR" altLang="en-US"/>
              <a:t>👉 IIFF의 외부 인지도·흥행·미디어 파급력을 책임지는 얼굴 섹션</a:t>
            </a:r>
          </a:p>
          <a:p>
            <a:pPr>
              <a:defRPr/>
            </a:pPr>
            <a:endParaRPr lang="ko-KR" altLang="en-US"/>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Programs</a:t>
            </a:r>
          </a:p>
        </p:txBody>
      </p:sp>
      <p:sp>
        <p:nvSpPr>
          <p:cNvPr id="3" name="내용 개체 틀 2"/>
          <p:cNvSpPr>
            <a:spLocks noGrp="1"/>
          </p:cNvSpPr>
          <p:nvPr>
            <p:ph idx="1"/>
          </p:nvPr>
        </p:nvSpPr>
        <p:spPr/>
        <p:txBody>
          <a:bodyPr>
            <a:normAutofit fontScale="85000" lnSpcReduction="20000"/>
          </a:bodyPr>
          <a:lstStyle/>
          <a:p>
            <a:pPr>
              <a:defRPr/>
            </a:pPr>
            <a:r>
              <a:rPr lang="ko-KR" altLang="en-US"/>
              <a:t>METHOD FEST INDEPENDENT FILM SECTION</a:t>
            </a:r>
          </a:p>
          <a:p>
            <a:pPr>
              <a:defRPr/>
            </a:pPr>
            <a:r>
              <a:rPr lang="ko-KR" altLang="en-US"/>
              <a:t>창작자 중심 글로벌 독립영화제 섹션</a:t>
            </a:r>
          </a:p>
          <a:p>
            <a:pPr>
              <a:defRPr/>
            </a:pPr>
            <a:r>
              <a:rPr lang="ko-KR" altLang="en-US"/>
              <a:t>미국 Method Fest Independent Film Festival과의 공식 연계. 연기(Method Acting), 연출, 스토리 중심의 '창작 방법론(Method)'에 집중한 큐레이션. 상업성보다 창작 철학·과정·연기 밀도를 중시하는 작품 선정.</a:t>
            </a:r>
          </a:p>
          <a:p>
            <a:pPr>
              <a:defRPr/>
            </a:pPr>
            <a:endParaRPr lang="ko-KR" altLang="en-US"/>
          </a:p>
          <a:p>
            <a:pPr>
              <a:defRPr/>
            </a:pPr>
            <a:r>
              <a:rPr lang="ko-KR" altLang="en-US"/>
              <a:t>감독·배우·프로듀서를 위한: Method 기반 마스터 클래스, 연기·연출 워크숍, 국제 공동 제작 토크 세션 운영.</a:t>
            </a:r>
          </a:p>
          <a:p>
            <a:pPr>
              <a:defRPr/>
            </a:pPr>
            <a:endParaRPr lang="ko-KR" altLang="en-US"/>
          </a:p>
          <a:p>
            <a:pPr>
              <a:defRPr/>
            </a:pPr>
            <a:r>
              <a:rPr lang="ko-KR" altLang="en-US"/>
              <a:t>👉 단순 상영이 아닌 "영화인이 성장하는 영화제"라는 철학을 가장 잘 보여주는 섹션</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Programs</a:t>
            </a:r>
          </a:p>
        </p:txBody>
      </p:sp>
      <p:sp>
        <p:nvSpPr>
          <p:cNvPr id="3" name="내용 개체 틀 2"/>
          <p:cNvSpPr>
            <a:spLocks noGrp="1"/>
          </p:cNvSpPr>
          <p:nvPr>
            <p:ph idx="1"/>
          </p:nvPr>
        </p:nvSpPr>
        <p:spPr/>
        <p:txBody>
          <a:bodyPr>
            <a:normAutofit fontScale="85000" lnSpcReduction="20000"/>
          </a:bodyPr>
          <a:lstStyle/>
          <a:p>
            <a:pPr>
              <a:defRPr/>
            </a:pPr>
            <a:r>
              <a:rPr lang="ko-KR" altLang="en-US"/>
              <a:t>NEXTWAVE MOBILE FILM COMPETITION</a:t>
            </a:r>
          </a:p>
          <a:p>
            <a:pPr>
              <a:defRPr/>
            </a:pPr>
            <a:r>
              <a:rPr lang="ko-KR" altLang="en-US"/>
              <a:t>모바일로 제작하는 '새로운 영화 언어' 대표 미래 섹션</a:t>
            </a:r>
          </a:p>
          <a:p>
            <a:pPr>
              <a:defRPr/>
            </a:pPr>
            <a:r>
              <a:rPr lang="ko-KR" altLang="en-US"/>
              <a:t>갤럭시·아이폰 등 모바일 디바이스로 촬영한 작품만 출품 가능. 장르·국적 제한 없이 젊은 창작자, 신인, 크리에이터 대거 참여 유도. 숏폼(Short-form)과 영화적 서사의 경계를 확장하는 실험적 섹션.</a:t>
            </a:r>
          </a:p>
          <a:p>
            <a:pPr>
              <a:defRPr/>
            </a:pPr>
            <a:endParaRPr lang="ko-KR" altLang="en-US"/>
          </a:p>
          <a:p>
            <a:pPr>
              <a:defRPr/>
            </a:pPr>
            <a:r>
              <a:rPr lang="ko-KR" altLang="en-US"/>
              <a:t>수상작은 대형 스크린 상영 / 온라인 공식 채널을 통한 글로벌 공개 / 브랜드·테크 기업과의 협업 기회 연계.</a:t>
            </a:r>
          </a:p>
          <a:p>
            <a:pPr>
              <a:defRPr/>
            </a:pPr>
            <a:endParaRPr lang="ko-KR" altLang="en-US"/>
          </a:p>
          <a:p>
            <a:pPr>
              <a:defRPr/>
            </a:pPr>
            <a:r>
              <a:rPr lang="ko-KR" altLang="en-US"/>
              <a:t>👉 IIFF-NextWave의 이름을 가장 직접적으로 설명하는 미래 영화의 인큐베이터</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Programs</a:t>
            </a:r>
          </a:p>
        </p:txBody>
      </p:sp>
      <p:sp>
        <p:nvSpPr>
          <p:cNvPr id="3" name="내용 개체 틀 2"/>
          <p:cNvSpPr>
            <a:spLocks noGrp="1"/>
          </p:cNvSpPr>
          <p:nvPr>
            <p:ph idx="1"/>
          </p:nvPr>
        </p:nvSpPr>
        <p:spPr/>
        <p:txBody>
          <a:bodyPr>
            <a:normAutofit fontScale="85000" lnSpcReduction="20000"/>
          </a:bodyPr>
          <a:lstStyle/>
          <a:p>
            <a:pPr>
              <a:defRPr/>
            </a:pPr>
            <a:r>
              <a:rPr lang="ko-KR" altLang="en-US"/>
              <a:t>FESTIVAL CAMP &amp; LIVE CULTURE</a:t>
            </a:r>
          </a:p>
          <a:p>
            <a:pPr>
              <a:defRPr/>
            </a:pPr>
            <a:r>
              <a:rPr lang="ko-KR" altLang="en-US"/>
              <a:t>캠핑·공연·상영이 결합된 '영화형 축제'</a:t>
            </a:r>
          </a:p>
          <a:p>
            <a:pPr>
              <a:defRPr/>
            </a:pPr>
            <a:r>
              <a:rPr lang="ko-KR" altLang="en-US"/>
              <a:t>인스파이어 야외 공간을 활용한 캠핑형 페스티벌 존. 밤에는 야외 상영 / 라이브 공연 / DJ·뮤직 콘텐츠. 낮에는 토크 / 워크숍 / 크리에이터 밋업.</a:t>
            </a:r>
          </a:p>
          <a:p>
            <a:pPr>
              <a:defRPr/>
            </a:pPr>
            <a:endParaRPr lang="ko-KR" altLang="en-US"/>
          </a:p>
          <a:p>
            <a:pPr>
              <a:defRPr/>
            </a:pPr>
            <a:r>
              <a:rPr lang="ko-KR" altLang="en-US"/>
              <a:t>관객·영화인·아티스트가 구분 없이 섞이는 자유롭고 젊은 영화제 분위기 형성.</a:t>
            </a:r>
          </a:p>
          <a:p>
            <a:pPr>
              <a:defRPr/>
            </a:pPr>
            <a:endParaRPr lang="ko-KR" altLang="en-US"/>
          </a:p>
          <a:p>
            <a:pPr>
              <a:defRPr/>
            </a:pPr>
            <a:r>
              <a:rPr lang="ko-KR" altLang="en-US"/>
              <a:t>👉 영화제를 "보는 행사"에서 머무르고 경험하는 문화 축제로 확장</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Programs</a:t>
            </a:r>
          </a:p>
        </p:txBody>
      </p:sp>
      <p:sp>
        <p:nvSpPr>
          <p:cNvPr id="3" name="내용 개체 틀 2"/>
          <p:cNvSpPr>
            <a:spLocks noGrp="1"/>
          </p:cNvSpPr>
          <p:nvPr>
            <p:ph idx="1"/>
          </p:nvPr>
        </p:nvSpPr>
        <p:spPr/>
        <p:txBody>
          <a:bodyPr>
            <a:normAutofit fontScale="85000" lnSpcReduction="20000"/>
          </a:bodyPr>
          <a:lstStyle/>
          <a:p>
            <a:pPr>
              <a:defRPr/>
            </a:pPr>
            <a:r>
              <a:rPr lang="ko-KR" altLang="en-US"/>
              <a:t>K-CULTURE EXPERIENCE ZONE</a:t>
            </a:r>
          </a:p>
          <a:p>
            <a:pPr>
              <a:defRPr/>
            </a:pPr>
            <a:r>
              <a:rPr lang="ko-KR" altLang="en-US"/>
              <a:t>영화를 중심으로 K-컬처가 스며드는 공간</a:t>
            </a:r>
          </a:p>
          <a:p>
            <a:pPr>
              <a:defRPr/>
            </a:pPr>
            <a:r>
              <a:rPr lang="ko-KR" altLang="en-US"/>
              <a:t>한식, K-푸드, K-뷰티, 라이프스타일 브랜드가 참여하는 체험형 존. 단순 전시·판매가 아닌, 영화 테마와 연결된 음식 / 배우·감독 메이크업 체험 / 한류 콘텐츠 콜라보 이벤트.</a:t>
            </a:r>
          </a:p>
          <a:p>
            <a:pPr>
              <a:defRPr/>
            </a:pPr>
            <a:endParaRPr lang="ko-KR" altLang="en-US"/>
          </a:p>
          <a:p>
            <a:pPr>
              <a:defRPr/>
            </a:pPr>
            <a:r>
              <a:rPr lang="ko-KR" altLang="en-US"/>
              <a:t>글로벌 관객에게 "한국 영화제를 방문하면 한국 문화를 경험한다"는 인식 형성. 스폰서에게는 가장 체류 시간이 긴 고효율 노출 공간.</a:t>
            </a:r>
          </a:p>
          <a:p>
            <a:pPr>
              <a:defRPr/>
            </a:pPr>
            <a:endParaRPr lang="ko-KR" altLang="en-US"/>
          </a:p>
          <a:p>
            <a:pPr>
              <a:defRPr/>
            </a:pPr>
            <a:r>
              <a:rPr lang="ko-KR" altLang="en-US"/>
              <a:t>👉 IIFF를 '한국을 경험하는 국제 영화제'로 완성하는 마지막 퍼즐</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Star Invitation &amp; Camp</a:t>
            </a:r>
          </a:p>
        </p:txBody>
      </p:sp>
      <p:sp>
        <p:nvSpPr>
          <p:cNvPr id="4" name="TextBox 3"/>
          <p:cNvSpPr txBox="1"/>
          <p:nvPr/>
        </p:nvSpPr>
        <p:spPr>
          <a:xfrm>
            <a:off x="790221" y="1229603"/>
            <a:ext cx="10576276" cy="1454541"/>
          </a:xfrm>
          <a:prstGeom prst="rect">
            <a:avLst/>
          </a:prstGeom>
        </p:spPr>
        <p:txBody>
          <a:bodyPr wrap="square">
            <a:spAutoFit/>
          </a:bodyPr>
          <a:lstStyle/>
          <a:p>
            <a:pPr marL="0" indent="0">
              <a:buNone/>
              <a:defRPr/>
            </a:pPr>
            <a:r>
              <a:rPr lang="ko-KR" altLang="en-US"/>
              <a:t> 헐리우드 스타 초청 전략</a:t>
            </a:r>
          </a:p>
          <a:p>
            <a:pPr>
              <a:defRPr/>
            </a:pPr>
            <a:endParaRPr lang="ko-KR" altLang="en-US"/>
          </a:p>
          <a:p>
            <a:pPr>
              <a:defRPr/>
            </a:pPr>
            <a:r>
              <a:rPr lang="ko-KR" altLang="en-US"/>
              <a:t>헐리우드 현지 법인 또는 에이전시(CAA, WME, UTA)를 통한 직접적 초청 루트를 확보합니다. 출연료, 체류비, 의전 사항은 국제 기준의 Rider 계약으로 사전 합의합니다.</a:t>
            </a:r>
          </a:p>
          <a:p>
            <a:pPr>
              <a:defRPr/>
            </a:pPr>
            <a:endParaRPr lang="ko-KR" altLang="en-US"/>
          </a:p>
        </p:txBody>
      </p:sp>
      <p:graphicFrame>
        <p:nvGraphicFramePr>
          <p:cNvPr id="5" name="표 4"/>
          <p:cNvGraphicFramePr/>
          <p:nvPr/>
        </p:nvGraphicFramePr>
        <p:xfrm>
          <a:off x="1007674" y="2564694"/>
          <a:ext cx="10358823" cy="3762222"/>
        </p:xfrm>
        <a:graphic>
          <a:graphicData uri="http://schemas.openxmlformats.org/drawingml/2006/table">
            <a:tbl>
              <a:tblPr firstRow="1" bandRow="1"/>
              <a:tblGrid>
                <a:gridCol w="3452941">
                  <a:extLst>
                    <a:ext uri="{9D8B030D-6E8A-4147-A177-3AD203B41FA5}">
                      <a16:colId xmlns:a16="http://schemas.microsoft.com/office/drawing/2014/main" val="20000"/>
                    </a:ext>
                  </a:extLst>
                </a:gridCol>
                <a:gridCol w="3452941">
                  <a:extLst>
                    <a:ext uri="{9D8B030D-6E8A-4147-A177-3AD203B41FA5}">
                      <a16:colId xmlns:a16="http://schemas.microsoft.com/office/drawing/2014/main" val="20001"/>
                    </a:ext>
                  </a:extLst>
                </a:gridCol>
                <a:gridCol w="3452941">
                  <a:extLst>
                    <a:ext uri="{9D8B030D-6E8A-4147-A177-3AD203B41FA5}">
                      <a16:colId xmlns:a16="http://schemas.microsoft.com/office/drawing/2014/main" val="20002"/>
                    </a:ext>
                  </a:extLst>
                </a:gridCol>
              </a:tblGrid>
              <a:tr h="226664">
                <a:tc>
                  <a:txBody>
                    <a:bodyPr/>
                    <a:lstStyle/>
                    <a:p>
                      <a:pPr>
                        <a:defRPr/>
                      </a:pPr>
                      <a:r>
                        <a:rPr lang="ko-KR" altLang="en-US"/>
                        <a:t>초청대상 </a:t>
                      </a:r>
                      <a:r>
                        <a:rPr lang="en-US" altLang="ko-KR"/>
                        <a:t>(</a:t>
                      </a:r>
                      <a:r>
                        <a:rPr lang="ko-KR" altLang="en-US"/>
                        <a:t>예시</a:t>
                      </a:r>
                      <a:r>
                        <a:rPr lang="en-US" altLang="ko-KR"/>
                        <a:t>)</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섭외 채널</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프로그램 연계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901961">
                <a:tc>
                  <a:txBody>
                    <a:bodyPr/>
                    <a:lstStyle/>
                    <a:p>
                      <a:pPr algn="l">
                        <a:defRPr/>
                      </a:pPr>
                      <a:r>
                        <a:rPr sz="1800" b="0" i="0" strike="noStrike">
                          <a:solidFill>
                            <a:srgbClr val="000000">
                              <a:alpha val="100000"/>
                            </a:srgbClr>
                          </a:solidFill>
                          <a:latin typeface="Arial"/>
                          <a:ea typeface="굴림"/>
                        </a:rPr>
                        <a:t>할 베리 (Halle Berry)</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CAA / 개인 에이전트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갈라 스크리닝 주연작 상영 + 마스터 클래스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731669">
                <a:tc>
                  <a:txBody>
                    <a:bodyPr/>
                    <a:lstStyle/>
                    <a:p>
                      <a:pPr algn="l">
                        <a:defRPr/>
                      </a:pPr>
                      <a:r>
                        <a:rPr sz="1800" b="0" i="0" strike="noStrike">
                          <a:solidFill>
                            <a:srgbClr val="000000">
                              <a:alpha val="100000"/>
                            </a:srgbClr>
                          </a:solidFill>
                          <a:latin typeface="Arial"/>
                          <a:ea typeface="굴림"/>
                        </a:rPr>
                        <a:t>키아누 리브스 (Keanu Reeves)</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WME / 개인 에이전트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개막식 특별 게스트 + 관객 밋앤그릿</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561377">
                <a:tc>
                  <a:txBody>
                    <a:bodyPr/>
                    <a:lstStyle/>
                    <a:p>
                      <a:pPr algn="l">
                        <a:defRPr/>
                      </a:pPr>
                      <a:r>
                        <a:rPr sz="1800" b="0" i="0" strike="noStrike">
                          <a:solidFill>
                            <a:srgbClr val="000000">
                              <a:alpha val="100000"/>
                            </a:srgbClr>
                          </a:solidFill>
                          <a:latin typeface="Arial"/>
                          <a:ea typeface="굴림"/>
                        </a:rPr>
                        <a:t>봉준호 감독</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국내 에이전시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심사위원장 또는 마스터 클래스 연사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561376">
                <a:tc>
                  <a:txBody>
                    <a:bodyPr/>
                    <a:lstStyle/>
                    <a:p>
                      <a:pPr algn="l">
                        <a:defRPr/>
                      </a:pPr>
                      <a:r>
                        <a:rPr sz="1800" b="0" i="0" strike="noStrike">
                          <a:solidFill>
                            <a:srgbClr val="000000">
                              <a:alpha val="100000"/>
                            </a:srgbClr>
                          </a:solidFill>
                          <a:latin typeface="Arial"/>
                          <a:ea typeface="굴림"/>
                        </a:rPr>
                        <a:t>송강호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국내 에이전시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개막작/폐막작 주연 배우 초청</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561376">
                <a:tc>
                  <a:txBody>
                    <a:bodyPr/>
                    <a:lstStyle/>
                    <a:p>
                      <a:pPr algn="l">
                        <a:defRPr/>
                      </a:pPr>
                      <a:r>
                        <a:rPr sz="1800" b="0" i="0" strike="noStrike">
                          <a:solidFill>
                            <a:srgbClr val="000000">
                              <a:alpha val="100000"/>
                            </a:srgbClr>
                          </a:solidFill>
                          <a:latin typeface="Arial"/>
                          <a:ea typeface="굴림"/>
                        </a:rPr>
                        <a:t>아시아 톱스타 (예: 량차오웨이)</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중국/홍콩 에이전시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아시아 특별전 게스트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Star Invitation &amp; Camp</a:t>
            </a:r>
          </a:p>
        </p:txBody>
      </p:sp>
      <p:sp>
        <p:nvSpPr>
          <p:cNvPr id="3" name="내용 개체 틀 2"/>
          <p:cNvSpPr>
            <a:spLocks noGrp="1"/>
          </p:cNvSpPr>
          <p:nvPr>
            <p:ph idx="1"/>
          </p:nvPr>
        </p:nvSpPr>
        <p:spPr/>
        <p:txBody>
          <a:bodyPr>
            <a:normAutofit fontScale="47500" lnSpcReduction="20000"/>
          </a:bodyPr>
          <a:lstStyle/>
          <a:p>
            <a:pPr>
              <a:defRPr/>
            </a:pPr>
            <a:r>
              <a:rPr lang="ko-KR" altLang="en-US"/>
              <a:t> NextWave Creator Camp 규정 (요약)</a:t>
            </a:r>
          </a:p>
          <a:p>
            <a:pPr>
              <a:defRPr/>
            </a:pPr>
            <a:endParaRPr lang="ko-KR" altLang="en-US"/>
          </a:p>
          <a:p>
            <a:pPr>
              <a:defRPr/>
            </a:pPr>
            <a:r>
              <a:rPr lang="ko-KR" altLang="en-US"/>
              <a:t>📋 참가 자격</a:t>
            </a:r>
          </a:p>
          <a:p>
            <a:pPr>
              <a:defRPr/>
            </a:pPr>
            <a:r>
              <a:rPr lang="ko-KR" altLang="en-US"/>
              <a:t>만 16세 이상 전 세계 누구나</a:t>
            </a:r>
          </a:p>
          <a:p>
            <a:pPr>
              <a:defRPr/>
            </a:pPr>
            <a:r>
              <a:rPr lang="ko-KR" altLang="en-US"/>
              <a:t>개인 또는 5인 이내 팀 참가</a:t>
            </a:r>
          </a:p>
          <a:p>
            <a:pPr>
              <a:defRPr/>
            </a:pPr>
            <a:r>
              <a:rPr lang="ko-KR" altLang="en-US"/>
              <a:t>스마트폰(아이폰/갤럭시) 촬영 필수</a:t>
            </a:r>
          </a:p>
          <a:p>
            <a:pPr>
              <a:defRPr/>
            </a:pPr>
            <a:r>
              <a:rPr lang="ko-KR" altLang="en-US"/>
              <a:t>참가비 포함 (야영 장비 기본 제공)</a:t>
            </a:r>
          </a:p>
          <a:p>
            <a:pPr>
              <a:defRPr/>
            </a:pPr>
            <a:endParaRPr lang="ko-KR" altLang="en-US"/>
          </a:p>
          <a:p>
            <a:pPr>
              <a:defRPr/>
            </a:pPr>
            <a:r>
              <a:rPr lang="ko-KR" altLang="en-US"/>
              <a:t>🎬 제작 규정</a:t>
            </a:r>
          </a:p>
          <a:p>
            <a:pPr>
              <a:defRPr/>
            </a:pPr>
            <a:r>
              <a:rPr lang="ko-KR" altLang="en-US"/>
              <a:t>장르 자유 (실험/다큐/드라마/뮤비)</a:t>
            </a:r>
          </a:p>
          <a:p>
            <a:pPr>
              <a:defRPr/>
            </a:pPr>
            <a:r>
              <a:rPr lang="ko-KR" altLang="en-US"/>
              <a:t>러닝타임: 3분~15분 이내</a:t>
            </a:r>
          </a:p>
          <a:p>
            <a:pPr>
              <a:defRPr/>
            </a:pPr>
            <a:r>
              <a:rPr lang="ko-KR" altLang="en-US"/>
              <a:t>캠프 기간(48시간) 내 촬영·편집·제출</a:t>
            </a:r>
          </a:p>
          <a:p>
            <a:pPr>
              <a:defRPr/>
            </a:pPr>
            <a:r>
              <a:rPr lang="ko-KR" altLang="en-US"/>
              <a:t>모바일 촬영 원칙 (보조 장비 허용)</a:t>
            </a:r>
          </a:p>
          <a:p>
            <a:pPr>
              <a:defRPr/>
            </a:pPr>
            <a:endParaRPr lang="ko-KR" altLang="en-US"/>
          </a:p>
          <a:p>
            <a:pPr>
              <a:defRPr/>
            </a:pPr>
            <a:r>
              <a:rPr lang="ko-KR" altLang="en-US"/>
              <a:t>🏆 심사 및 시상</a:t>
            </a:r>
          </a:p>
          <a:p>
            <a:pPr>
              <a:defRPr/>
            </a:pPr>
            <a:r>
              <a:rPr lang="ko-KR" altLang="en-US"/>
              <a:t>전문 심사위원단 + 관객 투표 병행</a:t>
            </a:r>
          </a:p>
          <a:p>
            <a:pPr>
              <a:defRPr/>
            </a:pPr>
            <a:r>
              <a:rPr lang="ko-KR" altLang="en-US"/>
              <a:t>대상: 상금 + 차기 영화제 정식 상영권</a:t>
            </a:r>
          </a:p>
          <a:p>
            <a:pPr>
              <a:defRPr/>
            </a:pPr>
            <a:r>
              <a:rPr lang="ko-KR" altLang="en-US"/>
              <a:t>우수작: 온라인 공식 채널 공개</a:t>
            </a:r>
          </a:p>
          <a:p>
            <a:pPr>
              <a:defRPr/>
            </a:pPr>
            <a:r>
              <a:rPr lang="ko-KR" altLang="en-US"/>
              <a:t>인기상: SNS 투표 기반</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Star Invitation &amp; Camp</a:t>
            </a:r>
          </a:p>
        </p:txBody>
      </p:sp>
      <p:graphicFrame>
        <p:nvGraphicFramePr>
          <p:cNvPr id="4" name="표 3"/>
          <p:cNvGraphicFramePr/>
          <p:nvPr/>
        </p:nvGraphicFramePr>
        <p:xfrm>
          <a:off x="609601" y="2660844"/>
          <a:ext cx="10972798" cy="3340593"/>
        </p:xfrm>
        <a:graphic>
          <a:graphicData uri="http://schemas.openxmlformats.org/drawingml/2006/table">
            <a:tbl>
              <a:tblPr firstRow="1" bandRow="1"/>
              <a:tblGrid>
                <a:gridCol w="3246260">
                  <a:extLst>
                    <a:ext uri="{9D8B030D-6E8A-4147-A177-3AD203B41FA5}">
                      <a16:colId xmlns:a16="http://schemas.microsoft.com/office/drawing/2014/main" val="20000"/>
                    </a:ext>
                  </a:extLst>
                </a:gridCol>
                <a:gridCol w="7726538">
                  <a:extLst>
                    <a:ext uri="{9D8B030D-6E8A-4147-A177-3AD203B41FA5}">
                      <a16:colId xmlns:a16="http://schemas.microsoft.com/office/drawing/2014/main" val="20001"/>
                    </a:ext>
                  </a:extLst>
                </a:gridCol>
              </a:tblGrid>
              <a:tr h="268604">
                <a:tc>
                  <a:txBody>
                    <a:bodyPr/>
                    <a:lstStyle/>
                    <a:p>
                      <a:pPr>
                        <a:defRPr/>
                      </a:pPr>
                      <a:r>
                        <a:rPr lang="ko-KR" altLang="en-US"/>
                        <a:t>항목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내용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635327">
                <a:tc>
                  <a:txBody>
                    <a:bodyPr/>
                    <a:lstStyle/>
                    <a:p>
                      <a:pPr algn="l">
                        <a:defRPr/>
                      </a:pPr>
                      <a:r>
                        <a:rPr sz="1800" b="0" i="0" strike="noStrike">
                          <a:solidFill>
                            <a:srgbClr val="000000">
                              <a:alpha val="100000"/>
                            </a:srgbClr>
                          </a:solidFill>
                          <a:latin typeface="Arial"/>
                          <a:ea typeface="굴림"/>
                        </a:rPr>
                        <a:t>공항 의전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인천공항 VIP 통로, 전용 의전 차량, 다국어 수행원 배치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635327">
                <a:tc>
                  <a:txBody>
                    <a:bodyPr/>
                    <a:lstStyle/>
                    <a:p>
                      <a:pPr algn="l">
                        <a:defRPr/>
                      </a:pPr>
                      <a:r>
                        <a:rPr sz="1800" b="0" i="0" strike="noStrike">
                          <a:solidFill>
                            <a:srgbClr val="000000">
                              <a:alpha val="100000"/>
                            </a:srgbClr>
                          </a:solidFill>
                          <a:latin typeface="Arial"/>
                          <a:ea typeface="굴림"/>
                        </a:rPr>
                        <a:t>숙소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인스파이어 리조트 최상급 스위트 또는 파르나스호텔</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534426">
                <a:tc>
                  <a:txBody>
                    <a:bodyPr/>
                    <a:lstStyle/>
                    <a:p>
                      <a:pPr algn="l">
                        <a:defRPr/>
                      </a:pPr>
                      <a:r>
                        <a:rPr sz="1800" b="0" i="0" strike="noStrike">
                          <a:solidFill>
                            <a:srgbClr val="000000">
                              <a:alpha val="100000"/>
                            </a:srgbClr>
                          </a:solidFill>
                          <a:latin typeface="Arial"/>
                          <a:ea typeface="굴림"/>
                        </a:rPr>
                        <a:t>현장 의전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전용 대기실, 보안 경호(2인 이상), 전속 코디네이터</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635327">
                <a:tc>
                  <a:txBody>
                    <a:bodyPr/>
                    <a:lstStyle/>
                    <a:p>
                      <a:pPr algn="l">
                        <a:defRPr/>
                      </a:pPr>
                      <a:r>
                        <a:rPr sz="1800" b="0" i="0" strike="noStrike">
                          <a:solidFill>
                            <a:srgbClr val="000000">
                              <a:alpha val="100000"/>
                            </a:srgbClr>
                          </a:solidFill>
                          <a:latin typeface="Arial"/>
                          <a:ea typeface="굴림"/>
                        </a:rPr>
                        <a:t>Rider 사항</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식이요법, 선호 차량, 동반인 체류, PR 제한 사항 등 사전 계약</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534426">
                <a:tc>
                  <a:txBody>
                    <a:bodyPr/>
                    <a:lstStyle/>
                    <a:p>
                      <a:pPr algn="l">
                        <a:defRPr/>
                      </a:pPr>
                      <a:r>
                        <a:rPr sz="1800" b="0" i="0" strike="noStrike">
                          <a:solidFill>
                            <a:srgbClr val="000000">
                              <a:alpha val="100000"/>
                            </a:srgbClr>
                          </a:solidFill>
                          <a:latin typeface="Arial"/>
                          <a:ea typeface="굴림"/>
                        </a:rPr>
                        <a:t>보험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초청 게스트 상해보험, 배상 책임 보험 별도 가입</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bl>
          </a:graphicData>
        </a:graphic>
      </p:graphicFrame>
      <p:sp>
        <p:nvSpPr>
          <p:cNvPr id="5" name="TextBox 4"/>
          <p:cNvSpPr txBox="1"/>
          <p:nvPr/>
        </p:nvSpPr>
        <p:spPr>
          <a:xfrm>
            <a:off x="609599" y="1867852"/>
            <a:ext cx="6096000" cy="360045"/>
          </a:xfrm>
          <a:prstGeom prst="rect">
            <a:avLst/>
          </a:prstGeom>
        </p:spPr>
        <p:txBody>
          <a:bodyPr wrap="square">
            <a:spAutoFit/>
          </a:bodyPr>
          <a:lstStyle/>
          <a:p>
            <a:pPr>
              <a:defRPr/>
            </a:pPr>
            <a:r>
              <a:rPr lang="ko-KR" altLang="en-US"/>
              <a:t> 의전 및 VIP 관리</a:t>
            </a:r>
            <a:endParaRPr lang="en-US" altLang="ko-K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09599" y="274638"/>
            <a:ext cx="10972798" cy="878416"/>
          </a:xfrm>
        </p:spPr>
        <p:txBody>
          <a:bodyPr/>
          <a:lstStyle/>
          <a:p>
            <a:pPr>
              <a:defRPr/>
            </a:pPr>
            <a:r>
              <a:rPr lang="ko-KR" altLang="en-US"/>
              <a:t>3. Daily Simulation</a:t>
            </a:r>
          </a:p>
        </p:txBody>
      </p:sp>
      <p:graphicFrame>
        <p:nvGraphicFramePr>
          <p:cNvPr id="4" name="표 3"/>
          <p:cNvGraphicFramePr/>
          <p:nvPr/>
        </p:nvGraphicFramePr>
        <p:xfrm>
          <a:off x="605790" y="1869207"/>
          <a:ext cx="10980420" cy="3959902"/>
        </p:xfrm>
        <a:graphic>
          <a:graphicData uri="http://schemas.openxmlformats.org/drawingml/2006/table">
            <a:tbl>
              <a:tblPr firstRow="1" bandRow="1"/>
              <a:tblGrid>
                <a:gridCol w="1878330">
                  <a:extLst>
                    <a:ext uri="{9D8B030D-6E8A-4147-A177-3AD203B41FA5}">
                      <a16:colId xmlns:a16="http://schemas.microsoft.com/office/drawing/2014/main" val="20000"/>
                    </a:ext>
                  </a:extLst>
                </a:gridCol>
                <a:gridCol w="2202180">
                  <a:extLst>
                    <a:ext uri="{9D8B030D-6E8A-4147-A177-3AD203B41FA5}">
                      <a16:colId xmlns:a16="http://schemas.microsoft.com/office/drawing/2014/main" val="20001"/>
                    </a:ext>
                  </a:extLst>
                </a:gridCol>
                <a:gridCol w="3192780">
                  <a:extLst>
                    <a:ext uri="{9D8B030D-6E8A-4147-A177-3AD203B41FA5}">
                      <a16:colId xmlns:a16="http://schemas.microsoft.com/office/drawing/2014/main" val="20002"/>
                    </a:ext>
                  </a:extLst>
                </a:gridCol>
                <a:gridCol w="3707130">
                  <a:extLst>
                    <a:ext uri="{9D8B030D-6E8A-4147-A177-3AD203B41FA5}">
                      <a16:colId xmlns:a16="http://schemas.microsoft.com/office/drawing/2014/main" val="20003"/>
                    </a:ext>
                  </a:extLst>
                </a:gridCol>
              </a:tblGrid>
              <a:tr h="247486">
                <a:tc>
                  <a:txBody>
                    <a:bodyPr/>
                    <a:lstStyle/>
                    <a:p>
                      <a:pPr>
                        <a:defRPr/>
                      </a:pPr>
                      <a:r>
                        <a:rPr lang="ko-KR" altLang="en-US" sz="1200"/>
                        <a:t>시간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200"/>
                        <a:t>장소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200"/>
                        <a:t>프로그램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200"/>
                        <a:t>상세내용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303875">
                <a:tc>
                  <a:txBody>
                    <a:bodyPr/>
                    <a:lstStyle/>
                    <a:p>
                      <a:pPr algn="l">
                        <a:defRPr/>
                      </a:pPr>
                      <a:r>
                        <a:rPr sz="1200" b="0" i="0" strike="noStrike">
                          <a:solidFill>
                            <a:srgbClr val="000000">
                              <a:alpha val="100000"/>
                            </a:srgbClr>
                          </a:solidFill>
                          <a:latin typeface="Arial"/>
                          <a:ea typeface="굴림"/>
                        </a:rPr>
                        <a:t>09:00~10:00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모닝 요가 &amp; 아침 식사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야영 참가자 기상, 캠프 내 모닝 루틴</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367749">
                <a:tc>
                  <a:txBody>
                    <a:bodyPr/>
                    <a:lstStyle/>
                    <a:p>
                      <a:pPr algn="l">
                        <a:defRPr/>
                      </a:pPr>
                      <a:r>
                        <a:rPr sz="1200" b="0" i="0" strike="noStrike">
                          <a:solidFill>
                            <a:srgbClr val="000000">
                              <a:alpha val="100000"/>
                            </a:srgbClr>
                          </a:solidFill>
                          <a:latin typeface="Arial"/>
                          <a:ea typeface="굴림"/>
                        </a:rPr>
                        <a:t>10:00~12:00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인접 CGV</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인디 섹션 상영 (메소드)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메소드-인디 섹션 작품 2~3편 블록 상영 + GV</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303875">
                <a:tc>
                  <a:txBody>
                    <a:bodyPr/>
                    <a:lstStyle/>
                    <a:p>
                      <a:pPr algn="l">
                        <a:defRPr/>
                      </a:pPr>
                      <a:r>
                        <a:rPr sz="1200" b="0" i="0" strike="noStrike">
                          <a:solidFill>
                            <a:srgbClr val="000000">
                              <a:alpha val="100000"/>
                            </a:srgbClr>
                          </a:solidFill>
                          <a:latin typeface="Arial"/>
                          <a:ea typeface="굴림"/>
                        </a:rPr>
                        <a:t>10:00~12:00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Creator Camp 활동</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모바일 영화 제작 워크숍, 촬영 실습</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303875">
                <a:tc>
                  <a:txBody>
                    <a:bodyPr/>
                    <a:lstStyle/>
                    <a:p>
                      <a:pPr algn="l">
                        <a:defRPr/>
                      </a:pPr>
                      <a:r>
                        <a:rPr sz="1200" b="0" i="0" strike="noStrike">
                          <a:solidFill>
                            <a:srgbClr val="000000">
                              <a:alpha val="100000"/>
                            </a:srgbClr>
                          </a:solidFill>
                          <a:latin typeface="Arial"/>
                          <a:ea typeface="굴림"/>
                        </a:rPr>
                        <a:t>12:00~13:30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오로라 푸드코트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K-푸드 팝업 런치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인천 맛집 및 K-푸드 셰프 팝업 운영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303875">
                <a:tc>
                  <a:txBody>
                    <a:bodyPr/>
                    <a:lstStyle/>
                    <a:p>
                      <a:pPr algn="l">
                        <a:defRPr/>
                      </a:pPr>
                      <a:r>
                        <a:rPr sz="1200" b="0" i="0" strike="noStrike">
                          <a:solidFill>
                            <a:srgbClr val="000000">
                              <a:alpha val="100000"/>
                            </a:srgbClr>
                          </a:solidFill>
                          <a:latin typeface="Arial"/>
                          <a:ea typeface="굴림"/>
                        </a:rPr>
                        <a:t>13:30~15:30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MICE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마스터 클래스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헐리우드 배우/감독의 특별 강연 및 Q&amp;A</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r h="247486">
                <a:tc>
                  <a:txBody>
                    <a:bodyPr/>
                    <a:lstStyle/>
                    <a:p>
                      <a:pPr algn="l">
                        <a:defRPr/>
                      </a:pPr>
                      <a:r>
                        <a:rPr sz="1200" b="0" i="0" strike="noStrike">
                          <a:solidFill>
                            <a:srgbClr val="000000">
                              <a:alpha val="100000"/>
                            </a:srgbClr>
                          </a:solidFill>
                          <a:latin typeface="Arial"/>
                          <a:ea typeface="굴림"/>
                        </a:rPr>
                        <a:t>13:30~15:30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MICE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비즈니스 포럼</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공동 제작·투자 매칭 세션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6"/>
                  </a:ext>
                </a:extLst>
              </a:tr>
              <a:tr h="303874">
                <a:tc>
                  <a:txBody>
                    <a:bodyPr/>
                    <a:lstStyle/>
                    <a:p>
                      <a:pPr algn="l">
                        <a:defRPr/>
                      </a:pPr>
                      <a:r>
                        <a:rPr sz="1200" b="0" i="0" strike="noStrike">
                          <a:solidFill>
                            <a:srgbClr val="000000">
                              <a:alpha val="100000"/>
                            </a:srgbClr>
                          </a:solidFill>
                          <a:latin typeface="Arial"/>
                          <a:ea typeface="굴림"/>
                        </a:rPr>
                        <a:t>15:30~16:00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오로라</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네트워킹 브레이크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K-뷰티 체험 부스 방문, 굿즈 스토어</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7"/>
                  </a:ext>
                </a:extLst>
              </a:tr>
              <a:tr h="247486">
                <a:tc>
                  <a:txBody>
                    <a:bodyPr/>
                    <a:lstStyle/>
                    <a:p>
                      <a:pPr algn="l">
                        <a:defRPr/>
                      </a:pPr>
                      <a:r>
                        <a:rPr sz="1200" b="0" i="0" strike="noStrike">
                          <a:solidFill>
                            <a:srgbClr val="000000">
                              <a:alpha val="100000"/>
                            </a:srgbClr>
                          </a:solidFill>
                          <a:latin typeface="Arial"/>
                          <a:ea typeface="굴림"/>
                        </a:rPr>
                        <a:t>16:00~18:00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인접 CGV</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경쟁작/초청작 상영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경쟁 부문 작품 상영 + 감독 GV</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8"/>
                  </a:ext>
                </a:extLst>
              </a:tr>
              <a:tr h="247486">
                <a:tc>
                  <a:txBody>
                    <a:bodyPr/>
                    <a:lstStyle/>
                    <a:p>
                      <a:pPr algn="l">
                        <a:defRPr/>
                      </a:pPr>
                      <a:r>
                        <a:rPr sz="1200" b="0" i="0" strike="noStrike">
                          <a:solidFill>
                            <a:srgbClr val="000000">
                              <a:alpha val="100000"/>
                            </a:srgbClr>
                          </a:solidFill>
                          <a:latin typeface="Arial"/>
                          <a:ea typeface="굴림"/>
                        </a:rPr>
                        <a:t>18:00~19:00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레드카펫 존</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레드카펫 &amp; 포토콜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저녁 행사 전 스타 레드카펫 이벤트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9"/>
                  </a:ext>
                </a:extLst>
              </a:tr>
              <a:tr h="367749">
                <a:tc>
                  <a:txBody>
                    <a:bodyPr/>
                    <a:lstStyle/>
                    <a:p>
                      <a:pPr algn="l">
                        <a:defRPr/>
                      </a:pPr>
                      <a:r>
                        <a:rPr sz="1200" b="0" i="0" strike="noStrike">
                          <a:solidFill>
                            <a:srgbClr val="000000">
                              <a:alpha val="100000"/>
                            </a:srgbClr>
                          </a:solidFill>
                          <a:latin typeface="Arial"/>
                          <a:ea typeface="굴림"/>
                        </a:rPr>
                        <a:t>19:00~21:00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아레나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갈라 스크리닝</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대형 스크린 프리미어 상영, 감독·배우 무대 인사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10"/>
                  </a:ext>
                </a:extLst>
              </a:tr>
              <a:tr h="303875">
                <a:tc>
                  <a:txBody>
                    <a:bodyPr/>
                    <a:lstStyle/>
                    <a:p>
                      <a:pPr algn="l">
                        <a:defRPr/>
                      </a:pPr>
                      <a:r>
                        <a:rPr sz="1200" b="0" i="0" strike="noStrike">
                          <a:solidFill>
                            <a:srgbClr val="000000">
                              <a:alpha val="100000"/>
                            </a:srgbClr>
                          </a:solidFill>
                          <a:latin typeface="Arial"/>
                          <a:ea typeface="굴림"/>
                        </a:rPr>
                        <a:t>21:00~23:00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K-팝 콘서트 &amp; 야외 상영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미니 라이브 공연 후 야외 대형 스크린 상영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11"/>
                  </a:ext>
                </a:extLst>
              </a:tr>
              <a:tr h="303875">
                <a:tc>
                  <a:txBody>
                    <a:bodyPr/>
                    <a:lstStyle/>
                    <a:p>
                      <a:pPr algn="l">
                        <a:defRPr/>
                      </a:pPr>
                      <a:r>
                        <a:rPr sz="1200" b="0" i="0" strike="noStrike">
                          <a:solidFill>
                            <a:srgbClr val="000000">
                              <a:alpha val="100000"/>
                            </a:srgbClr>
                          </a:solidFill>
                          <a:latin typeface="Arial"/>
                          <a:ea typeface="굴림"/>
                        </a:rPr>
                        <a:t>23:00~</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 캠프파이어 &amp; 네트워킹</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200" b="0" i="0" strike="noStrike">
                          <a:solidFill>
                            <a:srgbClr val="000000">
                              <a:alpha val="100000"/>
                            </a:srgbClr>
                          </a:solidFill>
                          <a:latin typeface="Arial"/>
                          <a:ea typeface="굴림"/>
                        </a:rPr>
                        <a:t>영화인·관객·캠퍼 자유 교류, DJ 세트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12"/>
                  </a:ext>
                </a:extLst>
              </a:tr>
            </a:tbl>
          </a:graphicData>
        </a:graphic>
      </p:graphicFrame>
      <p:sp>
        <p:nvSpPr>
          <p:cNvPr id="5" name="TextBox 4"/>
          <p:cNvSpPr txBox="1"/>
          <p:nvPr/>
        </p:nvSpPr>
        <p:spPr>
          <a:xfrm>
            <a:off x="609599" y="1229603"/>
            <a:ext cx="10188222" cy="359167"/>
          </a:xfrm>
          <a:prstGeom prst="rect">
            <a:avLst/>
          </a:prstGeom>
        </p:spPr>
        <p:txBody>
          <a:bodyPr wrap="square">
            <a:spAutoFit/>
          </a:bodyPr>
          <a:lstStyle/>
          <a:p>
            <a:pPr>
              <a:defRPr/>
            </a:pPr>
            <a:r>
              <a:rPr lang="ko-KR" altLang="en-US"/>
              <a:t>"관객이 아침에 도착해서 밤늦게까지 머무르는" 체류형 영화제의 하루</a:t>
            </a:r>
          </a:p>
        </p:txBody>
      </p:sp>
      <p:sp>
        <p:nvSpPr>
          <p:cNvPr id="6" name="TextBox 5"/>
          <p:cNvSpPr txBox="1"/>
          <p:nvPr/>
        </p:nvSpPr>
        <p:spPr>
          <a:xfrm>
            <a:off x="605790" y="6014879"/>
            <a:ext cx="10576278" cy="517366"/>
          </a:xfrm>
          <a:prstGeom prst="rect">
            <a:avLst/>
          </a:prstGeom>
        </p:spPr>
        <p:txBody>
          <a:bodyPr wrap="square">
            <a:spAutoFit/>
          </a:bodyPr>
          <a:lstStyle/>
          <a:p>
            <a:pPr>
              <a:defRPr/>
            </a:pPr>
            <a:r>
              <a:rPr lang="ko-KR" altLang="en-US" sz="1400"/>
              <a:t>핵심 포인트: 관객은 CGV에서 영화를 보고, 아레나에서 갈라를 경험하고, 디스커버리 파크에서 캠핑과 K-컬처를 즐기며, MICE에서 비즈니스 미팅을 한다. 하루 종일 다양한 콘텐츠가 끊임없이 이어지는 체류형 영화제의 완성.</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Civic Participation</a:t>
            </a:r>
          </a:p>
        </p:txBody>
      </p:sp>
      <p:graphicFrame>
        <p:nvGraphicFramePr>
          <p:cNvPr id="4" name="표 3"/>
          <p:cNvGraphicFramePr/>
          <p:nvPr/>
        </p:nvGraphicFramePr>
        <p:xfrm>
          <a:off x="780934" y="1699125"/>
          <a:ext cx="10630131" cy="4201816"/>
        </p:xfrm>
        <a:graphic>
          <a:graphicData uri="http://schemas.openxmlformats.org/drawingml/2006/table">
            <a:tbl>
              <a:tblPr firstRow="1" bandRow="1"/>
              <a:tblGrid>
                <a:gridCol w="1756485">
                  <a:extLst>
                    <a:ext uri="{9D8B030D-6E8A-4147-A177-3AD203B41FA5}">
                      <a16:colId xmlns:a16="http://schemas.microsoft.com/office/drawing/2014/main" val="20000"/>
                    </a:ext>
                  </a:extLst>
                </a:gridCol>
                <a:gridCol w="3355237">
                  <a:extLst>
                    <a:ext uri="{9D8B030D-6E8A-4147-A177-3AD203B41FA5}">
                      <a16:colId xmlns:a16="http://schemas.microsoft.com/office/drawing/2014/main" val="20001"/>
                    </a:ext>
                  </a:extLst>
                </a:gridCol>
                <a:gridCol w="3935766">
                  <a:extLst>
                    <a:ext uri="{9D8B030D-6E8A-4147-A177-3AD203B41FA5}">
                      <a16:colId xmlns:a16="http://schemas.microsoft.com/office/drawing/2014/main" val="20002"/>
                    </a:ext>
                  </a:extLst>
                </a:gridCol>
                <a:gridCol w="1582643">
                  <a:extLst>
                    <a:ext uri="{9D8B030D-6E8A-4147-A177-3AD203B41FA5}">
                      <a16:colId xmlns:a16="http://schemas.microsoft.com/office/drawing/2014/main" val="20003"/>
                    </a:ext>
                  </a:extLst>
                </a:gridCol>
              </a:tblGrid>
              <a:tr h="320612">
                <a:tc>
                  <a:txBody>
                    <a:bodyPr/>
                    <a:lstStyle/>
                    <a:p>
                      <a:pPr>
                        <a:defRPr/>
                      </a:pPr>
                      <a:r>
                        <a:rPr lang="ko-KR" altLang="en-US"/>
                        <a:t>구분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프로그램 명</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역할 및 혜택</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연계 특징</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1068883">
                <a:tc>
                  <a:txBody>
                    <a:bodyPr/>
                    <a:lstStyle/>
                    <a:p>
                      <a:pPr algn="l">
                        <a:defRPr/>
                      </a:pPr>
                      <a:r>
                        <a:rPr sz="1800" b="0" i="0" strike="noStrike">
                          <a:solidFill>
                            <a:srgbClr val="000000">
                              <a:alpha val="100000"/>
                            </a:srgbClr>
                          </a:solidFill>
                          <a:latin typeface="Arial"/>
                          <a:ea typeface="굴림"/>
                        </a:rPr>
                        <a:t>핵심 활동 참여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i-NextWave Creator Camp 코디네이터</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캠프 운영 지원, 외국인 참가자 통역/안내, 야영 안전 관리 보조</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모바일/야영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922391">
                <a:tc>
                  <a:txBody>
                    <a:bodyPr/>
                    <a:lstStyle/>
                    <a:p>
                      <a:pPr algn="l">
                        <a:defRPr/>
                      </a:pPr>
                      <a:r>
                        <a:rPr sz="1800" b="0" i="0" strike="noStrike">
                          <a:solidFill>
                            <a:srgbClr val="000000">
                              <a:alpha val="100000"/>
                            </a:srgbClr>
                          </a:solidFill>
                          <a:latin typeface="Arial"/>
                          <a:ea typeface="굴림"/>
                        </a:rPr>
                        <a:t>홍보 및 피드백</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인천 글로벌 모니터링단 (IGM)</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해외 관람객 유치 피드백, K-컬처 체험 동선 점검, 바이럴 홍보 콘텐츠 제작</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K-컬처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922391">
                <a:tc>
                  <a:txBody>
                    <a:bodyPr/>
                    <a:lstStyle/>
                    <a:p>
                      <a:pPr algn="l">
                        <a:defRPr/>
                      </a:pPr>
                      <a:r>
                        <a:rPr sz="1800" b="0" i="0" strike="noStrike">
                          <a:solidFill>
                            <a:srgbClr val="000000">
                              <a:alpha val="100000"/>
                            </a:srgbClr>
                          </a:solidFill>
                          <a:latin typeface="Arial"/>
                          <a:ea typeface="굴림"/>
                        </a:rPr>
                        <a:t>지역 연결고리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메소드 인디 섹션 서포터</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독립 영화관 안내, 아트 스크리닝 셔틀 안내 및 영화 정보 공유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메소드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922391">
                <a:tc>
                  <a:txBody>
                    <a:bodyPr/>
                    <a:lstStyle/>
                    <a:p>
                      <a:pPr algn="l">
                        <a:defRPr/>
                      </a:pPr>
                      <a:r>
                        <a:rPr sz="1800" b="0" i="0" strike="noStrike">
                          <a:solidFill>
                            <a:srgbClr val="000000">
                              <a:alpha val="100000"/>
                            </a:srgbClr>
                          </a:solidFill>
                          <a:latin typeface="Arial"/>
                          <a:ea typeface="굴림"/>
                        </a:rPr>
                        <a:t>인센티브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VIP 패스, 공식 굿즈, 헐리우드 스타 멘토링 클래스 특별 참석 기회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endParaRPr lang="ko-KR" altLang="en-US"/>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endParaRPr lang="ko-KR" altLang="en-US"/>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0" y="2727960"/>
            <a:ext cx="6096000" cy="1403985"/>
          </a:xfrm>
          <a:prstGeom prst="rect">
            <a:avLst/>
          </a:prstGeom>
        </p:spPr>
        <p:txBody>
          <a:bodyPr wrap="square">
            <a:spAutoFit/>
          </a:bodyPr>
          <a:lstStyle/>
          <a:p>
            <a:pPr algn="ctr">
              <a:spcBef>
                <a:spcPts val="0"/>
              </a:spcBef>
              <a:spcAft>
                <a:spcPts val="0"/>
              </a:spcAft>
              <a:defRPr/>
            </a:pPr>
            <a:r>
              <a:rPr sz="5000" b="1" spc="0">
                <a:solidFill>
                  <a:srgbClr val="BFBFBF"/>
                </a:solidFill>
                <a:latin typeface="Arial"/>
                <a:ea typeface="굴림"/>
              </a:rPr>
              <a:t>PART </a:t>
            </a:r>
            <a:r>
              <a:rPr lang="en-US" altLang="ko-KR" sz="5000" b="1" spc="0">
                <a:solidFill>
                  <a:srgbClr val="BFBFBF"/>
                </a:solidFill>
                <a:latin typeface="Arial"/>
                <a:ea typeface="굴림"/>
              </a:rPr>
              <a:t>3</a:t>
            </a:r>
          </a:p>
          <a:p>
            <a:pPr algn="l">
              <a:defRPr/>
            </a:pPr>
            <a:endParaRPr sz="1800" b="0" i="0" strike="noStrike">
              <a:solidFill>
                <a:srgbClr val="000000">
                  <a:alpha val="100000"/>
                </a:srgbClr>
              </a:solidFill>
              <a:latin typeface="Arial"/>
              <a:ea typeface="굴림"/>
            </a:endParaRPr>
          </a:p>
          <a:p>
            <a:pPr algn="l">
              <a:defRPr/>
            </a:pPr>
            <a:r>
              <a:rPr lang="ko-KR" altLang="en-US" sz="1800" b="0" i="0" strike="noStrike">
                <a:solidFill>
                  <a:srgbClr val="000000">
                    <a:alpha val="100000"/>
                  </a:srgbClr>
                </a:solidFill>
                <a:latin typeface="Arial"/>
                <a:ea typeface="굴림"/>
              </a:rPr>
              <a:t>                  실행전략</a:t>
            </a:r>
            <a:r>
              <a:rPr sz="1800" b="0" i="0" strike="noStrike">
                <a:solidFill>
                  <a:srgbClr val="000000">
                    <a:alpha val="100000"/>
                  </a:srgbClr>
                </a:solidFill>
                <a:latin typeface="Arial"/>
                <a:ea typeface="굴림"/>
              </a:rPr>
              <a:t> · </a:t>
            </a:r>
            <a:r>
              <a:rPr lang="en-US" altLang="ko-KR" sz="1800" b="0" i="0" strike="noStrike">
                <a:solidFill>
                  <a:srgbClr val="000000">
                    <a:alpha val="100000"/>
                  </a:srgbClr>
                </a:solidFill>
                <a:latin typeface="Arial"/>
                <a:ea typeface="굴림"/>
              </a:rPr>
              <a:t>stratery</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Core Strategy</a:t>
            </a:r>
          </a:p>
        </p:txBody>
      </p:sp>
      <p:graphicFrame>
        <p:nvGraphicFramePr>
          <p:cNvPr id="4" name="표 3"/>
          <p:cNvGraphicFramePr/>
          <p:nvPr/>
        </p:nvGraphicFramePr>
        <p:xfrm>
          <a:off x="609599" y="1417637"/>
          <a:ext cx="10608945" cy="5068126"/>
        </p:xfrm>
        <a:graphic>
          <a:graphicData uri="http://schemas.openxmlformats.org/drawingml/2006/table">
            <a:tbl>
              <a:tblPr firstRow="1" bandRow="1"/>
              <a:tblGrid>
                <a:gridCol w="592455">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2345055">
                  <a:extLst>
                    <a:ext uri="{9D8B030D-6E8A-4147-A177-3AD203B41FA5}">
                      <a16:colId xmlns:a16="http://schemas.microsoft.com/office/drawing/2014/main" val="20002"/>
                    </a:ext>
                  </a:extLst>
                </a:gridCol>
                <a:gridCol w="5735955">
                  <a:extLst>
                    <a:ext uri="{9D8B030D-6E8A-4147-A177-3AD203B41FA5}">
                      <a16:colId xmlns:a16="http://schemas.microsoft.com/office/drawing/2014/main" val="20003"/>
                    </a:ext>
                  </a:extLst>
                </a:gridCol>
              </a:tblGrid>
              <a:tr h="285446">
                <a:tc>
                  <a:txBody>
                    <a:bodyPr/>
                    <a:lstStyle/>
                    <a:p>
                      <a:pPr>
                        <a:defRPr/>
                      </a:pPr>
                      <a:r>
                        <a:rPr lang="ko-KR" altLang="en-US" sz="1500"/>
                        <a:t>번호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500"/>
                        <a:t>핵심 특징</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500"/>
                        <a:t>영화제 비젼 </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500"/>
                        <a:t>구체적 실현 전략</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1092320">
                <a:tc>
                  <a:txBody>
                    <a:bodyPr/>
                    <a:lstStyle/>
                    <a:p>
                      <a:pPr algn="l">
                        <a:defRPr/>
                      </a:pPr>
                      <a:r>
                        <a:rPr sz="1500" b="0" i="0" strike="noStrike">
                          <a:solidFill>
                            <a:srgbClr val="000000">
                              <a:alpha val="100000"/>
                            </a:srgbClr>
                          </a:solidFill>
                          <a:latin typeface="Arial"/>
                          <a:ea typeface="굴림"/>
                        </a:rPr>
                        <a:t>1</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아시아와 헐리우드의 만남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"The Gateway: 아시아-헐리우드, 새로운 물결의 시작"</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개막식 및 레드카펫: 인스파이어 아레나 및 오로라 활용, 글로벌·아시아 스타 공동 레드카펫. 비즈니스 &amp; 포럼: MICE 시설에서 공동 제작 및 투자 유치 포럼 개최.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825391">
                <a:tc>
                  <a:txBody>
                    <a:bodyPr/>
                    <a:lstStyle/>
                    <a:p>
                      <a:pPr algn="l">
                        <a:defRPr/>
                      </a:pPr>
                      <a:r>
                        <a:rPr sz="1500" b="0" i="0" strike="noStrike">
                          <a:solidFill>
                            <a:srgbClr val="000000">
                              <a:alpha val="100000"/>
                            </a:srgbClr>
                          </a:solidFill>
                          <a:latin typeface="Arial"/>
                          <a:ea typeface="굴림"/>
                        </a:rPr>
                        <a:t>2</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모바일/야영/평가/상영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"모두가 감독, 모두가 비평가: NextWave Creator Camp"</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디스커버리 파크에 국제 야영장 조성. 참가자들이 모바일폰으로 영화를 제작하고, 야외 대형 스크린에서 상영 및 상호 평가 진행.</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892703">
                <a:tc>
                  <a:txBody>
                    <a:bodyPr/>
                    <a:lstStyle/>
                    <a:p>
                      <a:pPr algn="l">
                        <a:defRPr/>
                      </a:pPr>
                      <a:r>
                        <a:rPr sz="1500" b="0" i="0" strike="noStrike">
                          <a:solidFill>
                            <a:srgbClr val="000000">
                              <a:alpha val="100000"/>
                            </a:srgbClr>
                          </a:solidFill>
                          <a:latin typeface="Arial"/>
                          <a:ea typeface="굴림"/>
                        </a:rPr>
                        <a:t>3</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메소드필름페스타 융합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"Method-Indie Channel: 독립영화 정신 계승"</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'i-NWFF 메소드필름 인디 섹션' 신설. 공동 심사 및 초청을 통해 독립영화의 권위를 확보. 인접 CGV 상영관을 인디 영화 전용관으로 운영.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623453">
                <a:tc>
                  <a:txBody>
                    <a:bodyPr/>
                    <a:lstStyle/>
                    <a:p>
                      <a:pPr algn="l">
                        <a:defRPr/>
                      </a:pPr>
                      <a:r>
                        <a:rPr sz="1500" b="0" i="0" strike="noStrike">
                          <a:solidFill>
                            <a:srgbClr val="000000">
                              <a:alpha val="100000"/>
                            </a:srgbClr>
                          </a:solidFill>
                          <a:latin typeface="Arial"/>
                          <a:ea typeface="굴림"/>
                        </a:rPr>
                        <a:t>4</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헐리우드 유명배우 참여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"Star Power &amp; Global Mentoring"</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헐리우드 A급 배우 출연작 상영 및 배우 초청. 아레나에서 '글로벌 멘토링 클래스' 운영.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623453">
                <a:tc>
                  <a:txBody>
                    <a:bodyPr/>
                    <a:lstStyle/>
                    <a:p>
                      <a:pPr algn="l">
                        <a:defRPr/>
                      </a:pPr>
                      <a:r>
                        <a:rPr sz="1500" b="0" i="0" strike="noStrike">
                          <a:solidFill>
                            <a:srgbClr val="000000">
                              <a:alpha val="100000"/>
                            </a:srgbClr>
                          </a:solidFill>
                          <a:latin typeface="Arial"/>
                          <a:ea typeface="굴림"/>
                        </a:rPr>
                        <a:t>5</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인천-하와이 교차 개최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"Dual-Hub Strategy: 아시아-태평양 문화 교류"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1~3회는 인천 기반 구축, 4회부터 하와이 국제영화제와 협력하여 교차 개최 로드맵 수립.</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r h="690766">
                <a:tc>
                  <a:txBody>
                    <a:bodyPr/>
                    <a:lstStyle/>
                    <a:p>
                      <a:pPr algn="l">
                        <a:defRPr/>
                      </a:pPr>
                      <a:r>
                        <a:rPr sz="1500" b="0" i="0" strike="noStrike">
                          <a:solidFill>
                            <a:srgbClr val="000000">
                              <a:alpha val="100000"/>
                            </a:srgbClr>
                          </a:solidFill>
                          <a:latin typeface="Arial"/>
                          <a:ea typeface="굴림"/>
                        </a:rPr>
                        <a:t>6</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K-컬처 융합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"Beyond Cinema: K-WAVE Festival"</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디스커버리 파크 내 K-팝 미니 콘서트/버스킹 존, K-푸드 팝업 스토어, K-뷰티 체험 부스를 통합 운영.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Organization</a:t>
            </a:r>
          </a:p>
        </p:txBody>
      </p:sp>
      <p:sp>
        <p:nvSpPr>
          <p:cNvPr id="3" name="내용 개체 틀 2"/>
          <p:cNvSpPr>
            <a:spLocks noGrp="1"/>
          </p:cNvSpPr>
          <p:nvPr>
            <p:ph idx="1"/>
          </p:nvPr>
        </p:nvSpPr>
        <p:spPr/>
        <p:txBody>
          <a:bodyPr/>
          <a:lstStyle/>
          <a:p>
            <a:pPr>
              <a:defRPr/>
            </a:pPr>
            <a:r>
              <a:rPr lang="ko-KR" altLang="en-US"/>
              <a:t>2.1 조직도 (3단계)</a:t>
            </a:r>
          </a:p>
          <a:p>
            <a:pPr>
              <a:defRPr/>
            </a:pPr>
            <a:r>
              <a:rPr lang="ko-KR" altLang="en-US"/>
              <a:t>추진 위원회 (위원장)</a:t>
            </a:r>
          </a:p>
          <a:p>
            <a:pPr>
              <a:defRPr/>
            </a:pPr>
            <a:r>
              <a:rPr lang="ko-KR" altLang="en-US"/>
              <a:t>총괄사업추진단장</a:t>
            </a:r>
          </a:p>
          <a:p>
            <a:pPr>
              <a:defRPr/>
            </a:pPr>
            <a:r>
              <a:rPr lang="ko-KR" altLang="en-US"/>
              <a:t>예술 전략 및 감독</a:t>
            </a:r>
            <a:r>
              <a:rPr lang="en-US" altLang="ko-KR"/>
              <a:t>  </a:t>
            </a:r>
            <a:r>
              <a:rPr lang="ko-KR" altLang="en-US"/>
              <a:t>사무국 (집행 조직)</a:t>
            </a:r>
            <a:r>
              <a:rPr lang="en-US" altLang="ko-KR"/>
              <a:t>  </a:t>
            </a:r>
            <a:r>
              <a:rPr lang="ko-KR" altLang="en-US"/>
              <a:t>실무 운영</a:t>
            </a:r>
            <a:r>
              <a:rPr lang="en-US" altLang="ko-KR"/>
              <a:t>  </a:t>
            </a:r>
            <a:r>
              <a:rPr lang="ko-KR" altLang="en-US"/>
              <a:t>전문 위원회 &amp; 파트너</a:t>
            </a:r>
          </a:p>
          <a:p>
            <a:pPr>
              <a:defRPr/>
            </a:pPr>
            <a:endParaRPr lang="ko-KR" altLang="en-US"/>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Organization</a:t>
            </a:r>
          </a:p>
        </p:txBody>
      </p:sp>
      <p:graphicFrame>
        <p:nvGraphicFramePr>
          <p:cNvPr id="4" name="표 3"/>
          <p:cNvGraphicFramePr/>
          <p:nvPr/>
        </p:nvGraphicFramePr>
        <p:xfrm>
          <a:off x="691772" y="1512120"/>
          <a:ext cx="10892791" cy="4786983"/>
        </p:xfrm>
        <a:graphic>
          <a:graphicData uri="http://schemas.openxmlformats.org/drawingml/2006/table">
            <a:tbl>
              <a:tblPr firstRow="1" bandRow="1"/>
              <a:tblGrid>
                <a:gridCol w="3630930">
                  <a:extLst>
                    <a:ext uri="{9D8B030D-6E8A-4147-A177-3AD203B41FA5}">
                      <a16:colId xmlns:a16="http://schemas.microsoft.com/office/drawing/2014/main" val="20000"/>
                    </a:ext>
                  </a:extLst>
                </a:gridCol>
                <a:gridCol w="2854819">
                  <a:extLst>
                    <a:ext uri="{9D8B030D-6E8A-4147-A177-3AD203B41FA5}">
                      <a16:colId xmlns:a16="http://schemas.microsoft.com/office/drawing/2014/main" val="20001"/>
                    </a:ext>
                  </a:extLst>
                </a:gridCol>
                <a:gridCol w="4407042">
                  <a:extLst>
                    <a:ext uri="{9D8B030D-6E8A-4147-A177-3AD203B41FA5}">
                      <a16:colId xmlns:a16="http://schemas.microsoft.com/office/drawing/2014/main" val="20002"/>
                    </a:ext>
                  </a:extLst>
                </a:gridCol>
              </a:tblGrid>
              <a:tr h="298862">
                <a:tc>
                  <a:txBody>
                    <a:bodyPr/>
                    <a:lstStyle/>
                    <a:p>
                      <a:pPr>
                        <a:defRPr/>
                      </a:pPr>
                      <a:r>
                        <a:rPr lang="ko-KR" altLang="en-US" sz="1500"/>
                        <a:t>그룹</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500"/>
                        <a:t>조직 역할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sz="1500"/>
                        <a:t>주요 임무 및 참여 명분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420507">
                <a:tc>
                  <a:txBody>
                    <a:bodyPr/>
                    <a:lstStyle/>
                    <a:p>
                      <a:pPr algn="l">
                        <a:defRPr/>
                      </a:pPr>
                      <a:r>
                        <a:rPr sz="1500" b="0" i="0" strike="noStrike">
                          <a:solidFill>
                            <a:srgbClr val="000000">
                              <a:alpha val="100000"/>
                            </a:srgbClr>
                          </a:solidFill>
                          <a:latin typeface="Arial"/>
                          <a:ea typeface="굴림"/>
                        </a:rPr>
                        <a:t>인천광역시 &amp; 인천국제공항공사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조직위원회 및 공동 주최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행정/재정 지원, 국제 협력, 장소 사용 허가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658131">
                <a:tc>
                  <a:txBody>
                    <a:bodyPr/>
                    <a:lstStyle/>
                    <a:p>
                      <a:pPr algn="l">
                        <a:defRPr/>
                      </a:pPr>
                      <a:r>
                        <a:rPr sz="1500" b="0" i="0" strike="noStrike">
                          <a:solidFill>
                            <a:srgbClr val="000000">
                              <a:alpha val="100000"/>
                            </a:srgbClr>
                          </a:solidFill>
                          <a:latin typeface="Arial"/>
                          <a:ea typeface="굴림"/>
                        </a:rPr>
                        <a:t>인스파이어 리조트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집행위원회 및 공동 주최</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주요 시설 제공 및 운영, 숙박/F&amp;B 협력, 마케팅/홍보 협력</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477735">
                <a:tc>
                  <a:txBody>
                    <a:bodyPr/>
                    <a:lstStyle/>
                    <a:p>
                      <a:pPr algn="l">
                        <a:defRPr/>
                      </a:pPr>
                      <a:r>
                        <a:rPr sz="1500" b="0" i="0" strike="noStrike">
                          <a:solidFill>
                            <a:srgbClr val="000000">
                              <a:alpha val="100000"/>
                            </a:srgbClr>
                          </a:solidFill>
                          <a:latin typeface="Arial"/>
                          <a:ea typeface="굴림"/>
                        </a:rPr>
                        <a:t>CGV (또는 주요 영화관 체인)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실무 집행 (상영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상영관 시설 제공 및 기술 운영, 티켓 시스템 연동</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567933">
                <a:tc>
                  <a:txBody>
                    <a:bodyPr/>
                    <a:lstStyle/>
                    <a:p>
                      <a:pPr algn="l">
                        <a:defRPr/>
                      </a:pPr>
                      <a:r>
                        <a:rPr sz="1500" b="0" i="0" strike="noStrike">
                          <a:solidFill>
                            <a:srgbClr val="000000">
                              <a:alpha val="100000"/>
                            </a:srgbClr>
                          </a:solidFill>
                          <a:latin typeface="Arial"/>
                          <a:ea typeface="굴림"/>
                        </a:rPr>
                        <a:t>한국 영화진흥위원회(KOFIC) &amp; 영상위원회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전문 위원회 (심사/교육)</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국내 독립 영화 발굴 및 지원, 영화 인력 양성 프로그램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658131">
                <a:tc>
                  <a:txBody>
                    <a:bodyPr/>
                    <a:lstStyle/>
                    <a:p>
                      <a:pPr algn="l">
                        <a:defRPr/>
                      </a:pPr>
                      <a:r>
                        <a:rPr sz="1500" b="0" i="0" strike="noStrike">
                          <a:solidFill>
                            <a:srgbClr val="000000">
                              <a:alpha val="100000"/>
                            </a:srgbClr>
                          </a:solidFill>
                          <a:latin typeface="Arial"/>
                          <a:ea typeface="굴림"/>
                        </a:rPr>
                        <a:t>메소드필름페스타(Method Fest)</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전문 위원회 (해외 협력)</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독립 영화 섹션 공동 기획, 헐리우드 독립영화인 네트워크 연계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r h="567933">
                <a:tc>
                  <a:txBody>
                    <a:bodyPr/>
                    <a:lstStyle/>
                    <a:p>
                      <a:pPr algn="l">
                        <a:defRPr/>
                      </a:pPr>
                      <a:r>
                        <a:rPr sz="1500" b="0" i="0" strike="noStrike">
                          <a:solidFill>
                            <a:srgbClr val="000000">
                              <a:alpha val="100000"/>
                            </a:srgbClr>
                          </a:solidFill>
                          <a:latin typeface="Arial"/>
                          <a:ea typeface="굴림"/>
                        </a:rPr>
                        <a:t>글로벌 콘텐츠 에이전시 (CAA, UTA)</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전문 위원회 (스타 섭외)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헐리우드 유명 배우 및 감독 초청 대행, 비즈니스 미팅 주선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6"/>
                  </a:ext>
                </a:extLst>
              </a:tr>
              <a:tr h="512335">
                <a:tc>
                  <a:txBody>
                    <a:bodyPr/>
                    <a:lstStyle/>
                    <a:p>
                      <a:pPr algn="l">
                        <a:defRPr/>
                      </a:pPr>
                      <a:r>
                        <a:rPr sz="1500" b="0" i="0" strike="noStrike">
                          <a:solidFill>
                            <a:srgbClr val="000000">
                              <a:alpha val="100000"/>
                            </a:srgbClr>
                          </a:solidFill>
                          <a:latin typeface="Arial"/>
                          <a:ea typeface="굴림"/>
                        </a:rPr>
                        <a:t>엔터테인먼트 기획사 (하이브, JYP 등)</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파트너 그룹 (K-컬처 융합)</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500" b="0" i="0" strike="noStrike">
                          <a:solidFill>
                            <a:srgbClr val="000000">
                              <a:alpha val="100000"/>
                            </a:srgbClr>
                          </a:solidFill>
                          <a:latin typeface="Arial"/>
                          <a:ea typeface="굴림"/>
                        </a:rPr>
                        <a:t>K-팝 공연 콘텐츠 제공, K-뷰티/푸드 프로그램 기획 협력</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7"/>
                  </a:ext>
                </a:extLst>
              </a:tr>
              <a:tr h="567933">
                <a:tc>
                  <a:txBody>
                    <a:bodyPr/>
                    <a:lstStyle/>
                    <a:p>
                      <a:pPr algn="l">
                        <a:defRPr/>
                      </a:pPr>
                      <a:r>
                        <a:rPr sz="1500" b="0" i="0" strike="noStrike">
                          <a:solidFill>
                            <a:srgbClr val="000000">
                              <a:alpha val="100000"/>
                            </a:srgbClr>
                          </a:solidFill>
                          <a:latin typeface="Arial"/>
                          <a:ea typeface="굴림"/>
                        </a:rPr>
                        <a:t>통신사/IT 기업 (SKT, KT)</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500" b="0" i="0" strike="noStrike">
                          <a:solidFill>
                            <a:srgbClr val="000000">
                              <a:alpha val="100000"/>
                            </a:srgbClr>
                          </a:solidFill>
                          <a:latin typeface="Arial"/>
                          <a:ea typeface="굴림"/>
                        </a:rPr>
                        <a:t>파트너 그룹 (모바일 영화)</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500" b="0" i="0" strike="noStrike">
                          <a:solidFill>
                            <a:srgbClr val="000000">
                              <a:alpha val="100000"/>
                            </a:srgbClr>
                          </a:solidFill>
                          <a:latin typeface="Arial"/>
                          <a:ea typeface="굴림"/>
                        </a:rPr>
                        <a:t>모바일 영화 제작 키트 및 기술 지원, 5G 라이브 스트리밍</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a:t>
            </a:r>
            <a:r>
              <a:rPr lang="en-US" altLang="ko-KR"/>
              <a:t> </a:t>
            </a:r>
            <a:r>
              <a:rPr lang="ko-KR" altLang="en-US"/>
              <a:t>3-Year Roadmap</a:t>
            </a:r>
          </a:p>
        </p:txBody>
      </p:sp>
      <p:sp>
        <p:nvSpPr>
          <p:cNvPr id="3" name="내용 개체 틀 2"/>
          <p:cNvSpPr>
            <a:spLocks noGrp="1"/>
          </p:cNvSpPr>
          <p:nvPr>
            <p:ph idx="1"/>
          </p:nvPr>
        </p:nvSpPr>
        <p:spPr/>
        <p:txBody>
          <a:bodyPr>
            <a:normAutofit lnSpcReduction="10000"/>
          </a:bodyPr>
          <a:lstStyle/>
          <a:p>
            <a:pPr>
              <a:defRPr/>
            </a:pPr>
            <a:r>
              <a:rPr lang="ko-KR" altLang="en-US"/>
              <a:t>1단계 Foundation — 1회</a:t>
            </a:r>
          </a:p>
          <a:p>
            <a:pPr>
              <a:defRPr/>
            </a:pPr>
            <a:r>
              <a:rPr lang="ko-KR" altLang="en-US"/>
              <a:t>목표: 영화제의 성공적 런칭 및 글로벌 인지도의 기반 마련</a:t>
            </a:r>
          </a:p>
          <a:p>
            <a:pPr>
              <a:defRPr/>
            </a:pPr>
            <a:endParaRPr lang="ko-KR" altLang="en-US"/>
          </a:p>
          <a:p>
            <a:pPr>
              <a:defRPr/>
            </a:pPr>
            <a:r>
              <a:rPr lang="ko-KR" altLang="en-US"/>
              <a:t>공식 조직위/집행위원회 발족 (인천시-인스파이어-메소드 파트너십)</a:t>
            </a:r>
          </a:p>
          <a:p>
            <a:pPr>
              <a:defRPr/>
            </a:pPr>
            <a:r>
              <a:rPr lang="ko-KR" altLang="en-US"/>
              <a:t>아레나 개막식 &amp; CGV 상영관 인디 섹션 운영 집중</a:t>
            </a:r>
          </a:p>
          <a:p>
            <a:pPr>
              <a:defRPr/>
            </a:pPr>
            <a:r>
              <a:rPr lang="ko-KR" altLang="en-US"/>
              <a:t>'NextWave Creator Camp' 시범 운영 (국내외 100팀 제한)</a:t>
            </a:r>
          </a:p>
          <a:p>
            <a:pPr>
              <a:defRPr/>
            </a:pPr>
            <a:r>
              <a:rPr lang="ko-KR" altLang="en-US"/>
              <a:t>K-팝 연계 미니 콘서트 도입</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a:t>
            </a:r>
            <a:r>
              <a:rPr lang="en-US" altLang="ko-KR"/>
              <a:t> </a:t>
            </a:r>
            <a:r>
              <a:rPr lang="ko-KR" altLang="en-US"/>
              <a:t>3-Year Roadmap</a:t>
            </a:r>
          </a:p>
        </p:txBody>
      </p:sp>
      <p:sp>
        <p:nvSpPr>
          <p:cNvPr id="3" name="내용 개체 틀 2"/>
          <p:cNvSpPr>
            <a:spLocks noGrp="1"/>
          </p:cNvSpPr>
          <p:nvPr>
            <p:ph idx="1"/>
          </p:nvPr>
        </p:nvSpPr>
        <p:spPr/>
        <p:txBody>
          <a:bodyPr>
            <a:normAutofit lnSpcReduction="10000"/>
          </a:bodyPr>
          <a:lstStyle/>
          <a:p>
            <a:pPr>
              <a:defRPr/>
            </a:pPr>
            <a:r>
              <a:rPr lang="ko-KR" altLang="en-US"/>
              <a:t>2단계 Expansion — 2회</a:t>
            </a:r>
          </a:p>
          <a:p>
            <a:pPr>
              <a:defRPr/>
            </a:pPr>
            <a:r>
              <a:rPr lang="ko-KR" altLang="en-US"/>
              <a:t>목표: 아시아-헐리우드 비즈니스 플랫폼 기능 강화 및 프로그램 확장</a:t>
            </a:r>
          </a:p>
          <a:p>
            <a:pPr>
              <a:defRPr/>
            </a:pPr>
            <a:endParaRPr lang="ko-KR" altLang="en-US"/>
          </a:p>
          <a:p>
            <a:pPr>
              <a:defRPr/>
            </a:pPr>
            <a:r>
              <a:rPr lang="ko-KR" altLang="en-US"/>
              <a:t>'아시아-헐리우드 비즈니스 마켓' 정식 런칭 및 MICE 활용</a:t>
            </a:r>
          </a:p>
          <a:p>
            <a:pPr>
              <a:defRPr/>
            </a:pPr>
            <a:r>
              <a:rPr lang="ko-KR" altLang="en-US"/>
              <a:t>헐리우드 유명 배우 마스터 클래스 정례화 및 확대</a:t>
            </a:r>
          </a:p>
          <a:p>
            <a:pPr>
              <a:defRPr/>
            </a:pPr>
            <a:r>
              <a:rPr lang="ko-KR" altLang="en-US"/>
              <a:t>디스커버리 파크 국제 야영/모바일 영화제 규모 2배 확장</a:t>
            </a:r>
          </a:p>
          <a:p>
            <a:pPr>
              <a:defRPr/>
            </a:pPr>
            <a:r>
              <a:rPr lang="ko-KR" altLang="en-US"/>
              <a:t>K-컬처 연계 프로그램(푸드, 뷰티) 대폭 강화</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a:t>
            </a:r>
            <a:r>
              <a:rPr lang="en-US" altLang="ko-KR"/>
              <a:t> </a:t>
            </a:r>
            <a:r>
              <a:rPr lang="ko-KR" altLang="en-US"/>
              <a:t>3-Year Roadmap</a:t>
            </a:r>
          </a:p>
        </p:txBody>
      </p:sp>
      <p:sp>
        <p:nvSpPr>
          <p:cNvPr id="3" name="내용 개체 틀 2"/>
          <p:cNvSpPr>
            <a:spLocks noGrp="1"/>
          </p:cNvSpPr>
          <p:nvPr>
            <p:ph idx="1"/>
          </p:nvPr>
        </p:nvSpPr>
        <p:spPr/>
        <p:txBody>
          <a:bodyPr/>
          <a:lstStyle/>
          <a:p>
            <a:pPr>
              <a:defRPr/>
            </a:pPr>
            <a:r>
              <a:rPr lang="ko-KR" altLang="en-US"/>
              <a:t>3단계 Globalization — 3회</a:t>
            </a:r>
          </a:p>
          <a:p>
            <a:pPr>
              <a:defRPr/>
            </a:pPr>
            <a:r>
              <a:rPr lang="ko-KR" altLang="en-US"/>
              <a:t>목표: 아시아 대표 영화제 도약 및 인천-하와이 교차 개최 준비 완료</a:t>
            </a:r>
          </a:p>
          <a:p>
            <a:pPr>
              <a:defRPr/>
            </a:pPr>
            <a:endParaRPr lang="ko-KR" altLang="en-US"/>
          </a:p>
          <a:p>
            <a:pPr>
              <a:defRPr/>
            </a:pPr>
            <a:r>
              <a:rPr lang="ko-KR" altLang="en-US"/>
              <a:t>하와이 국제영화제와 공식 협력 MOU 체결 및 교차 개최 로드맵 확정</a:t>
            </a:r>
          </a:p>
          <a:p>
            <a:pPr>
              <a:defRPr/>
            </a:pPr>
            <a:r>
              <a:rPr lang="ko-KR" altLang="en-US"/>
              <a:t>메소드 섹션을 공식 경쟁 부문으로 격상</a:t>
            </a:r>
          </a:p>
          <a:p>
            <a:pPr>
              <a:defRPr/>
            </a:pPr>
            <a:r>
              <a:rPr lang="ko-KR" altLang="en-US"/>
              <a:t>3개년 성과 분석 및 장기 비전 수립</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공간 활용 및 프로그램 배치 계획</a:t>
            </a:r>
          </a:p>
        </p:txBody>
      </p:sp>
      <p:graphicFrame>
        <p:nvGraphicFramePr>
          <p:cNvPr id="4" name="표 3"/>
          <p:cNvGraphicFramePr/>
          <p:nvPr/>
        </p:nvGraphicFramePr>
        <p:xfrm>
          <a:off x="691772" y="1502595"/>
          <a:ext cx="10890625" cy="4728391"/>
        </p:xfrm>
        <a:graphic>
          <a:graphicData uri="http://schemas.openxmlformats.org/drawingml/2006/table">
            <a:tbl>
              <a:tblPr firstRow="1" bandRow="1"/>
              <a:tblGrid>
                <a:gridCol w="3492165">
                  <a:extLst>
                    <a:ext uri="{9D8B030D-6E8A-4147-A177-3AD203B41FA5}">
                      <a16:colId xmlns:a16="http://schemas.microsoft.com/office/drawing/2014/main" val="20000"/>
                    </a:ext>
                  </a:extLst>
                </a:gridCol>
                <a:gridCol w="6114992">
                  <a:extLst>
                    <a:ext uri="{9D8B030D-6E8A-4147-A177-3AD203B41FA5}">
                      <a16:colId xmlns:a16="http://schemas.microsoft.com/office/drawing/2014/main" val="20001"/>
                    </a:ext>
                  </a:extLst>
                </a:gridCol>
                <a:gridCol w="1283468">
                  <a:extLst>
                    <a:ext uri="{9D8B030D-6E8A-4147-A177-3AD203B41FA5}">
                      <a16:colId xmlns:a16="http://schemas.microsoft.com/office/drawing/2014/main" val="20002"/>
                    </a:ext>
                  </a:extLst>
                </a:gridCol>
              </a:tblGrid>
              <a:tr h="345377">
                <a:tc>
                  <a:txBody>
                    <a:bodyPr/>
                    <a:lstStyle/>
                    <a:p>
                      <a:pPr>
                        <a:defRPr/>
                      </a:pPr>
                      <a:r>
                        <a:rPr lang="ko-KR" altLang="en-US"/>
                        <a:t>장소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주요 프로그램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활용특징</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711048">
                <a:tc>
                  <a:txBody>
                    <a:bodyPr/>
                    <a:lstStyle/>
                    <a:p>
                      <a:pPr algn="l">
                        <a:defRPr/>
                      </a:pPr>
                      <a:r>
                        <a:rPr sz="1800" b="0" i="0" strike="noStrike">
                          <a:solidFill>
                            <a:srgbClr val="000000">
                              <a:alpha val="100000"/>
                            </a:srgbClr>
                          </a:solidFill>
                          <a:latin typeface="Arial"/>
                          <a:ea typeface="굴림"/>
                        </a:rPr>
                        <a:t>인스파이어 아레나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개막/폐막식 및 레드카펫, K-팝 스타 초청 '갈라 콘서트'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1, 4, 6</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979543">
                <a:tc>
                  <a:txBody>
                    <a:bodyPr/>
                    <a:lstStyle/>
                    <a:p>
                      <a:pPr algn="l">
                        <a:defRPr/>
                      </a:pPr>
                      <a:r>
                        <a:rPr sz="18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'NextWave Creator Camp', 야외 상영 및 평가회, K-푸드/K-뷰티 체험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2, 6</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845296">
                <a:tc>
                  <a:txBody>
                    <a:bodyPr/>
                    <a:lstStyle/>
                    <a:p>
                      <a:pPr algn="l">
                        <a:defRPr/>
                      </a:pPr>
                      <a:r>
                        <a:rPr sz="1800" b="0" i="0" strike="noStrike">
                          <a:solidFill>
                            <a:srgbClr val="000000">
                              <a:alpha val="100000"/>
                            </a:srgbClr>
                          </a:solidFill>
                          <a:latin typeface="Arial"/>
                          <a:ea typeface="굴림"/>
                        </a:rPr>
                        <a:t>인스파이어 MICE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아시아-헐리우드 공동 제작 포럼/마켓, 마스터 클래스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1, 4</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845296">
                <a:tc>
                  <a:txBody>
                    <a:bodyPr/>
                    <a:lstStyle/>
                    <a:p>
                      <a:pPr algn="l">
                        <a:defRPr/>
                      </a:pPr>
                      <a:r>
                        <a:rPr sz="1800" b="0" i="0" strike="noStrike">
                          <a:solidFill>
                            <a:srgbClr val="000000">
                              <a:alpha val="100000"/>
                            </a:srgbClr>
                          </a:solidFill>
                          <a:latin typeface="Arial"/>
                          <a:ea typeface="굴림"/>
                        </a:rPr>
                        <a:t>인접 CGV 등 상영관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'메소드-인디 섹션' 전용 상영관, 일반 초청작/경쟁작 상영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3</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979543">
                <a:tc>
                  <a:txBody>
                    <a:bodyPr/>
                    <a:lstStyle/>
                    <a:p>
                      <a:pPr algn="l">
                        <a:defRPr/>
                      </a:pPr>
                      <a:r>
                        <a:rPr sz="1800" b="0" i="0" strike="noStrike">
                          <a:solidFill>
                            <a:srgbClr val="000000">
                              <a:alpha val="100000"/>
                            </a:srgbClr>
                          </a:solidFill>
                          <a:latin typeface="Arial"/>
                          <a:ea typeface="굴림"/>
                        </a:rPr>
                        <a:t>오로라 (디지털 스트리트)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모바일 영화 수상작 디지털 미디어 상영, 포토존 및 스폰서십 공간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2, 6</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en-US" altLang="ko-KR"/>
              <a:t>5</a:t>
            </a:r>
            <a:r>
              <a:rPr lang="ko-KR" altLang="en-US"/>
              <a:t>. A-to-Z Roadmap</a:t>
            </a:r>
          </a:p>
        </p:txBody>
      </p:sp>
      <p:sp>
        <p:nvSpPr>
          <p:cNvPr id="3" name="내용 개체 틀 2"/>
          <p:cNvSpPr>
            <a:spLocks noGrp="1"/>
          </p:cNvSpPr>
          <p:nvPr>
            <p:ph idx="1"/>
          </p:nvPr>
        </p:nvSpPr>
        <p:spPr/>
        <p:txBody>
          <a:bodyPr>
            <a:normAutofit fontScale="40000" lnSpcReduction="20000"/>
          </a:bodyPr>
          <a:lstStyle/>
          <a:p>
            <a:pPr>
              <a:defRPr/>
            </a:pPr>
            <a:r>
              <a:rPr lang="ko-KR" altLang="en-US"/>
              <a:t>전체 예산 30억 원 기준, 현금 흐름을 고려한 적시 투입 계획</a:t>
            </a:r>
          </a:p>
          <a:p>
            <a:pPr>
              <a:defRPr/>
            </a:pPr>
            <a:endParaRPr lang="ko-KR" altLang="en-US"/>
          </a:p>
          <a:p>
            <a:pPr>
              <a:defRPr/>
            </a:pPr>
            <a:r>
              <a:rPr lang="ko-KR" altLang="en-US"/>
              <a:t>.1 단계별 추진 로드맵</a:t>
            </a:r>
          </a:p>
          <a:p>
            <a:pPr>
              <a:defRPr/>
            </a:pPr>
            <a:r>
              <a:rPr lang="ko-KR" altLang="en-US"/>
              <a:t>1단계 추진위 발족 (2025.10 ~ 2026.01)</a:t>
            </a:r>
          </a:p>
          <a:p>
            <a:pPr>
              <a:defRPr/>
            </a:pPr>
            <a:r>
              <a:rPr lang="ko-KR" altLang="en-US"/>
              <a:t>핵심 목표: 법인 설립, 초기 씨드 자금 확보(2.5억), 핵심 파트너십(인스파이어, 인천시) MOU 체결</a:t>
            </a:r>
          </a:p>
          <a:p>
            <a:pPr>
              <a:defRPr/>
            </a:pPr>
            <a:endParaRPr lang="ko-KR" altLang="en-US"/>
          </a:p>
          <a:p>
            <a:pPr>
              <a:defRPr/>
            </a:pPr>
            <a:r>
              <a:rPr lang="ko-KR" altLang="en-US"/>
              <a:t>예상 비용: 2.5억 원 (인건비, 법인 설립비, CI 개발, 기획 연구비)</a:t>
            </a:r>
          </a:p>
          <a:p>
            <a:pPr>
              <a:defRPr/>
            </a:pPr>
            <a:endParaRPr lang="ko-KR" altLang="en-US"/>
          </a:p>
          <a:p>
            <a:pPr>
              <a:defRPr/>
            </a:pPr>
            <a:r>
              <a:rPr lang="ko-KR" altLang="en-US"/>
              <a:t>2단계 조직위 출범 (2026.02 ~ 2026.04)</a:t>
            </a:r>
          </a:p>
          <a:p>
            <a:pPr>
              <a:defRPr/>
            </a:pPr>
            <a:r>
              <a:rPr lang="ko-KR" altLang="en-US"/>
              <a:t>핵심 목표: 사무국 인력 채용(팀장급), 프로그램 섹션 확정, 1차 스폰서십 유치 완료(30%)</a:t>
            </a:r>
          </a:p>
          <a:p>
            <a:pPr>
              <a:defRPr/>
            </a:pPr>
            <a:endParaRPr lang="ko-KR" altLang="en-US"/>
          </a:p>
          <a:p>
            <a:pPr>
              <a:defRPr/>
            </a:pPr>
            <a:r>
              <a:rPr lang="ko-KR" altLang="en-US"/>
              <a:t>예상 비용: 5억 원 (운영비, 홈페이지 구축, 해외 게스트 섭외 착수금)</a:t>
            </a:r>
          </a:p>
          <a:p>
            <a:pPr>
              <a:defRPr/>
            </a:pPr>
            <a:endParaRPr lang="ko-KR" altLang="en-US"/>
          </a:p>
          <a:p>
            <a:pPr>
              <a:defRPr/>
            </a:pPr>
            <a:r>
              <a:rPr lang="ko-KR" altLang="en-US"/>
              <a:t>3단계 프로그램 확정 &amp; 마케팅 (2026.05 ~ 2026.07)</a:t>
            </a:r>
          </a:p>
          <a:p>
            <a:pPr>
              <a:defRPr/>
            </a:pPr>
            <a:r>
              <a:rPr lang="ko-KR" altLang="en-US"/>
              <a:t>핵심 목표: 상영작 선정, 헐리우드 스타 초청 확정, 티켓 예매 오픈, 자원활동가 모집</a:t>
            </a:r>
          </a:p>
          <a:p>
            <a:pPr>
              <a:defRPr/>
            </a:pPr>
            <a:endParaRPr lang="ko-KR" altLang="en-US"/>
          </a:p>
          <a:p>
            <a:pPr>
              <a:defRPr/>
            </a:pPr>
            <a:r>
              <a:rPr lang="ko-KR" altLang="en-US"/>
              <a:t>예상 비용: 10억 원 (게스트 항공/숙박, 홍보비, 시설 계약금)</a:t>
            </a:r>
          </a:p>
          <a:p>
            <a:pPr>
              <a:defRPr/>
            </a:pPr>
            <a:endParaRPr lang="ko-KR" altLang="en-US"/>
          </a:p>
          <a:p>
            <a:pPr>
              <a:defRPr/>
            </a:pPr>
            <a:r>
              <a:rPr lang="ko-KR" altLang="en-US"/>
              <a:t>4단계 현장 준비 &amp; 개최 (2026.08 ~ 2026.10)</a:t>
            </a:r>
          </a:p>
          <a:p>
            <a:pPr>
              <a:defRPr/>
            </a:pPr>
            <a:r>
              <a:rPr lang="ko-KR" altLang="en-US"/>
              <a:t>핵심 목표: 시설물 설치, 리허설, 영화제 개최, 안전 관리</a:t>
            </a:r>
          </a:p>
          <a:p>
            <a:pPr>
              <a:defRPr/>
            </a:pPr>
            <a:endParaRPr lang="ko-KR" altLang="en-US"/>
          </a:p>
          <a:p>
            <a:pPr>
              <a:defRPr/>
            </a:pPr>
            <a:r>
              <a:rPr lang="ko-KR" altLang="en-US"/>
              <a:t>예상 비용: 12.5억 원 (행사 운영비, 무대 설치비, 인건비, 체류비)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47500" lnSpcReduction="20000"/>
          </a:bodyPr>
          <a:lstStyle/>
          <a:p>
            <a:pPr>
              <a:defRPr/>
            </a:pPr>
            <a:r>
              <a:rPr lang="ko-KR" altLang="en-US"/>
              <a:t>2 조직위원회 구조</a:t>
            </a:r>
          </a:p>
          <a:p>
            <a:pPr>
              <a:defRPr/>
            </a:pPr>
            <a:endParaRPr lang="ko-KR" altLang="en-US"/>
          </a:p>
          <a:p>
            <a:pPr>
              <a:defRPr/>
            </a:pPr>
            <a:r>
              <a:rPr lang="ko-KR" altLang="en-US"/>
              <a:t>조직 위원장 (시장/기업인)</a:t>
            </a:r>
          </a:p>
          <a:p>
            <a:pPr>
              <a:defRPr/>
            </a:pPr>
            <a:r>
              <a:rPr lang="ko-KR" altLang="en-US"/>
              <a:t>집행 위원장 (총괄 Expert)</a:t>
            </a:r>
          </a:p>
          <a:p>
            <a:pPr>
              <a:defRPr/>
            </a:pPr>
            <a:r>
              <a:rPr lang="ko-KR" altLang="en-US"/>
              <a:t>사무국장</a:t>
            </a:r>
          </a:p>
          <a:p>
            <a:pPr>
              <a:defRPr/>
            </a:pPr>
            <a:r>
              <a:rPr lang="ko-KR" altLang="en-US"/>
              <a:t>경영지원팀</a:t>
            </a:r>
          </a:p>
          <a:p>
            <a:pPr>
              <a:defRPr/>
            </a:pPr>
            <a:r>
              <a:rPr lang="ko-KR" altLang="en-US"/>
              <a:t>예산/계약/인사</a:t>
            </a:r>
          </a:p>
          <a:p>
            <a:pPr>
              <a:defRPr/>
            </a:pPr>
            <a:endParaRPr lang="ko-KR" altLang="en-US"/>
          </a:p>
          <a:p>
            <a:pPr>
              <a:defRPr/>
            </a:pPr>
            <a:r>
              <a:rPr lang="ko-KR" altLang="en-US"/>
              <a:t>프로그램팀</a:t>
            </a:r>
          </a:p>
          <a:p>
            <a:pPr>
              <a:defRPr/>
            </a:pPr>
            <a:r>
              <a:rPr lang="ko-KR" altLang="en-US"/>
              <a:t>상영작/게스트/캠프</a:t>
            </a:r>
          </a:p>
          <a:p>
            <a:pPr>
              <a:defRPr/>
            </a:pPr>
            <a:endParaRPr lang="ko-KR" altLang="en-US"/>
          </a:p>
          <a:p>
            <a:pPr>
              <a:defRPr/>
            </a:pPr>
            <a:r>
              <a:rPr lang="ko-KR" altLang="en-US"/>
              <a:t>운영/기술팀</a:t>
            </a:r>
          </a:p>
          <a:p>
            <a:pPr>
              <a:defRPr/>
            </a:pPr>
            <a:r>
              <a:rPr lang="ko-KR" altLang="en-US"/>
              <a:t>현장/영사/셔틀</a:t>
            </a:r>
          </a:p>
          <a:p>
            <a:pPr>
              <a:defRPr/>
            </a:pPr>
            <a:endParaRPr lang="ko-KR" altLang="en-US"/>
          </a:p>
          <a:p>
            <a:pPr>
              <a:defRPr/>
            </a:pPr>
            <a:r>
              <a:rPr lang="ko-KR" altLang="en-US"/>
              <a:t>홍보마케팅팀</a:t>
            </a:r>
          </a:p>
          <a:p>
            <a:pPr>
              <a:defRPr/>
            </a:pPr>
            <a:r>
              <a:rPr lang="ko-KR" altLang="en-US"/>
              <a:t>티켓/SNS/프레스</a:t>
            </a:r>
          </a:p>
          <a:p>
            <a:pPr>
              <a:defRPr/>
            </a:pPr>
            <a:endParaRPr lang="ko-KR" altLang="en-US"/>
          </a:p>
          <a:p>
            <a:pPr>
              <a:defRPr/>
            </a:pPr>
            <a:r>
              <a:rPr lang="ko-KR" altLang="en-US"/>
              <a:t>대외협력팀</a:t>
            </a:r>
          </a:p>
          <a:p>
            <a:pPr>
              <a:defRPr/>
            </a:pPr>
            <a:r>
              <a:rPr lang="ko-KR" altLang="en-US"/>
              <a:t>스폰서/정부/MOU</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p:nvPr/>
        </p:nvGraphicFramePr>
        <p:xfrm>
          <a:off x="609599" y="2343036"/>
          <a:ext cx="10972797" cy="3931141"/>
        </p:xfrm>
        <a:graphic>
          <a:graphicData uri="http://schemas.openxmlformats.org/drawingml/2006/table">
            <a:tbl>
              <a:tblPr firstRow="1" bandRow="1"/>
              <a:tblGrid>
                <a:gridCol w="3657599">
                  <a:extLst>
                    <a:ext uri="{9D8B030D-6E8A-4147-A177-3AD203B41FA5}">
                      <a16:colId xmlns:a16="http://schemas.microsoft.com/office/drawing/2014/main" val="20000"/>
                    </a:ext>
                  </a:extLst>
                </a:gridCol>
                <a:gridCol w="3657599">
                  <a:extLst>
                    <a:ext uri="{9D8B030D-6E8A-4147-A177-3AD203B41FA5}">
                      <a16:colId xmlns:a16="http://schemas.microsoft.com/office/drawing/2014/main" val="20001"/>
                    </a:ext>
                  </a:extLst>
                </a:gridCol>
                <a:gridCol w="3657599">
                  <a:extLst>
                    <a:ext uri="{9D8B030D-6E8A-4147-A177-3AD203B41FA5}">
                      <a16:colId xmlns:a16="http://schemas.microsoft.com/office/drawing/2014/main" val="20002"/>
                    </a:ext>
                  </a:extLst>
                </a:gridCol>
              </a:tblGrid>
              <a:tr h="325463">
                <a:tc>
                  <a:txBody>
                    <a:bodyPr/>
                    <a:lstStyle/>
                    <a:p>
                      <a:pPr>
                        <a:defRPr/>
                      </a:pPr>
                      <a:r>
                        <a:rPr lang="ko-KR" altLang="en-US"/>
                        <a:t>조직</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확인 방법 (KPI)</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달성 기준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1111532">
                <a:tc>
                  <a:txBody>
                    <a:bodyPr/>
                    <a:lstStyle/>
                    <a:p>
                      <a:pPr algn="l">
                        <a:defRPr/>
                      </a:pPr>
                      <a:r>
                        <a:rPr sz="1800" b="0" i="0" strike="noStrike">
                          <a:solidFill>
                            <a:srgbClr val="000000">
                              <a:alpha val="100000"/>
                            </a:srgbClr>
                          </a:solidFill>
                          <a:latin typeface="Arial"/>
                          <a:ea typeface="굴림"/>
                        </a:rPr>
                        <a:t>프로그램팀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초청 수락서(LOI) 확보율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D-3개월까지 주요 게스트/작품 90% 계약 완료</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935002">
                <a:tc>
                  <a:txBody>
                    <a:bodyPr/>
                    <a:lstStyle/>
                    <a:p>
                      <a:pPr algn="l">
                        <a:defRPr/>
                      </a:pPr>
                      <a:r>
                        <a:rPr sz="1800" b="0" i="0" strike="noStrike">
                          <a:solidFill>
                            <a:srgbClr val="000000">
                              <a:alpha val="100000"/>
                            </a:srgbClr>
                          </a:solidFill>
                          <a:latin typeface="Arial"/>
                          <a:ea typeface="굴림"/>
                        </a:rPr>
                        <a:t>마케팅팀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티켓 예매율 및 SNS 도달률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얼리버드 10분 내 매진 / 팔로워 5만 명</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758471">
                <a:tc>
                  <a:txBody>
                    <a:bodyPr/>
                    <a:lstStyle/>
                    <a:p>
                      <a:pPr algn="l">
                        <a:defRPr/>
                      </a:pPr>
                      <a:r>
                        <a:rPr sz="1800" b="0" i="0" strike="noStrike">
                          <a:solidFill>
                            <a:srgbClr val="000000">
                              <a:alpha val="100000"/>
                            </a:srgbClr>
                          </a:solidFill>
                          <a:latin typeface="Arial"/>
                          <a:ea typeface="굴림"/>
                        </a:rPr>
                        <a:t>운영팀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시설 안전 점검 필증</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D-1개월 전 모든 시설 안전 검사 '적합' 판정</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758471">
                <a:tc>
                  <a:txBody>
                    <a:bodyPr/>
                    <a:lstStyle/>
                    <a:p>
                      <a:pPr algn="l">
                        <a:defRPr/>
                      </a:pPr>
                      <a:r>
                        <a:rPr sz="1800" b="0" i="0" strike="noStrike">
                          <a:solidFill>
                            <a:srgbClr val="000000">
                              <a:alpha val="100000"/>
                            </a:srgbClr>
                          </a:solidFill>
                          <a:latin typeface="Arial"/>
                          <a:ea typeface="굴림"/>
                        </a:rPr>
                        <a:t>대외협력팀</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800" b="0" i="0" strike="noStrike">
                          <a:solidFill>
                            <a:srgbClr val="000000">
                              <a:alpha val="100000"/>
                            </a:srgbClr>
                          </a:solidFill>
                          <a:latin typeface="Arial"/>
                          <a:ea typeface="굴림"/>
                        </a:rPr>
                        <a:t>스폰서십 입금 달성률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800" b="0" i="0" strike="noStrike">
                          <a:solidFill>
                            <a:srgbClr val="000000">
                              <a:alpha val="100000"/>
                            </a:srgbClr>
                          </a:solidFill>
                          <a:latin typeface="Arial"/>
                          <a:ea typeface="굴림"/>
                        </a:rPr>
                        <a:t>D-2개월 전 목표 후원금 100% 약정 체결</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599" y="1559523"/>
            <a:ext cx="6096000" cy="362622"/>
          </a:xfrm>
          <a:prstGeom prst="rect">
            <a:avLst/>
          </a:prstGeom>
        </p:spPr>
        <p:txBody>
          <a:bodyPr wrap="square">
            <a:spAutoFit/>
          </a:bodyPr>
          <a:lstStyle/>
          <a:p>
            <a:pPr>
              <a:defRPr/>
            </a:pPr>
            <a:r>
              <a:rPr lang="ko-KR" altLang="en-US"/>
              <a:t>3  팀별 KPI (핵심 성과 지표)</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5. Space &amp; Partners</a:t>
            </a:r>
          </a:p>
        </p:txBody>
      </p:sp>
      <p:graphicFrame>
        <p:nvGraphicFramePr>
          <p:cNvPr id="4" name="표 3"/>
          <p:cNvGraphicFramePr/>
          <p:nvPr/>
        </p:nvGraphicFramePr>
        <p:xfrm>
          <a:off x="609599" y="2343036"/>
          <a:ext cx="10972797" cy="4008204"/>
        </p:xfrm>
        <a:graphic>
          <a:graphicData uri="http://schemas.openxmlformats.org/drawingml/2006/table">
            <a:tbl>
              <a:tblPr firstRow="1" bandRow="1"/>
              <a:tblGrid>
                <a:gridCol w="3082814">
                  <a:extLst>
                    <a:ext uri="{9D8B030D-6E8A-4147-A177-3AD203B41FA5}">
                      <a16:colId xmlns:a16="http://schemas.microsoft.com/office/drawing/2014/main" val="20000"/>
                    </a:ext>
                  </a:extLst>
                </a:gridCol>
                <a:gridCol w="3624754">
                  <a:extLst>
                    <a:ext uri="{9D8B030D-6E8A-4147-A177-3AD203B41FA5}">
                      <a16:colId xmlns:a16="http://schemas.microsoft.com/office/drawing/2014/main" val="20001"/>
                    </a:ext>
                  </a:extLst>
                </a:gridCol>
                <a:gridCol w="4265229">
                  <a:extLst>
                    <a:ext uri="{9D8B030D-6E8A-4147-A177-3AD203B41FA5}">
                      <a16:colId xmlns:a16="http://schemas.microsoft.com/office/drawing/2014/main" val="20002"/>
                    </a:ext>
                  </a:extLst>
                </a:gridCol>
              </a:tblGrid>
              <a:tr h="303075">
                <a:tc>
                  <a:txBody>
                    <a:bodyPr/>
                    <a:lstStyle/>
                    <a:p>
                      <a:pPr>
                        <a:defRPr/>
                      </a:pPr>
                      <a:r>
                        <a:rPr lang="ko-KR" altLang="en-US"/>
                        <a:t>공간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면적 </a:t>
                      </a:r>
                      <a:r>
                        <a:rPr lang="en-US" altLang="ko-KR"/>
                        <a:t>/</a:t>
                      </a:r>
                      <a:r>
                        <a:rPr lang="ko-KR" altLang="en-US"/>
                        <a:t> 규모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defRPr/>
                      </a:pPr>
                      <a:r>
                        <a:rPr lang="ko-KR" altLang="en-US"/>
                        <a:t>영화제 활용 프로그램</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0"/>
                  </a:ext>
                </a:extLst>
              </a:tr>
              <a:tr h="654020">
                <a:tc>
                  <a:txBody>
                    <a:bodyPr/>
                    <a:lstStyle/>
                    <a:p>
                      <a:pPr algn="l">
                        <a:defRPr/>
                      </a:pPr>
                      <a:r>
                        <a:rPr sz="1800" b="0" i="0" strike="noStrike">
                          <a:solidFill>
                            <a:srgbClr val="000000">
                              <a:alpha val="100000"/>
                            </a:srgbClr>
                          </a:solidFill>
                          <a:latin typeface="Arial"/>
                          <a:ea typeface="굴림"/>
                        </a:rPr>
                        <a:t>인스파이어 아레나</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15,000석 다목적 공연장</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개·폐막식, 갈라 스크리닝, K-팝 콘서트, 시상식</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1"/>
                  </a:ext>
                </a:extLst>
              </a:tr>
              <a:tr h="900980">
                <a:tc>
                  <a:txBody>
                    <a:bodyPr/>
                    <a:lstStyle/>
                    <a:p>
                      <a:pPr algn="l">
                        <a:defRPr/>
                      </a:pPr>
                      <a:r>
                        <a:rPr sz="1800" b="0" i="0" strike="noStrike">
                          <a:solidFill>
                            <a:srgbClr val="000000">
                              <a:alpha val="100000"/>
                            </a:srgbClr>
                          </a:solidFill>
                          <a:latin typeface="Arial"/>
                          <a:ea typeface="굴림"/>
                        </a:rPr>
                        <a:t>디스커버리 파크</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대규모 야외 공간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Creator Camp 야영, 야외상영, 캠핑 페스티벌, K-푸드/뷰티 존</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2"/>
                  </a:ext>
                </a:extLst>
              </a:tr>
              <a:tr h="900980">
                <a:tc>
                  <a:txBody>
                    <a:bodyPr/>
                    <a:lstStyle/>
                    <a:p>
                      <a:pPr algn="l">
                        <a:defRPr/>
                      </a:pPr>
                      <a:r>
                        <a:rPr sz="1800" b="0" i="0" strike="noStrike">
                          <a:solidFill>
                            <a:srgbClr val="000000">
                              <a:alpha val="100000"/>
                            </a:srgbClr>
                          </a:solidFill>
                          <a:latin typeface="Arial"/>
                          <a:ea typeface="굴림"/>
                        </a:rPr>
                        <a:t>MICE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컨벤션·회의실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비즈니스 포럼, 마스터 클래스, 프레스 센터, 투자자 네트워킹</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3"/>
                  </a:ext>
                </a:extLst>
              </a:tr>
              <a:tr h="777500">
                <a:tc>
                  <a:txBody>
                    <a:bodyPr/>
                    <a:lstStyle/>
                    <a:p>
                      <a:pPr algn="l">
                        <a:defRPr/>
                      </a:pPr>
                      <a:r>
                        <a:rPr sz="1800" b="0" i="0" strike="noStrike">
                          <a:solidFill>
                            <a:srgbClr val="000000">
                              <a:alpha val="100000"/>
                            </a:srgbClr>
                          </a:solidFill>
                          <a:latin typeface="Arial"/>
                          <a:ea typeface="굴림"/>
                        </a:rPr>
                        <a:t>오로라(디지털 스트리트)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약 200m 디지털 미디어 조형물</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tc>
                  <a:txBody>
                    <a:bodyPr/>
                    <a:lstStyle/>
                    <a:p>
                      <a:pPr algn="l">
                        <a:defRPr/>
                      </a:pPr>
                      <a:r>
                        <a:rPr sz="1800" b="0" i="0" strike="noStrike">
                          <a:solidFill>
                            <a:srgbClr val="000000">
                              <a:alpha val="100000"/>
                            </a:srgbClr>
                          </a:solidFill>
                          <a:latin typeface="Arial"/>
                          <a:ea typeface="굴림"/>
                        </a:rPr>
                        <a:t>모바일 수상작 디지털 전시, 포토존, 스폰서 디지털 광고</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tcPr>
                </a:tc>
                <a:extLst>
                  <a:ext uri="{0D108BD9-81ED-4DB2-BD59-A6C34878D82A}">
                    <a16:rowId xmlns:a16="http://schemas.microsoft.com/office/drawing/2014/main" val="10004"/>
                  </a:ext>
                </a:extLst>
              </a:tr>
              <a:tr h="407059">
                <a:tc>
                  <a:txBody>
                    <a:bodyPr/>
                    <a:lstStyle/>
                    <a:p>
                      <a:pPr algn="l">
                        <a:defRPr/>
                      </a:pPr>
                      <a:r>
                        <a:rPr sz="1800" b="0" i="0" strike="noStrike">
                          <a:solidFill>
                            <a:srgbClr val="000000">
                              <a:alpha val="100000"/>
                            </a:srgbClr>
                          </a:solidFill>
                          <a:latin typeface="Arial"/>
                          <a:ea typeface="굴림"/>
                        </a:rPr>
                        <a:t>호텔·리조트</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800" b="0" i="0" strike="noStrike">
                          <a:solidFill>
                            <a:srgbClr val="000000">
                              <a:alpha val="100000"/>
                            </a:srgbClr>
                          </a:solidFill>
                          <a:latin typeface="Arial"/>
                          <a:ea typeface="굴림"/>
                        </a:rPr>
                        <a:t>숙박 시설</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tc>
                  <a:txBody>
                    <a:bodyPr/>
                    <a:lstStyle/>
                    <a:p>
                      <a:pPr algn="l">
                        <a:defRPr/>
                      </a:pPr>
                      <a:r>
                        <a:rPr sz="1800" b="0" i="0" strike="noStrike">
                          <a:solidFill>
                            <a:srgbClr val="000000">
                              <a:alpha val="100000"/>
                            </a:srgbClr>
                          </a:solidFill>
                          <a:latin typeface="Arial"/>
                          <a:ea typeface="굴림"/>
                        </a:rPr>
                        <a:t>VIP/게스트 숙소, 관객 패키지 연계</a:t>
                      </a: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alpha val="100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77500" lnSpcReduction="20000"/>
          </a:bodyPr>
          <a:lstStyle/>
          <a:p>
            <a:pPr>
              <a:defRPr/>
            </a:pPr>
            <a:r>
              <a:rPr lang="ko-KR" altLang="en-US"/>
              <a:t>2 인천 도심 연계 전략</a:t>
            </a:r>
          </a:p>
          <a:p>
            <a:pPr>
              <a:defRPr/>
            </a:pPr>
            <a:endParaRPr lang="ko-KR" altLang="en-US"/>
          </a:p>
          <a:p>
            <a:pPr>
              <a:defRPr/>
            </a:pPr>
            <a:endParaRPr lang="ko-KR" altLang="en-US"/>
          </a:p>
          <a:p>
            <a:pPr>
              <a:defRPr/>
            </a:pPr>
            <a:r>
              <a:rPr lang="ko-KR" altLang="en-US"/>
              <a:t>🎬 영화공간 주안</a:t>
            </a:r>
          </a:p>
          <a:p>
            <a:pPr>
              <a:defRPr/>
            </a:pPr>
            <a:r>
              <a:rPr lang="ko-KR" altLang="en-US"/>
              <a:t>인천의 독립영화 거점. 메소드-인디 섹션 위성 상영관 및 아트 스크리닝 셔틀 운영.</a:t>
            </a:r>
          </a:p>
          <a:p>
            <a:pPr>
              <a:defRPr/>
            </a:pPr>
            <a:endParaRPr lang="ko-KR" altLang="en-US"/>
          </a:p>
          <a:p>
            <a:pPr>
              <a:defRPr/>
            </a:pPr>
            <a:r>
              <a:rPr lang="ko-KR" altLang="en-US"/>
              <a:t>🏢 송도 국제도시</a:t>
            </a:r>
          </a:p>
          <a:p>
            <a:pPr>
              <a:defRPr/>
            </a:pPr>
            <a:r>
              <a:rPr lang="ko-KR" altLang="en-US"/>
              <a:t>해외 비즈니스 게스트 숙박 대안, 네트워킹 디너 및 VIP 라운지 운영.</a:t>
            </a:r>
          </a:p>
          <a:p>
            <a:pPr>
              <a:defRPr/>
            </a:pPr>
            <a:endParaRPr lang="ko-KR" altLang="en-US"/>
          </a:p>
          <a:p>
            <a:pPr>
              <a:defRPr/>
            </a:pPr>
            <a:r>
              <a:rPr lang="ko-KR" altLang="en-US"/>
              <a:t>🏛️ 인천 구도심</a:t>
            </a:r>
          </a:p>
          <a:p>
            <a:pPr>
              <a:defRPr/>
            </a:pPr>
            <a:r>
              <a:rPr lang="ko-KR" altLang="en-US"/>
              <a:t>개항장 일대 로케이션 투어, 인천 아트 시네마 연계 특별 상영.</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85000" lnSpcReduction="20000"/>
          </a:bodyPr>
          <a:lstStyle/>
          <a:p>
            <a:pPr>
              <a:defRPr/>
            </a:pPr>
            <a:r>
              <a:rPr lang="ko-KR" altLang="en-US"/>
              <a:t>3 K-컬처 파트너 네트워크</a:t>
            </a:r>
          </a:p>
          <a:p>
            <a:pPr>
              <a:defRPr/>
            </a:pPr>
            <a:endParaRPr lang="ko-KR" altLang="en-US"/>
          </a:p>
          <a:p>
            <a:pPr>
              <a:defRPr/>
            </a:pPr>
            <a:r>
              <a:rPr lang="ko-KR" altLang="en-US"/>
              <a:t>발굴 카테고리	잠재적 협력 파트너 (예시)	영화제 기여 역할</a:t>
            </a:r>
          </a:p>
          <a:p>
            <a:pPr>
              <a:defRPr/>
            </a:pPr>
            <a:r>
              <a:rPr lang="ko-KR" altLang="en-US"/>
              <a:t>K-식품 / F&amp;B	인천 지역 맛집, CJ푸드빌	K-푸드 팝업 운영, 캠프 식음 케이터링</a:t>
            </a:r>
          </a:p>
          <a:p>
            <a:pPr>
              <a:defRPr/>
            </a:pPr>
            <a:r>
              <a:rPr lang="ko-KR" altLang="en-US"/>
              <a:t>K-뷰티	아모레퍼시픽, 올리브영	메이크업 체험 부스, 스타 뷰티 클래스</a:t>
            </a:r>
          </a:p>
          <a:p>
            <a:pPr>
              <a:defRPr/>
            </a:pPr>
            <a:r>
              <a:rPr lang="ko-KR" altLang="en-US"/>
              <a:t>K-팝·엔터	하이브, JYP, SM	미니 콘서트, 팬미팅, K-팝 스타 레드카펫</a:t>
            </a:r>
          </a:p>
          <a:p>
            <a:pPr>
              <a:defRPr/>
            </a:pPr>
            <a:r>
              <a:rPr lang="ko-KR" altLang="en-US"/>
              <a:t>K-관광	인천관광공사, 한국관광공사	외국인 관광 패키지, 팸투어 운영</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6. BIFF Comparison</a:t>
            </a:r>
          </a:p>
        </p:txBody>
      </p:sp>
      <p:sp>
        <p:nvSpPr>
          <p:cNvPr id="3" name="내용 개체 틀 2"/>
          <p:cNvSpPr>
            <a:spLocks noGrp="1"/>
          </p:cNvSpPr>
          <p:nvPr>
            <p:ph idx="1"/>
          </p:nvPr>
        </p:nvSpPr>
        <p:spPr/>
        <p:txBody>
          <a:bodyPr>
            <a:normAutofit fontScale="62500" lnSpcReduction="20000"/>
          </a:bodyPr>
          <a:lstStyle/>
          <a:p>
            <a:pPr>
              <a:defRPr/>
            </a:pPr>
            <a:r>
              <a:rPr lang="ko-KR" altLang="en-US"/>
              <a:t>선배 영화제의 성과를 '벤치마크'로, IIFF만의 차별점을 '전략적 무기'로 삼는다</a:t>
            </a:r>
          </a:p>
          <a:p>
            <a:pPr>
              <a:defRPr/>
            </a:pPr>
            <a:endParaRPr lang="ko-KR" altLang="en-US"/>
          </a:p>
          <a:p>
            <a:pPr>
              <a:defRPr/>
            </a:pPr>
            <a:r>
              <a:rPr lang="ko-KR" altLang="en-US"/>
              <a:t>비교 항목	BIFF (부산국제영화제)	i-NextWave FF (인천)</a:t>
            </a:r>
          </a:p>
          <a:p>
            <a:pPr>
              <a:defRPr/>
            </a:pPr>
            <a:r>
              <a:rPr lang="ko-KR" altLang="en-US"/>
              <a:t>위상	아시아 최대 A급 국제영화제	아시아 최초 '미래형 융합 영화 플랫폼'</a:t>
            </a:r>
          </a:p>
          <a:p>
            <a:pPr>
              <a:defRPr/>
            </a:pPr>
            <a:r>
              <a:rPr lang="ko-KR" altLang="en-US"/>
              <a:t>주요 콘텐츠	정통 영화 상영 및 시상 중심	영화 + 모바일 + K-컬처 + 야영 + 공연 융합</a:t>
            </a:r>
          </a:p>
          <a:p>
            <a:pPr>
              <a:defRPr/>
            </a:pPr>
            <a:r>
              <a:rPr lang="ko-KR" altLang="en-US"/>
              <a:t>예산 규모(1회)	약 200억 원 (현재)	약 30억 원 (인스파이어 현물 포함 시 50억+)</a:t>
            </a:r>
          </a:p>
          <a:p>
            <a:pPr>
              <a:defRPr/>
            </a:pPr>
            <a:r>
              <a:rPr lang="ko-KR" altLang="en-US"/>
              <a:t>핵심 관객층	영화 관계자, 시네필	영화인 + MZ세대 + 글로벌 K-컬처 팬 + 관광객</a:t>
            </a:r>
          </a:p>
          <a:p>
            <a:pPr>
              <a:defRPr/>
            </a:pPr>
            <a:r>
              <a:rPr lang="ko-KR" altLang="en-US"/>
              <a:t>장소	영화의 전당 (부산 센텀시티)	인스파이어 리조트 + 인천 도심 상영관</a:t>
            </a:r>
          </a:p>
          <a:p>
            <a:pPr>
              <a:defRPr/>
            </a:pPr>
            <a:r>
              <a:rPr lang="ko-KR" altLang="en-US"/>
              <a:t>헐리우드 연계	매년 할리우드 스타 초청 (수동적)	Method Fest 공동 운영 (구조적 연결)</a:t>
            </a:r>
          </a:p>
          <a:p>
            <a:pPr>
              <a:defRPr/>
            </a:pPr>
            <a:r>
              <a:rPr lang="ko-KR" altLang="en-US"/>
              <a:t>차별화 무기	30년 축적된 권위와 네트워크	모바일 영화제, 야영 캠프, K-컬처 융합, 인스파이어 인프라</a:t>
            </a:r>
          </a:p>
          <a:p>
            <a:pPr>
              <a:defRPr/>
            </a:pPr>
            <a:endParaRPr lang="ko-KR" altLang="en-US"/>
          </a:p>
          <a:p>
            <a:pPr>
              <a:defRPr/>
            </a:pPr>
            <a:r>
              <a:rPr lang="ko-KR" altLang="en-US"/>
              <a:t>전략적 시사점: BIFF와 정면 경쟁이 아닌, BIFF가 커버하지 못하는 '미래형·체험형·K-컬처 융합형' 영역에서 독자적 포지션을 확보한다. BIFF가 '권위'의 영화제라면, IIFF는 '경험'의 영화제.</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0" y="2727960"/>
            <a:ext cx="6096000" cy="1403985"/>
          </a:xfrm>
          <a:prstGeom prst="rect">
            <a:avLst/>
          </a:prstGeom>
        </p:spPr>
        <p:txBody>
          <a:bodyPr wrap="square">
            <a:spAutoFit/>
          </a:bodyPr>
          <a:lstStyle/>
          <a:p>
            <a:pPr marL="0" indent="0" algn="ctr" defTabSz="914400" rtl="0" eaLnBrk="1" latinLnBrk="1" hangingPunct="1">
              <a:lnSpc>
                <a:spcPct val="100000"/>
              </a:lnSpc>
              <a:spcBef>
                <a:spcPts val="0"/>
              </a:spcBef>
              <a:spcAft>
                <a:spcPts val="0"/>
              </a:spcAft>
              <a:buNone/>
              <a:defRPr/>
            </a:pPr>
            <a:r>
              <a:rPr kumimoji="0" sz="5000" b="1" i="0" u="none" strike="noStrike" kern="1200" cap="none" spc="0" normalizeH="0" baseline="0">
                <a:solidFill>
                  <a:srgbClr val="BFBFBF"/>
                </a:solidFill>
                <a:latin typeface="Arial"/>
                <a:ea typeface="굴림"/>
              </a:rPr>
              <a:t>PART </a:t>
            </a:r>
            <a:r>
              <a:rPr kumimoji="0" lang="en-US" altLang="ko-KR" sz="5000" b="1" i="0" u="none" strike="noStrike" kern="1200" cap="none" spc="0" normalizeH="0" baseline="0">
                <a:solidFill>
                  <a:srgbClr val="BFBFBF"/>
                </a:solidFill>
                <a:latin typeface="Arial"/>
                <a:ea typeface="굴림"/>
              </a:rPr>
              <a:t>4</a:t>
            </a:r>
          </a:p>
          <a:p>
            <a:pPr marL="0" indent="0" algn="l" defTabSz="914400" rtl="0" eaLnBrk="1" latinLnBrk="1" hangingPunct="1">
              <a:lnSpc>
                <a:spcPct val="100000"/>
              </a:lnSpc>
              <a:spcBef>
                <a:spcPct val="0"/>
              </a:spcBef>
              <a:spcAft>
                <a:spcPts val="0"/>
              </a:spcAft>
              <a:buNone/>
              <a:defRPr/>
            </a:pPr>
            <a:endParaRPr kumimoji="0" sz="1800" b="0" i="0" u="none" strike="noStrike" kern="1200" cap="none" spc="0" normalizeH="0" baseline="0">
              <a:solidFill>
                <a:srgbClr val="000000"/>
              </a:solidFill>
              <a:latin typeface="Arial"/>
              <a:ea typeface="굴림"/>
            </a:endParaRPr>
          </a:p>
          <a:p>
            <a:pPr marL="0" indent="0" algn="l" defTabSz="914400" rtl="0" eaLnBrk="1" latinLnBrk="1" hangingPunct="1">
              <a:lnSpc>
                <a:spcPct val="100000"/>
              </a:lnSpc>
              <a:spcBef>
                <a:spcPct val="0"/>
              </a:spcBef>
              <a:spcAft>
                <a:spcPts val="0"/>
              </a:spcAft>
              <a:buNone/>
              <a:defRPr/>
            </a:pPr>
            <a:r>
              <a:rPr kumimoji="0" lang="ko-KR" altLang="en-US" sz="1800" b="0" i="0" u="none" strike="noStrike" kern="1200" cap="none" spc="0" normalizeH="0" baseline="0">
                <a:solidFill>
                  <a:srgbClr val="000000"/>
                </a:solidFill>
                <a:latin typeface="Arial"/>
                <a:ea typeface="굴림"/>
              </a:rPr>
              <a:t>                  재무</a:t>
            </a:r>
            <a:r>
              <a:rPr kumimoji="0" sz="1800" b="0" i="0" u="none" strike="noStrike" kern="1200" cap="none" spc="0" normalizeH="0" baseline="0">
                <a:solidFill>
                  <a:srgbClr val="000000"/>
                </a:solidFill>
                <a:latin typeface="Arial"/>
                <a:ea typeface="굴림"/>
              </a:rPr>
              <a:t> · </a:t>
            </a:r>
            <a:r>
              <a:rPr kumimoji="0" lang="en-US" altLang="ko-KR" sz="1800" b="0" i="0" u="none" strike="noStrike" kern="1200" cap="none" spc="0" normalizeH="0" baseline="0">
                <a:solidFill>
                  <a:srgbClr val="000000"/>
                </a:solidFill>
                <a:latin typeface="Arial"/>
                <a:ea typeface="굴림"/>
              </a:rPr>
              <a:t>Finance</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Budget Plan</a:t>
            </a:r>
          </a:p>
        </p:txBody>
      </p:sp>
      <p:sp>
        <p:nvSpPr>
          <p:cNvPr id="3" name="내용 개체 틀 2"/>
          <p:cNvSpPr>
            <a:spLocks noGrp="1"/>
          </p:cNvSpPr>
          <p:nvPr>
            <p:ph idx="1"/>
          </p:nvPr>
        </p:nvSpPr>
        <p:spPr/>
        <p:txBody>
          <a:bodyPr>
            <a:normAutofit fontScale="92500" lnSpcReduction="10000"/>
          </a:bodyPr>
          <a:lstStyle/>
          <a:p>
            <a:pPr>
              <a:defRPr/>
            </a:pPr>
            <a:r>
              <a:rPr lang="ko-KR" altLang="en-US"/>
              <a:t>제1회 기준, 30억 원 규모</a:t>
            </a:r>
          </a:p>
          <a:p>
            <a:pPr>
              <a:defRPr/>
            </a:pPr>
            <a:endParaRPr lang="ko-KR" altLang="en-US"/>
          </a:p>
          <a:p>
            <a:pPr>
              <a:defRPr/>
            </a:pPr>
            <a:r>
              <a:rPr lang="ko-KR" altLang="en-US"/>
              <a:t>재원 확보 (Revenues)</a:t>
            </a:r>
          </a:p>
          <a:p>
            <a:pPr>
              <a:defRPr/>
            </a:pPr>
            <a:r>
              <a:rPr lang="ko-KR" altLang="en-US"/>
              <a:t>항목	금액	비율</a:t>
            </a:r>
          </a:p>
          <a:p>
            <a:pPr>
              <a:defRPr/>
            </a:pPr>
            <a:r>
              <a:rPr lang="ko-KR" altLang="en-US"/>
              <a:t>공적 자금 (시/정부)	10억 원	33.3%</a:t>
            </a:r>
          </a:p>
          <a:p>
            <a:pPr>
              <a:defRPr/>
            </a:pPr>
            <a:r>
              <a:rPr lang="ko-KR" altLang="en-US"/>
              <a:t>기업 스폰서십 (민간)	12억 원	40.0%</a:t>
            </a:r>
          </a:p>
          <a:p>
            <a:pPr>
              <a:defRPr/>
            </a:pPr>
            <a:r>
              <a:rPr lang="ko-KR" altLang="en-US"/>
              <a:t>수익 사업 (Ticket &amp; Market)	6억 원	20.0%</a:t>
            </a:r>
          </a:p>
          <a:p>
            <a:pPr>
              <a:defRPr/>
            </a:pPr>
            <a:r>
              <a:rPr lang="ko-KR" altLang="en-US"/>
              <a:t>기타 (재단 기금 등)	2억 원	6.7%</a:t>
            </a:r>
          </a:p>
          <a:p>
            <a:pPr>
              <a:defRPr/>
            </a:pPr>
            <a:r>
              <a:rPr lang="ko-KR" altLang="en-US"/>
              <a:t>합계	30억 원	100%</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92500" lnSpcReduction="10000"/>
          </a:bodyPr>
          <a:lstStyle/>
          <a:p>
            <a:pPr>
              <a:defRPr/>
            </a:pPr>
            <a:r>
              <a:rPr lang="ko-KR" altLang="en-US"/>
              <a:t>지출 항목 (Expenses)</a:t>
            </a:r>
          </a:p>
          <a:p>
            <a:pPr>
              <a:defRPr/>
            </a:pPr>
            <a:endParaRPr lang="ko-KR" altLang="en-US"/>
          </a:p>
          <a:p>
            <a:pPr>
              <a:defRPr/>
            </a:pPr>
            <a:r>
              <a:rPr lang="ko-KR" altLang="en-US"/>
              <a:t>항목	금액	비율</a:t>
            </a:r>
          </a:p>
          <a:p>
            <a:pPr>
              <a:defRPr/>
            </a:pPr>
            <a:r>
              <a:rPr lang="ko-KR" altLang="en-US"/>
              <a:t>프로그램 운영비	8억 원	26.7%</a:t>
            </a:r>
          </a:p>
          <a:p>
            <a:pPr>
              <a:defRPr/>
            </a:pPr>
            <a:r>
              <a:rPr lang="ko-KR" altLang="en-US"/>
              <a:t>초청 및 의전비	9억 원	30.0%</a:t>
            </a:r>
          </a:p>
          <a:p>
            <a:pPr>
              <a:defRPr/>
            </a:pPr>
            <a:r>
              <a:rPr lang="ko-KR" altLang="en-US"/>
              <a:t>마케팅 및 홍보비	6억 원	20.0%</a:t>
            </a:r>
          </a:p>
          <a:p>
            <a:pPr>
              <a:defRPr/>
            </a:pPr>
            <a:r>
              <a:rPr lang="ko-KR" altLang="en-US"/>
              <a:t>시설 및 인프라	4억 원	13.3%</a:t>
            </a:r>
          </a:p>
          <a:p>
            <a:pPr>
              <a:defRPr/>
            </a:pPr>
            <a:r>
              <a:rPr lang="ko-KR" altLang="en-US"/>
              <a:t>인건비 및 일반 관리비	3억 원	10.0%</a:t>
            </a:r>
          </a:p>
          <a:p>
            <a:pPr>
              <a:defRPr/>
            </a:pPr>
            <a:r>
              <a:rPr lang="ko-KR" altLang="en-US"/>
              <a:t>합계	30억 원	100%</a:t>
            </a:r>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92500" lnSpcReduction="20000"/>
          </a:bodyPr>
          <a:lstStyle/>
          <a:p>
            <a:pPr>
              <a:defRPr/>
            </a:pPr>
            <a:r>
              <a:rPr lang="ko-KR" altLang="en-US"/>
              <a:t>재원 확보 전략</a:t>
            </a:r>
          </a:p>
          <a:p>
            <a:pPr>
              <a:defRPr/>
            </a:pPr>
            <a:endParaRPr lang="ko-KR" altLang="en-US"/>
          </a:p>
          <a:p>
            <a:pPr>
              <a:defRPr/>
            </a:pPr>
            <a:r>
              <a:rPr lang="ko-KR" altLang="en-US"/>
              <a:t>❶ 정부/지자체 지원: 인천시, 문체부, 영화진흥위원회 등 공적 지원금 유치</a:t>
            </a:r>
          </a:p>
          <a:p>
            <a:pPr>
              <a:defRPr/>
            </a:pPr>
            <a:r>
              <a:rPr lang="ko-KR" altLang="en-US"/>
              <a:t>❷ 인스파이어 공동 주최: 아레나, 디스커버리 파크, MICE 등 시설 사용료 대폭 감면 또는 현물 투자</a:t>
            </a:r>
          </a:p>
          <a:p>
            <a:pPr>
              <a:defRPr/>
            </a:pPr>
            <a:r>
              <a:rPr lang="ko-KR" altLang="en-US"/>
              <a:t>❸ 기업 스폰서십: K-컬처, IT/모바일, 항공사 등 연계 기업의 전략적 스폰서십 유치</a:t>
            </a:r>
          </a:p>
          <a:p>
            <a:pPr>
              <a:defRPr/>
            </a:pPr>
            <a:r>
              <a:rPr lang="ko-KR" altLang="en-US"/>
              <a:t>❹ 수익 사업: 티켓 판매, 비즈니스 마켓 참가비, 야영 참가비, K-컬처 팝업 스토어 임대 수익</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Cash Flow</a:t>
            </a:r>
          </a:p>
        </p:txBody>
      </p:sp>
      <p:sp>
        <p:nvSpPr>
          <p:cNvPr id="3" name="내용 개체 틀 2"/>
          <p:cNvSpPr>
            <a:spLocks noGrp="1"/>
          </p:cNvSpPr>
          <p:nvPr>
            <p:ph idx="1"/>
          </p:nvPr>
        </p:nvSpPr>
        <p:spPr/>
        <p:txBody>
          <a:bodyPr>
            <a:normAutofit fontScale="40000" lnSpcReduction="20000"/>
          </a:bodyPr>
          <a:lstStyle/>
          <a:p>
            <a:pPr>
              <a:defRPr/>
            </a:pPr>
            <a:r>
              <a:rPr lang="ko-KR" altLang="en-US"/>
              <a:t>"성공적인 영화제는 '돈맥경화'가 없어야 한다"</a:t>
            </a:r>
          </a:p>
          <a:p>
            <a:pPr>
              <a:defRPr/>
            </a:pPr>
            <a:r>
              <a:rPr lang="ko-KR" altLang="en-US"/>
              <a:t>구분	1분기 (D-12~9)</a:t>
            </a:r>
          </a:p>
          <a:p>
            <a:pPr>
              <a:defRPr/>
            </a:pPr>
            <a:r>
              <a:rPr lang="ko-KR" altLang="en-US"/>
              <a:t>추진위 단계	2분기 (D-8~6)</a:t>
            </a:r>
          </a:p>
          <a:p>
            <a:pPr>
              <a:defRPr/>
            </a:pPr>
            <a:r>
              <a:rPr lang="ko-KR" altLang="en-US"/>
              <a:t>조직위 출범	3분기 (D-5~3)</a:t>
            </a:r>
          </a:p>
          <a:p>
            <a:pPr>
              <a:defRPr/>
            </a:pPr>
            <a:r>
              <a:rPr lang="ko-KR" altLang="en-US"/>
              <a:t>본격 준비	4분기 (D-2~D+1)</a:t>
            </a:r>
          </a:p>
          <a:p>
            <a:pPr>
              <a:defRPr/>
            </a:pPr>
            <a:r>
              <a:rPr lang="ko-KR" altLang="en-US"/>
              <a:t>개최 및 정산	합계</a:t>
            </a:r>
          </a:p>
          <a:p>
            <a:pPr>
              <a:defRPr/>
            </a:pPr>
            <a:r>
              <a:rPr lang="ko-KR" altLang="en-US"/>
              <a:t>현금 유입	250	800	1,000	950	3,000</a:t>
            </a:r>
          </a:p>
          <a:p>
            <a:pPr>
              <a:defRPr/>
            </a:pPr>
            <a:r>
              <a:rPr lang="ko-KR" altLang="en-US"/>
              <a:t>› 지자체/공공	100 (Seed)	400 (보조금 1차)	300 (보조금 2차)	200 (Balance)	1,000</a:t>
            </a:r>
          </a:p>
          <a:p>
            <a:pPr>
              <a:defRPr/>
            </a:pPr>
            <a:r>
              <a:rPr lang="ko-KR" altLang="en-US"/>
              <a:t>› 민간 스폰서	100 (Seed)	400 (1차 후원)	500 (2차 후원)	200 (Balance)	1,200</a:t>
            </a:r>
          </a:p>
          <a:p>
            <a:pPr>
              <a:defRPr/>
            </a:pPr>
            <a:r>
              <a:rPr lang="ko-KR" altLang="en-US"/>
              <a:t>› 자체 수익	50 (기부금)	–	200 (티켓/참가비)	550 (티켓/마켓)	800</a:t>
            </a:r>
          </a:p>
          <a:p>
            <a:pPr>
              <a:defRPr/>
            </a:pPr>
            <a:r>
              <a:rPr lang="ko-KR" altLang="en-US"/>
              <a:t>현금 유출	200	600	900	1,300	3,000</a:t>
            </a:r>
          </a:p>
          <a:p>
            <a:pPr>
              <a:defRPr/>
            </a:pPr>
            <a:r>
              <a:rPr lang="ko-KR" altLang="en-US"/>
              <a:t>› 인건비/운영	100	200	200	300	800</a:t>
            </a:r>
          </a:p>
          <a:p>
            <a:pPr>
              <a:defRPr/>
            </a:pPr>
            <a:r>
              <a:rPr lang="ko-KR" altLang="en-US"/>
              <a:t>› 초청/체류비	20 (계약금)	200 (선급금)	300 (중도금)	380 (잔금)	900</a:t>
            </a:r>
          </a:p>
          <a:p>
            <a:pPr>
              <a:defRPr/>
            </a:pPr>
            <a:r>
              <a:rPr lang="ko-KR" altLang="en-US"/>
              <a:t>› 마케팅비	50	100	250	200	600</a:t>
            </a:r>
          </a:p>
          <a:p>
            <a:pPr>
              <a:defRPr/>
            </a:pPr>
            <a:r>
              <a:rPr lang="ko-KR" altLang="en-US"/>
              <a:t>› 시설/제작비	30	100	150	420	700</a:t>
            </a:r>
          </a:p>
          <a:p>
            <a:pPr>
              <a:defRPr/>
            </a:pPr>
            <a:r>
              <a:rPr lang="ko-KR" altLang="en-US"/>
              <a:t>현금 잔액	+50	+250	+350	0	0</a:t>
            </a:r>
          </a:p>
          <a:p>
            <a:pPr>
              <a:defRPr/>
            </a:pPr>
            <a:r>
              <a:rPr lang="ko-KR" altLang="en-US"/>
              <a:t>(단위: 백만 원)</a:t>
            </a:r>
          </a:p>
          <a:p>
            <a:pPr>
              <a:defRPr/>
            </a:pPr>
            <a:endParaRPr lang="ko-KR" altLang="en-US"/>
          </a:p>
          <a:p>
            <a:pPr>
              <a:defRPr/>
            </a:pPr>
            <a:r>
              <a:rPr lang="ko-KR" altLang="en-US"/>
              <a:t>자금 운용 팁:</a:t>
            </a:r>
          </a:p>
          <a:p>
            <a:pPr>
              <a:defRPr/>
            </a:pPr>
            <a:endParaRPr lang="ko-KR" altLang="en-US"/>
          </a:p>
          <a:p>
            <a:pPr>
              <a:defRPr/>
            </a:pPr>
            <a:r>
              <a:rPr lang="ko-KR" altLang="en-US"/>
              <a:t>3분기 관리 중요: 마케팅과 헐리우드 게스트 선급금이 대거 지출되므로, 스폰서십 2차 후원금이 제때 들어오도록 독려</a:t>
            </a:r>
          </a:p>
          <a:p>
            <a:pPr>
              <a:defRPr/>
            </a:pPr>
            <a:r>
              <a:rPr lang="ko-KR" altLang="en-US"/>
              <a:t>예비비 확보: 전체 예산의 5~10%는 예비비로 편성하여 우천, 환율 변동, 안전 사고 등 돌발 변수 대비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3. Initial Budget</a:t>
            </a:r>
          </a:p>
        </p:txBody>
      </p:sp>
      <p:sp>
        <p:nvSpPr>
          <p:cNvPr id="3" name="내용 개체 틀 2"/>
          <p:cNvSpPr>
            <a:spLocks noGrp="1"/>
          </p:cNvSpPr>
          <p:nvPr>
            <p:ph idx="1"/>
          </p:nvPr>
        </p:nvSpPr>
        <p:spPr/>
        <p:txBody>
          <a:bodyPr>
            <a:normAutofit fontScale="92500" lnSpcReduction="20000"/>
          </a:bodyPr>
          <a:lstStyle/>
          <a:p>
            <a:pPr>
              <a:defRPr/>
            </a:pPr>
            <a:r>
              <a:rPr lang="ko-KR" altLang="en-US"/>
              <a:t>추진위원회 초기 경비 (약 6개월)</a:t>
            </a:r>
          </a:p>
          <a:p>
            <a:pPr>
              <a:defRPr/>
            </a:pPr>
            <a:endParaRPr lang="ko-KR" altLang="en-US"/>
          </a:p>
          <a:p>
            <a:pPr>
              <a:defRPr/>
            </a:pPr>
            <a:r>
              <a:rPr lang="ko-KR" altLang="en-US"/>
              <a:t>항목	금액 (백만 원)	용도</a:t>
            </a:r>
          </a:p>
          <a:p>
            <a:pPr>
              <a:defRPr/>
            </a:pPr>
            <a:r>
              <a:rPr lang="ko-KR" altLang="en-US"/>
              <a:t>인건비 및 운영비	80	코어 인력(3인) 인건비, 사무실 임차</a:t>
            </a:r>
          </a:p>
          <a:p>
            <a:pPr>
              <a:defRPr/>
            </a:pPr>
            <a:r>
              <a:rPr lang="ko-KR" altLang="en-US"/>
              <a:t>회의 및 네트워킹	60	추진위/분과위 회의, 비전 발표회</a:t>
            </a:r>
          </a:p>
          <a:p>
            <a:pPr>
              <a:defRPr/>
            </a:pPr>
            <a:r>
              <a:rPr lang="ko-KR" altLang="en-US"/>
              <a:t>초기 네트워크 구축	80	메소드페스타/하와이 MOU 출장, 헐리우드 접촉</a:t>
            </a:r>
          </a:p>
          <a:p>
            <a:pPr>
              <a:defRPr/>
            </a:pPr>
            <a:r>
              <a:rPr lang="ko-KR" altLang="en-US"/>
              <a:t>홍보물 및 자료 제작	30	비전 선포 자료, 홈페이지, 로고/디자인</a:t>
            </a:r>
          </a:p>
          <a:p>
            <a:pPr>
              <a:defRPr/>
            </a:pPr>
            <a:r>
              <a:rPr lang="ko-KR" altLang="en-US"/>
              <a:t>총계	250	(한화 2억 5천만 원)</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77500" lnSpcReduction="20000"/>
          </a:bodyPr>
          <a:lstStyle/>
          <a:p>
            <a:pPr>
              <a:defRPr/>
            </a:pPr>
            <a:r>
              <a:rPr lang="ko-KR" altLang="en-US"/>
              <a:t>50:50 매칭 펀딩 전략</a:t>
            </a:r>
          </a:p>
          <a:p>
            <a:pPr>
              <a:defRPr/>
            </a:pPr>
            <a:endParaRPr lang="ko-KR" altLang="en-US"/>
          </a:p>
          <a:p>
            <a:pPr>
              <a:defRPr/>
            </a:pPr>
            <a:r>
              <a:rPr lang="ko-KR" altLang="en-US"/>
              <a:t>단계	전략	목표 금액</a:t>
            </a:r>
          </a:p>
          <a:p>
            <a:pPr>
              <a:defRPr/>
            </a:pPr>
            <a:r>
              <a:rPr lang="ko-KR" altLang="en-US"/>
              <a:t>1단계	공공 시드 확보 (40%)</a:t>
            </a:r>
          </a:p>
          <a:p>
            <a:pPr>
              <a:defRPr/>
            </a:pPr>
            <a:r>
              <a:rPr lang="ko-KR" altLang="en-US"/>
              <a:t>인천시 문화예술진흥기금 활용	100백만 원</a:t>
            </a:r>
          </a:p>
          <a:p>
            <a:pPr>
              <a:defRPr/>
            </a:pPr>
            <a:endParaRPr lang="ko-KR" altLang="en-US"/>
          </a:p>
          <a:p>
            <a:pPr>
              <a:defRPr/>
            </a:pPr>
            <a:r>
              <a:rPr lang="ko-KR" altLang="en-US"/>
              <a:t>2단계	민간 매칭 펀드 (40%)</a:t>
            </a:r>
          </a:p>
          <a:p>
            <a:pPr>
              <a:defRPr/>
            </a:pPr>
            <a:r>
              <a:rPr lang="ko-KR" altLang="en-US"/>
              <a:t>인스파이어 현금/현물 지원	100백만 원</a:t>
            </a:r>
          </a:p>
          <a:p>
            <a:pPr>
              <a:defRPr/>
            </a:pPr>
            <a:endParaRPr lang="ko-KR" altLang="en-US"/>
          </a:p>
          <a:p>
            <a:pPr>
              <a:defRPr/>
            </a:pPr>
            <a:r>
              <a:rPr lang="ko-KR" altLang="en-US"/>
              <a:t>3단계	후원회 멤버십 (20%)</a:t>
            </a:r>
          </a:p>
          <a:p>
            <a:pPr>
              <a:defRPr/>
            </a:pPr>
            <a:r>
              <a:rPr lang="ko-KR" altLang="en-US"/>
              <a:t>위원 중심 초기 모금	50백만 원</a:t>
            </a:r>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4. Sponsorship Plan</a:t>
            </a:r>
          </a:p>
        </p:txBody>
      </p:sp>
      <p:sp>
        <p:nvSpPr>
          <p:cNvPr id="3" name="내용 개체 틀 2"/>
          <p:cNvSpPr>
            <a:spLocks noGrp="1"/>
          </p:cNvSpPr>
          <p:nvPr>
            <p:ph idx="1"/>
          </p:nvPr>
        </p:nvSpPr>
        <p:spPr/>
        <p:txBody>
          <a:bodyPr>
            <a:normAutofit fontScale="85000" lnSpcReduction="20000"/>
          </a:bodyPr>
          <a:lstStyle/>
          <a:p>
            <a:pPr>
              <a:defRPr/>
            </a:pPr>
            <a:r>
              <a:rPr lang="ko-KR" altLang="en-US"/>
              <a:t>1 스폰서십 등급 (Tier System)</a:t>
            </a:r>
          </a:p>
          <a:p>
            <a:pPr>
              <a:defRPr/>
            </a:pPr>
            <a:endParaRPr lang="ko-KR" altLang="en-US"/>
          </a:p>
          <a:p>
            <a:pPr>
              <a:defRPr/>
            </a:pPr>
            <a:r>
              <a:rPr lang="ko-KR" altLang="en-US"/>
              <a:t>등급	금액 기준	주요 혜택</a:t>
            </a:r>
          </a:p>
          <a:p>
            <a:pPr>
              <a:defRPr/>
            </a:pPr>
            <a:r>
              <a:rPr lang="ko-KR" altLang="en-US"/>
              <a:t>타이틀 스폰서	5억 원 이상	영화제 공식 명칭 삽입, 모든 홍보물 로고 노출, 개막식 VIP석, 전용 브랜드 존 운영</a:t>
            </a:r>
          </a:p>
          <a:p>
            <a:pPr>
              <a:defRPr/>
            </a:pPr>
            <a:r>
              <a:rPr lang="ko-KR" altLang="en-US"/>
              <a:t>프리미엄 파트너	2~5억 원	핵심 섹션 네이밍권 (갈라/캠프/어워드), 주요 행사 VIP 초대, 프레스 월 로고 노출</a:t>
            </a:r>
          </a:p>
          <a:p>
            <a:pPr>
              <a:defRPr/>
            </a:pPr>
            <a:r>
              <a:rPr lang="ko-KR" altLang="en-US"/>
              <a:t>공식 파트너	5천만~2억 원	홈페이지 및 공식 인쇄물 로고, K-컬처 존 부스 운영권, SNS 콜라보 콘텐츠</a:t>
            </a:r>
          </a:p>
          <a:p>
            <a:pPr>
              <a:defRPr/>
            </a:pPr>
            <a:r>
              <a:rPr lang="ko-KR" altLang="en-US"/>
              <a:t>서포터	5천만 원 이하	홈페이지 로고 게시, 공식 굿즈 콜라보, 소규모 체험 부스 운영</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70000" lnSpcReduction="20000"/>
          </a:bodyPr>
          <a:lstStyle/>
          <a:p>
            <a:pPr>
              <a:defRPr/>
            </a:pPr>
            <a:r>
              <a:rPr lang="ko-KR" altLang="en-US"/>
              <a:t>2 타겟 스폰서 업종 및 접근 전략</a:t>
            </a:r>
          </a:p>
          <a:p>
            <a:pPr>
              <a:defRPr/>
            </a:pPr>
            <a:endParaRPr lang="ko-KR" altLang="en-US"/>
          </a:p>
          <a:p>
            <a:pPr>
              <a:defRPr/>
            </a:pPr>
            <a:r>
              <a:rPr lang="ko-KR" altLang="en-US"/>
              <a:t>업종	타겟 기업 (예시)	연계 가능 프로그램	접근 방식</a:t>
            </a:r>
          </a:p>
          <a:p>
            <a:pPr>
              <a:defRPr/>
            </a:pPr>
            <a:r>
              <a:rPr lang="ko-KR" altLang="en-US"/>
              <a:t>IT/모바일	삼성, Apple, SKT	모바일 영화 컴피티션 (촬영 기기 제공 + 네이밍)	모바일 콘텐츠 제작 인프라 제공 제안</a:t>
            </a:r>
          </a:p>
          <a:p>
            <a:pPr>
              <a:defRPr/>
            </a:pPr>
            <a:r>
              <a:rPr lang="ko-KR" altLang="en-US"/>
              <a:t>항공/여행	대한항공, 아시아나	해외 게스트 항공 지원 + 관광 패키지 공동 개발	인천공항 → 영화제 연결 동선 마케팅</a:t>
            </a:r>
          </a:p>
          <a:p>
            <a:pPr>
              <a:defRPr/>
            </a:pPr>
            <a:r>
              <a:rPr lang="ko-KR" altLang="en-US"/>
              <a:t>소비재/뷰티	아모레퍼시픽, LG생활건강	K-뷰티 체험 부스 + 스타 메이크업 쇼	글로벌 관객 대상 제품 노출 + 체험</a:t>
            </a:r>
          </a:p>
          <a:p>
            <a:pPr>
              <a:defRPr/>
            </a:pPr>
            <a:r>
              <a:rPr lang="ko-KR" altLang="en-US"/>
              <a:t>식음료	CJ제일제당, 하이트진로	K-푸드 팝업 스토어 + 캠프 식음 지원	야외 축제 환경에서 브랜드 체험 극대화</a:t>
            </a:r>
          </a:p>
          <a:p>
            <a:pPr>
              <a:defRPr/>
            </a:pPr>
            <a:r>
              <a:rPr lang="ko-KR" altLang="en-US"/>
              <a:t>자동차	현대, 기아	공식 의전 차량 + 레드카펫 차량 전시	프리미엄 이미지 연계 (EV/수소차)</a:t>
            </a:r>
          </a:p>
          <a:p>
            <a:pPr>
              <a:defRPr/>
            </a:pPr>
            <a:r>
              <a:rPr lang="ko-KR" altLang="en-US"/>
              <a:t>금융	KB, 신한, 하나	K-콘텐츠 펀드/투자 연계 포럼	ESG 활동 + 문화 투자 포트폴리오</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lstStyle/>
          <a:p>
            <a:pPr>
              <a:defRPr/>
            </a:pPr>
            <a:r>
              <a:rPr lang="ko-KR" altLang="en-US"/>
              <a:t>3개년 스폰서십 전략</a:t>
            </a:r>
          </a:p>
          <a:p>
            <a:pPr>
              <a:defRPr/>
            </a:pPr>
            <a:endParaRPr lang="ko-KR" altLang="en-US"/>
          </a:p>
          <a:p>
            <a:pPr>
              <a:defRPr/>
            </a:pPr>
            <a:r>
              <a:rPr lang="ko-KR" altLang="en-US"/>
              <a:t>연차	전략	스폰서십 목표</a:t>
            </a:r>
          </a:p>
          <a:p>
            <a:pPr>
              <a:defRPr/>
            </a:pPr>
            <a:r>
              <a:rPr lang="ko-KR" altLang="en-US"/>
              <a:t>1회차	핵심 파트너 확보 + 현물 스폰서 중심	~12억 원 (인스파이어 현물 포함)</a:t>
            </a:r>
          </a:p>
          <a:p>
            <a:pPr>
              <a:defRPr/>
            </a:pPr>
            <a:r>
              <a:rPr lang="ko-KR" altLang="en-US"/>
              <a:t>2회차	브랜드 경쟁 구도 형성 + 프리미엄 네이밍 판매	~20억 원</a:t>
            </a:r>
          </a:p>
          <a:p>
            <a:pPr>
              <a:defRPr/>
            </a:pPr>
            <a:r>
              <a:rPr lang="ko-KR" altLang="en-US"/>
              <a:t>3회차	글로벌 브랜드 유치 + 멀티이어 계약 전환	~30억 원</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5. Marketing Strategy</a:t>
            </a:r>
          </a:p>
        </p:txBody>
      </p:sp>
      <p:sp>
        <p:nvSpPr>
          <p:cNvPr id="3" name="내용 개체 틀 2"/>
          <p:cNvSpPr>
            <a:spLocks noGrp="1"/>
          </p:cNvSpPr>
          <p:nvPr>
            <p:ph idx="1"/>
          </p:nvPr>
        </p:nvSpPr>
        <p:spPr/>
        <p:txBody>
          <a:bodyPr>
            <a:normAutofit fontScale="92500" lnSpcReduction="20000"/>
          </a:bodyPr>
          <a:lstStyle/>
          <a:p>
            <a:pPr>
              <a:defRPr/>
            </a:pPr>
            <a:r>
              <a:rPr lang="ko-KR" altLang="en-US"/>
              <a:t>1 글로벌 인지도 확보 (전문성 강조)</a:t>
            </a:r>
          </a:p>
          <a:p>
            <a:pPr>
              <a:defRPr/>
            </a:pPr>
            <a:endParaRPr lang="ko-KR" altLang="en-US"/>
          </a:p>
          <a:p>
            <a:pPr>
              <a:defRPr/>
            </a:pPr>
            <a:r>
              <a:rPr lang="ko-KR" altLang="en-US"/>
              <a:t>전략	세부 활동</a:t>
            </a:r>
          </a:p>
          <a:p>
            <a:pPr>
              <a:defRPr/>
            </a:pPr>
            <a:r>
              <a:rPr lang="ko-KR" altLang="en-US"/>
              <a:t>헐리우드 네트워크 활용	헐리우드 스타 및 메소드필름페스타 관계자와의 독점 인터뷰를 글로벌 주요 영화 매체(Variety, Hollywood Reporter 등)에 제공</a:t>
            </a:r>
          </a:p>
          <a:p>
            <a:pPr>
              <a:defRPr/>
            </a:pPr>
            <a:r>
              <a:rPr lang="ko-KR" altLang="en-US"/>
              <a:t>아시아 게이트웨이 브랜딩	아시아 주요 영화 시장 관계자를 초청하고, 개막식에 아시아 대표 배우 및 감독 배치</a:t>
            </a:r>
          </a:p>
          <a:p>
            <a:pPr>
              <a:defRPr/>
            </a:pPr>
            <a:r>
              <a:rPr lang="ko-KR" altLang="en-US"/>
              <a:t>타겟 미디어 파트너십	영화 전문 매거진 및 비즈니스 콘텐츠 미디어(포브스 아시아)와 협력</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lnSpcReduction="10000"/>
          </a:bodyPr>
          <a:lstStyle/>
          <a:p>
            <a:pPr>
              <a:defRPr/>
            </a:pPr>
            <a:r>
              <a:rPr lang="ko-KR" altLang="en-US"/>
              <a:t>2 대중 참여 및 바이럴 (참여성 강조)</a:t>
            </a:r>
          </a:p>
          <a:p>
            <a:pPr>
              <a:defRPr/>
            </a:pPr>
            <a:endParaRPr lang="ko-KR" altLang="en-US"/>
          </a:p>
          <a:p>
            <a:pPr>
              <a:defRPr/>
            </a:pPr>
            <a:r>
              <a:rPr lang="ko-KR" altLang="en-US"/>
              <a:t>전략	세부 활동</a:t>
            </a:r>
          </a:p>
          <a:p>
            <a:pPr>
              <a:defRPr/>
            </a:pPr>
            <a:r>
              <a:rPr lang="ko-KR" altLang="en-US"/>
              <a:t>NextWave Creator Challenge	모바일 영화 제작 캠프를 숏폼 콘텐츠로 제작·배포. 인플루언서 참가자 초청</a:t>
            </a:r>
          </a:p>
          <a:p>
            <a:pPr>
              <a:defRPr/>
            </a:pPr>
            <a:r>
              <a:rPr lang="ko-KR" altLang="en-US"/>
              <a:t>K-WAVE 페스티벌 통합 홍보	'영화와 캠핑을 함께 즐기는 유일한 축제'로 포지셔닝</a:t>
            </a:r>
          </a:p>
          <a:p>
            <a:pPr>
              <a:defRPr/>
            </a:pPr>
            <a:r>
              <a:rPr lang="ko-KR" altLang="en-US"/>
              <a:t>인스파이어 연계 마케팅	숙박/F&amp;B 패키지와 영화제 티켓 묶어 판매, 상호 시너지 창출</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85000" lnSpcReduction="20000"/>
          </a:bodyPr>
          <a:lstStyle/>
          <a:p>
            <a:pPr>
              <a:defRPr/>
            </a:pPr>
            <a:r>
              <a:rPr lang="ko-KR" altLang="en-US"/>
              <a:t>3 홍보 콘텐츠 및 프로모션 타임라인</a:t>
            </a:r>
          </a:p>
          <a:p>
            <a:pPr>
              <a:defRPr/>
            </a:pPr>
            <a:endParaRPr lang="ko-KR" altLang="en-US"/>
          </a:p>
          <a:p>
            <a:pPr>
              <a:defRPr/>
            </a:pPr>
            <a:r>
              <a:rPr lang="ko-KR" altLang="en-US"/>
              <a:t>콘텐츠	내용	시기</a:t>
            </a:r>
          </a:p>
          <a:p>
            <a:pPr>
              <a:defRPr/>
            </a:pPr>
            <a:r>
              <a:rPr lang="ko-KR" altLang="en-US"/>
              <a:t>티저 영상	아시아와 헐리우드 스타들의 과거 명장면과 인스파이어의 화려한 시설을 교차 편집하여 'NextWave' 컨셉 강조	D-120 days</a:t>
            </a:r>
          </a:p>
          <a:p>
            <a:pPr>
              <a:defRPr/>
            </a:pPr>
            <a:r>
              <a:rPr lang="ko-KR" altLang="en-US"/>
              <a:t>공식 포스터	인천의 도시 경관, 아레나, 디스커버리 파크의 야외 상영 장면을 모두 담아 영화제의 '공간적 특색' 시각화	D-90 days</a:t>
            </a:r>
          </a:p>
          <a:p>
            <a:pPr>
              <a:defRPr/>
            </a:pPr>
            <a:r>
              <a:rPr lang="ko-KR" altLang="en-US"/>
              <a:t>얼리버드 티켓	개/폐막식 및 NextWave 캠프 참가권을 한정 수량 판매하여 초기 관심도 및 현금 유동성 확보	D-60 days</a:t>
            </a:r>
          </a:p>
          <a:p>
            <a:pPr>
              <a:defRPr/>
            </a:pPr>
            <a:r>
              <a:rPr lang="ko-KR" altLang="en-US"/>
              <a:t>인천 시민 우대	인천 거주자에게 CGV 인디 섹션 티켓 할인 제공 (지역 밀착형 영화제)	D-30 days</a:t>
            </a:r>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0" y="2727960"/>
            <a:ext cx="6096000" cy="1403985"/>
          </a:xfrm>
          <a:prstGeom prst="rect">
            <a:avLst/>
          </a:prstGeom>
        </p:spPr>
        <p:txBody>
          <a:bodyPr wrap="square">
            <a:spAutoFit/>
          </a:bodyPr>
          <a:lstStyle/>
          <a:p>
            <a:pPr marL="0" indent="0" algn="ctr" defTabSz="914400" rtl="0" eaLnBrk="1" latinLnBrk="1" hangingPunct="1">
              <a:lnSpc>
                <a:spcPct val="100000"/>
              </a:lnSpc>
              <a:spcBef>
                <a:spcPts val="0"/>
              </a:spcBef>
              <a:spcAft>
                <a:spcPts val="0"/>
              </a:spcAft>
              <a:buNone/>
              <a:defRPr/>
            </a:pPr>
            <a:r>
              <a:rPr kumimoji="0" sz="5000" b="1" i="0" u="none" strike="noStrike" kern="1200" cap="none" spc="0" normalizeH="0" baseline="0">
                <a:solidFill>
                  <a:srgbClr val="BFBFBF"/>
                </a:solidFill>
                <a:latin typeface="Arial"/>
                <a:ea typeface="굴림"/>
              </a:rPr>
              <a:t>PART </a:t>
            </a:r>
            <a:r>
              <a:rPr kumimoji="0" lang="en-US" altLang="ko-KR" sz="5000" b="1" i="0" u="none" strike="noStrike" kern="1200" cap="none" spc="0" normalizeH="0" baseline="0">
                <a:solidFill>
                  <a:srgbClr val="BFBFBF"/>
                </a:solidFill>
                <a:latin typeface="Arial"/>
                <a:ea typeface="굴림"/>
              </a:rPr>
              <a:t>5</a:t>
            </a:r>
          </a:p>
          <a:p>
            <a:pPr marL="0" indent="0" algn="l" defTabSz="914400" rtl="0" eaLnBrk="1" latinLnBrk="1" hangingPunct="1">
              <a:lnSpc>
                <a:spcPct val="100000"/>
              </a:lnSpc>
              <a:spcBef>
                <a:spcPct val="0"/>
              </a:spcBef>
              <a:spcAft>
                <a:spcPts val="0"/>
              </a:spcAft>
              <a:buNone/>
              <a:defRPr/>
            </a:pPr>
            <a:endParaRPr kumimoji="0" sz="1800" b="0" i="0" u="none" strike="noStrike" kern="1200" cap="none" spc="0" normalizeH="0" baseline="0">
              <a:solidFill>
                <a:srgbClr val="000000"/>
              </a:solidFill>
              <a:latin typeface="Arial"/>
              <a:ea typeface="굴림"/>
            </a:endParaRPr>
          </a:p>
          <a:p>
            <a:pPr marL="0" indent="0" algn="l" defTabSz="914400" rtl="0" eaLnBrk="1" latinLnBrk="1" hangingPunct="1">
              <a:lnSpc>
                <a:spcPct val="100000"/>
              </a:lnSpc>
              <a:spcBef>
                <a:spcPct val="0"/>
              </a:spcBef>
              <a:spcAft>
                <a:spcPts val="0"/>
              </a:spcAft>
              <a:buNone/>
              <a:defRPr/>
            </a:pPr>
            <a:r>
              <a:rPr kumimoji="0" lang="ko-KR" altLang="en-US" sz="1800" b="0" i="0" u="none" strike="noStrike" kern="1200" cap="none" spc="0" normalizeH="0" baseline="0">
                <a:solidFill>
                  <a:srgbClr val="000000"/>
                </a:solidFill>
                <a:latin typeface="Arial"/>
                <a:ea typeface="굴림"/>
              </a:rPr>
              <a:t>                  거버넌스</a:t>
            </a:r>
            <a:r>
              <a:rPr kumimoji="0" sz="1800" b="0" i="0" u="none" strike="noStrike" kern="1200" cap="none" spc="0" normalizeH="0" baseline="0">
                <a:solidFill>
                  <a:srgbClr val="000000"/>
                </a:solidFill>
                <a:latin typeface="Arial"/>
                <a:ea typeface="굴림"/>
              </a:rPr>
              <a:t> · </a:t>
            </a:r>
            <a:r>
              <a:rPr kumimoji="0" lang="en-US" altLang="ko-KR" sz="1800" b="0" i="0" u="none" strike="noStrike" kern="1200" cap="none" spc="0" normalizeH="0" baseline="0">
                <a:solidFill>
                  <a:srgbClr val="000000"/>
                </a:solidFill>
                <a:latin typeface="Arial"/>
                <a:ea typeface="굴림"/>
              </a:rPr>
              <a:t>Governance</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1. Risk Management</a:t>
            </a:r>
          </a:p>
        </p:txBody>
      </p:sp>
      <p:sp>
        <p:nvSpPr>
          <p:cNvPr id="3" name="내용 개체 틀 2"/>
          <p:cNvSpPr>
            <a:spLocks noGrp="1"/>
          </p:cNvSpPr>
          <p:nvPr>
            <p:ph idx="1"/>
          </p:nvPr>
        </p:nvSpPr>
        <p:spPr/>
        <p:txBody>
          <a:bodyPr>
            <a:normAutofit lnSpcReduction="10000"/>
          </a:bodyPr>
          <a:lstStyle/>
          <a:p>
            <a:pPr>
              <a:defRPr/>
            </a:pPr>
            <a:r>
              <a:rPr lang="ko-KR" altLang="en-US"/>
              <a:t>핵심 전략: "先 민간 주도(준비) → 後 관(官) 추인(개최)"</a:t>
            </a:r>
          </a:p>
          <a:p>
            <a:pPr>
              <a:defRPr/>
            </a:pPr>
            <a:endParaRPr lang="ko-KR" altLang="en-US"/>
          </a:p>
          <a:p>
            <a:pPr>
              <a:defRPr/>
            </a:pPr>
            <a:r>
              <a:rPr lang="ko-KR" altLang="en-US"/>
              <a:t>2026년 6월 지방선거 변수는 영화제의 생존과 지속성을 결정짓는 가장 중요한 요소. '특정 정당이나 현직에 치우치지 않고, 선거 국면을 오히려 동력으로 활용하는' 고도의 정치적 솔루션이 필요하다.</a:t>
            </a:r>
          </a:p>
          <a:p>
            <a:pPr>
              <a:defRPr/>
            </a:pPr>
            <a:r>
              <a:rPr lang="ko-KR" altLang="en-US"/>
              <a:t>여야 후보 모두가 "내가 당선되면 이 영화제를 적극 지원하겠다"고 서약하게 만드는 '역제안 전략'</a:t>
            </a:r>
          </a:p>
          <a:p>
            <a:pPr>
              <a:defRPr/>
            </a:pPr>
            <a:endParaRPr lang="ko-KR" altLang="en-US"/>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55000" lnSpcReduction="20000"/>
          </a:bodyPr>
          <a:lstStyle/>
          <a:p>
            <a:pPr>
              <a:defRPr/>
            </a:pPr>
            <a:r>
              <a:rPr lang="ko-KR" altLang="en-US"/>
              <a:t>단계	시기	정치적 상황	영화제 추진 핵심 과제</a:t>
            </a:r>
          </a:p>
          <a:p>
            <a:pPr>
              <a:defRPr/>
            </a:pPr>
            <a:r>
              <a:rPr lang="ko-KR" altLang="en-US"/>
              <a:t>1단계</a:t>
            </a:r>
          </a:p>
          <a:p>
            <a:pPr>
              <a:defRPr/>
            </a:pPr>
            <a:r>
              <a:rPr lang="ko-KR" altLang="en-US"/>
              <a:t>민간 발족	2025.12월	현직 임기 말	추진위 발족 (경제인+예술인+인스파이어, 정치인 배제). 100% 민간 씨드머니로 운영.</a:t>
            </a:r>
          </a:p>
          <a:p>
            <a:pPr>
              <a:defRPr/>
            </a:pPr>
            <a:r>
              <a:rPr lang="ko-KR" altLang="en-US"/>
              <a:t>2단계</a:t>
            </a:r>
          </a:p>
          <a:p>
            <a:pPr>
              <a:defRPr/>
            </a:pPr>
            <a:r>
              <a:rPr lang="ko-KR" altLang="en-US"/>
              <a:t>공약화	2026.1~3월	후보 경선 진행	여야 유력 후보에게 '영화제 지원 확약서' 전달. 헐리우드 섭외 민간 채널로 병행.</a:t>
            </a:r>
          </a:p>
          <a:p>
            <a:pPr>
              <a:defRPr/>
            </a:pPr>
            <a:r>
              <a:rPr lang="ko-KR" altLang="en-US"/>
              <a:t>3단계</a:t>
            </a:r>
          </a:p>
          <a:p>
            <a:pPr>
              <a:defRPr/>
            </a:pPr>
            <a:r>
              <a:rPr lang="ko-KR" altLang="en-US"/>
              <a:t>선거 기간	2026.4~5월	공식 선거운동	선거와 분리된 '문화 비전 선포식' 개최. 후보들의 방문·지지 발언 유도.</a:t>
            </a:r>
          </a:p>
          <a:p>
            <a:pPr>
              <a:defRPr/>
            </a:pPr>
            <a:r>
              <a:rPr lang="ko-KR" altLang="en-US"/>
              <a:t>4단계</a:t>
            </a:r>
          </a:p>
          <a:p>
            <a:pPr>
              <a:defRPr/>
            </a:pPr>
            <a:r>
              <a:rPr lang="ko-KR" altLang="en-US"/>
              <a:t>당선자 협력	2026.6~7월	선거(6.3) 및 인수위	당선자를 당연직 조직위원장으로 추대. 추경 예산 편성 요청.</a:t>
            </a:r>
          </a:p>
          <a:p>
            <a:pPr>
              <a:defRPr/>
            </a:pPr>
            <a:r>
              <a:rPr lang="ko-KR" altLang="en-US"/>
              <a:t>5단계</a:t>
            </a:r>
          </a:p>
          <a:p>
            <a:pPr>
              <a:defRPr/>
            </a:pPr>
            <a:r>
              <a:rPr lang="ko-KR" altLang="en-US"/>
              <a:t>개최	2026.8~10월	신임 시장 취임 초기	신임 시장의 '취임 1호 문화 치적'으로 포장하여 전폭적 지원 유도.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92500"/>
          </a:bodyPr>
          <a:lstStyle/>
          <a:p>
            <a:pPr>
              <a:defRPr/>
            </a:pPr>
            <a:r>
              <a:rPr lang="ko-KR" altLang="en-US"/>
              <a:t>1 비당파 추진위원회 구성 원칙</a:t>
            </a:r>
          </a:p>
          <a:p>
            <a:pPr>
              <a:defRPr/>
            </a:pPr>
            <a:endParaRPr lang="ko-KR" altLang="en-US"/>
          </a:p>
          <a:p>
            <a:pPr>
              <a:defRPr/>
            </a:pPr>
            <a:r>
              <a:rPr lang="ko-KR" altLang="en-US"/>
              <a:t>위원장: 영화제 관련 문화계 원로 (경제 활성화 명분은 여야 막론 반대 불가)</a:t>
            </a:r>
          </a:p>
          <a:p>
            <a:pPr>
              <a:defRPr/>
            </a:pPr>
            <a:r>
              <a:rPr lang="ko-KR" altLang="en-US"/>
              <a:t>공동 위원장: 인스파이어 리조트 대표, 인천상공회의소 회장</a:t>
            </a:r>
          </a:p>
          <a:p>
            <a:pPr>
              <a:defRPr/>
            </a:pPr>
            <a:r>
              <a:rPr lang="ko-KR" altLang="en-US"/>
              <a:t>고문단: 인천 지역 대학 총장, 원로 영화감독 (정치적 성향 중립인 인물)</a:t>
            </a:r>
          </a:p>
          <a:p>
            <a:pPr>
              <a:defRPr/>
            </a:pPr>
            <a:r>
              <a:rPr lang="ko-KR" altLang="en-US"/>
              <a:t>원칙: 선거 전까지는 인천시 예산을 받지 않는 것이 오히려 안전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92500" lnSpcReduction="10000"/>
          </a:bodyPr>
          <a:lstStyle/>
          <a:p>
            <a:pPr>
              <a:defRPr/>
            </a:pPr>
            <a:r>
              <a:rPr lang="ko-KR" altLang="en-US"/>
              <a:t>2 후보 대상 MOU 전략</a:t>
            </a:r>
          </a:p>
          <a:p>
            <a:pPr>
              <a:defRPr/>
            </a:pPr>
            <a:endParaRPr lang="ko-KR" altLang="en-US"/>
          </a:p>
          <a:p>
            <a:pPr>
              <a:defRPr/>
            </a:pPr>
            <a:r>
              <a:rPr lang="ko-KR" altLang="en-US"/>
              <a:t>제안서 타이틀: "Global Incheon 2026: 아시아와 헐리우드를 잇는 문화 경제 플랫폼 제안"</a:t>
            </a:r>
          </a:p>
          <a:p>
            <a:pPr>
              <a:defRPr/>
            </a:pPr>
            <a:endParaRPr lang="ko-KR" altLang="en-US"/>
          </a:p>
          <a:p>
            <a:pPr>
              <a:defRPr/>
            </a:pPr>
            <a:r>
              <a:rPr lang="ko-KR" altLang="en-US"/>
              <a:t>당선 시 '인천 국제 넥스트웨이브 영화제'를 핵심 관광 전략 사업으로 지정</a:t>
            </a:r>
          </a:p>
          <a:p>
            <a:pPr>
              <a:defRPr/>
            </a:pPr>
            <a:r>
              <a:rPr lang="ko-KR" altLang="en-US"/>
              <a:t>추가경정예산 편성 등 행정/재정적 지원 보장</a:t>
            </a:r>
          </a:p>
          <a:p>
            <a:pPr>
              <a:defRPr/>
            </a:pPr>
            <a:r>
              <a:rPr lang="ko-KR" altLang="en-US"/>
              <a:t>영화제의 자율성과 독립성 보장, 추진위 성과 계승</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85000" lnSpcReduction="20000"/>
          </a:bodyPr>
          <a:lstStyle/>
          <a:p>
            <a:pPr>
              <a:defRPr/>
            </a:pPr>
            <a:r>
              <a:rPr lang="ko-KR" altLang="en-US"/>
              <a:t>3 선거 전후 업무 분장 (Shadow Operation)</a:t>
            </a:r>
          </a:p>
          <a:p>
            <a:pPr>
              <a:defRPr/>
            </a:pPr>
            <a:endParaRPr lang="ko-KR" altLang="en-US"/>
          </a:p>
          <a:p>
            <a:pPr>
              <a:defRPr/>
            </a:pPr>
            <a:r>
              <a:rPr lang="ko-KR" altLang="en-US"/>
              <a:t>시기	추진위원회 (민간) 역할	정치권/인천시 역할</a:t>
            </a:r>
          </a:p>
          <a:p>
            <a:pPr>
              <a:defRPr/>
            </a:pPr>
            <a:r>
              <a:rPr lang="ko-KR" altLang="en-US"/>
              <a:t>12월~2월	법인 설립, 사무국 구성, 인스파이어 자금 집행, 헐리우드 에이전시 접촉 (비공개)	(관망) 선거 준비 돌입</a:t>
            </a:r>
          </a:p>
          <a:p>
            <a:pPr>
              <a:defRPr/>
            </a:pPr>
            <a:r>
              <a:rPr lang="ko-KR" altLang="en-US"/>
              <a:t>3월~5월	상영작 선정·게스트 가계약 (보안 유지), 스폰서 가계약, 후보자 초청 비전 발표회	후보자: 영화제 지원 공약 발표, 서약서 서명</a:t>
            </a:r>
          </a:p>
          <a:p>
            <a:pPr>
              <a:defRPr/>
            </a:pPr>
            <a:r>
              <a:rPr lang="ko-KR" altLang="en-US"/>
              <a:t>6월 (선거 직후)	당선자 인수위에 보고서 제출, "예산만 승인하면 됨" 강조	당선자: 업무 보고 청취, 추경 예산 긴급 편성</a:t>
            </a:r>
          </a:p>
          <a:p>
            <a:pPr>
              <a:defRPr/>
            </a:pPr>
            <a:r>
              <a:rPr lang="ko-KR" altLang="en-US"/>
              <a:t>7월~10월	공식 조직위로 전환, 시장 취임 연계 대대적 홍보	행정 인력 파견, 경찰/소방 안전 대책 지원</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defRPr/>
            </a:pPr>
            <a:r>
              <a:rPr lang="ko-KR" altLang="en-US"/>
              <a:t>2. Personnel</a:t>
            </a:r>
          </a:p>
        </p:txBody>
      </p:sp>
      <p:sp>
        <p:nvSpPr>
          <p:cNvPr id="3" name="내용 개체 틀 2"/>
          <p:cNvSpPr>
            <a:spLocks noGrp="1"/>
          </p:cNvSpPr>
          <p:nvPr>
            <p:ph idx="1"/>
          </p:nvPr>
        </p:nvSpPr>
        <p:spPr/>
        <p:txBody>
          <a:bodyPr>
            <a:normAutofit fontScale="55000" lnSpcReduction="20000"/>
          </a:bodyPr>
          <a:lstStyle/>
          <a:p>
            <a:pPr>
              <a:defRPr/>
            </a:pPr>
            <a:r>
              <a:rPr lang="ko-KR" altLang="en-US"/>
              <a:t>BIFF 노하우를 가진 '영화계 원로'를 전면에, '실무 전문가'가 허리가 되어 현장을 뛰는 구조</a:t>
            </a:r>
          </a:p>
          <a:p>
            <a:pPr>
              <a:defRPr/>
            </a:pPr>
            <a:endParaRPr lang="ko-KR" altLang="en-US"/>
          </a:p>
          <a:p>
            <a:pPr>
              <a:defRPr/>
            </a:pPr>
            <a:r>
              <a:rPr lang="ko-KR" altLang="en-US"/>
              <a:t>1 컨트롤 타워 (Leadership)</a:t>
            </a:r>
          </a:p>
          <a:p>
            <a:pPr>
              <a:defRPr/>
            </a:pPr>
            <a:r>
              <a:rPr lang="ko-KR" altLang="en-US"/>
              <a:t>직책	성명	핵심 역할</a:t>
            </a:r>
          </a:p>
          <a:p>
            <a:pPr>
              <a:defRPr/>
            </a:pPr>
            <a:r>
              <a:rPr lang="ko-KR" altLang="en-US"/>
              <a:t>명예 위원장	이용관 (전 BIFF 이사장)	상징적 권위 및 방패. BIFF 성공 신화를 인천에 이식하는 상징성. 정치적 외풍을 막는 '어른' 역할.</a:t>
            </a:r>
          </a:p>
          <a:p>
            <a:pPr>
              <a:defRPr/>
            </a:pPr>
            <a:r>
              <a:rPr lang="ko-KR" altLang="en-US"/>
              <a:t>명예 위원장	저스틴 김 (메소드영화제 조직위원장)	비버리힐즈 메소드영화제의 독립영화 정신을 대변. 헐리우드와의 가교 역할.</a:t>
            </a:r>
          </a:p>
          <a:p>
            <a:pPr>
              <a:defRPr/>
            </a:pPr>
            <a:r>
              <a:rPr lang="ko-KR" altLang="en-US"/>
              <a:t>명예 위원장	돈 플랑캔 (메소드영화제 조직위원장)	헐리우드 영화인 인맥 총동원. 영화 자본과 월가의 큰손들과의 교류 총괄.</a:t>
            </a:r>
          </a:p>
          <a:p>
            <a:pPr>
              <a:defRPr/>
            </a:pPr>
            <a:r>
              <a:rPr lang="ko-KR" altLang="en-US"/>
              <a:t>추진 위원장	이청산 (전 BIFF 비대위원장)	실질적 리더십 &amp; 위기관리. '무'에서 '유'를 창조하는 추진위의 강력한 드라이브.</a:t>
            </a:r>
          </a:p>
          <a:p>
            <a:pPr>
              <a:defRPr/>
            </a:pPr>
            <a:r>
              <a:rPr lang="ko-KR" altLang="en-US"/>
              <a:t>공동 위원장	박병용 (인스파이어 부회장)	재정 및 조직, 업무 지원. 인스파이어 공간·설비 제공. 후원 조직 구성 관리.</a:t>
            </a:r>
          </a:p>
          <a:p>
            <a:pPr>
              <a:defRPr/>
            </a:pPr>
            <a:r>
              <a:rPr lang="ko-KR" altLang="en-US"/>
              <a:t>공동 위원장	오석근 (전 영진위 위원장)	정책 및 예산 설계. 영진위 네트워크 활용한 국비 지원. 문체부 행정 조율.</a:t>
            </a:r>
          </a:p>
          <a:p>
            <a:pPr>
              <a:defRPr/>
            </a:pPr>
            <a:r>
              <a:rPr lang="ko-KR" altLang="en-US"/>
              <a:t>17.2 대외 협력 및 정무</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92500" lnSpcReduction="10000"/>
          </a:bodyPr>
          <a:lstStyle/>
          <a:p>
            <a:pPr>
              <a:defRPr/>
            </a:pPr>
            <a:r>
              <a:rPr lang="ko-KR" altLang="en-US"/>
              <a:t>2 대외 협력 및 정무</a:t>
            </a:r>
          </a:p>
          <a:p>
            <a:pPr>
              <a:defRPr/>
            </a:pPr>
            <a:endParaRPr lang="ko-KR" altLang="en-US"/>
          </a:p>
          <a:p>
            <a:pPr>
              <a:defRPr/>
            </a:pPr>
            <a:r>
              <a:rPr lang="ko-KR" altLang="en-US"/>
              <a:t>직책	성명	핵심 역할</a:t>
            </a:r>
          </a:p>
          <a:p>
            <a:pPr>
              <a:defRPr/>
            </a:pPr>
            <a:r>
              <a:rPr lang="ko-KR" altLang="en-US"/>
              <a:t>상임 고문	유동수 (국회의원)	국회 차원 지원, 국비 예산 확보 교두보, 선거 국면 중립적 지원자 포지셔닝</a:t>
            </a:r>
          </a:p>
          <a:p>
            <a:pPr>
              <a:defRPr/>
            </a:pPr>
            <a:r>
              <a:rPr lang="ko-KR" altLang="en-US"/>
              <a:t>자문 위원	조광희 (전 시의원)	영종도 지역 민원 해결, 인근 주민 협조 유도, 소상공인 갈등 관리</a:t>
            </a:r>
          </a:p>
          <a:p>
            <a:pPr>
              <a:defRPr/>
            </a:pPr>
            <a:r>
              <a:rPr lang="ko-KR" altLang="en-US"/>
              <a:t>대외협력 이사	서태웅	인스파이어 경영진 직접 소통, 초기 씨드머니 담판, 인천 기업 스폰서십 유치</a:t>
            </a:r>
          </a:p>
          <a:p>
            <a:pPr marL="0" indent="0">
              <a:buNone/>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85000" lnSpcReduction="20000"/>
          </a:bodyPr>
          <a:lstStyle/>
          <a:p>
            <a:pPr>
              <a:defRPr/>
            </a:pPr>
            <a:r>
              <a:rPr lang="ko-KR" altLang="en-US"/>
              <a:t>3 글로벌 네트워크 (USA / Asia / Hollywood)</a:t>
            </a:r>
          </a:p>
          <a:p>
            <a:pPr>
              <a:defRPr/>
            </a:pPr>
            <a:endParaRPr lang="ko-KR" altLang="en-US"/>
          </a:p>
          <a:p>
            <a:pPr>
              <a:defRPr/>
            </a:pPr>
            <a:r>
              <a:rPr lang="ko-KR" altLang="en-US"/>
              <a:t>직책	성명	핵심 역할</a:t>
            </a:r>
          </a:p>
          <a:p>
            <a:pPr>
              <a:defRPr/>
            </a:pPr>
            <a:r>
              <a:rPr lang="ko-KR" altLang="en-US"/>
              <a:t>해외 프로그래머	Justin Kim	메소드 섹션 총괄. 헐리우드 독립영화 감독·배우 섭외 창구.</a:t>
            </a:r>
          </a:p>
          <a:p>
            <a:pPr>
              <a:defRPr/>
            </a:pPr>
            <a:r>
              <a:rPr lang="ko-KR" altLang="en-US"/>
              <a:t>해외 프로그래머	Don Franken	헐리우드 스타 섭외. CAA, WME 등과 직접 접촉. A급 스타 및 심사위원단 섭외.</a:t>
            </a:r>
          </a:p>
          <a:p>
            <a:pPr>
              <a:defRPr/>
            </a:pPr>
            <a:r>
              <a:rPr lang="ko-KR" altLang="en-US"/>
              <a:t>아시아 전략 이사	김무전	중화권 톱스타 섭외 및 중국 거대 자본(알리바바 픽처스 등) 투자/스폰서십 연결.</a:t>
            </a:r>
          </a:p>
          <a:p>
            <a:pPr>
              <a:defRPr/>
            </a:pPr>
            <a:r>
              <a:rPr lang="ko-KR" altLang="en-US"/>
              <a:t>하와이 협력 이사	제니스 (Janice)	하와이 국제영화제 MOU 체결 실무. 교민 사회 후원 유도.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normAutofit fontScale="70000" lnSpcReduction="20000"/>
          </a:bodyPr>
          <a:lstStyle/>
          <a:p>
            <a:pPr>
              <a:defRPr/>
            </a:pPr>
            <a:r>
              <a:rPr lang="ko-KR" altLang="en-US"/>
              <a:t>4 실무 운영 및 기술/디자인</a:t>
            </a:r>
          </a:p>
          <a:p>
            <a:pPr>
              <a:defRPr/>
            </a:pPr>
            <a:endParaRPr lang="ko-KR" altLang="en-US"/>
          </a:p>
          <a:p>
            <a:pPr>
              <a:defRPr/>
            </a:pPr>
            <a:r>
              <a:rPr lang="ko-KR" altLang="en-US"/>
              <a:t>직책	성명	핵심 역할</a:t>
            </a:r>
          </a:p>
          <a:p>
            <a:pPr>
              <a:defRPr/>
            </a:pPr>
            <a:r>
              <a:rPr lang="ko-KR" altLang="en-US"/>
              <a:t>총괄사업추진단장	황보진호 (최초 기안자)	Control Tower. 위원장 보좌, 전체 파트 업무 조율, 예산 집행 승인, 3개년 로드맵 관리. 모든 인맥의 허브.</a:t>
            </a:r>
          </a:p>
          <a:p>
            <a:pPr>
              <a:defRPr/>
            </a:pPr>
            <a:r>
              <a:rPr lang="ko-KR" altLang="en-US"/>
              <a:t>운영 본부장	강준 (제니스글로컬 회장)	현장 인력 및 자원봉사. 영종도 기획사 인프라 활용, 대학생 자원활동가 모집·교육.</a:t>
            </a:r>
          </a:p>
          <a:p>
            <a:pPr>
              <a:defRPr/>
            </a:pPr>
            <a:r>
              <a:rPr lang="ko-KR" altLang="en-US"/>
              <a:t>예술 감독 (AD)	노준석 (LA 디자이너)	글로벌 브랜딩. LA 트렌드 반영 CI/포스터/굿즈 디자인. 시각적 아이덴티티 '글로벌 스탠다드'로 격상.</a:t>
            </a:r>
          </a:p>
          <a:p>
            <a:pPr>
              <a:defRPr/>
            </a:pPr>
            <a:r>
              <a:rPr lang="ko-KR" altLang="en-US"/>
              <a:t>기술 감독 (CTO)	임춘우	모바일 영화제 구현. 디스커버리 파크 야외 상영 시스템, 모바일 출품 플랫폼, 아레나 영사 기술 자문.</a:t>
            </a:r>
          </a:p>
          <a:p>
            <a:pPr>
              <a:defRPr/>
            </a:pPr>
            <a:r>
              <a:rPr lang="ko-KR" altLang="en-US"/>
              <a:t>재무 감사	송승희 (세무법인 실장)	자금 투명성 확보. 예산 집행 감시, 기부금 세무 처리, 스폰서 기업 세제 혜택 자문.</a:t>
            </a:r>
          </a:p>
          <a:p>
            <a:pP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theme/theme1.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6885</Words>
  <Application>Microsoft Office PowerPoint</Application>
  <PresentationFormat>와이드스크린</PresentationFormat>
  <Paragraphs>801</Paragraphs>
  <Slides>74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74</vt:i4>
      </vt:variant>
    </vt:vector>
  </HeadingPairs>
  <TitlesOfParts>
    <vt:vector size="77" baseType="lpstr">
      <vt:lpstr>Arial</vt:lpstr>
      <vt:lpstr>Calibri</vt:lpstr>
      <vt:lpstr>한컴오피스</vt:lpstr>
      <vt:lpstr>Incheon International Film Festival</vt:lpstr>
      <vt:lpstr>PowerPoint 프레젠테이션</vt:lpstr>
      <vt:lpstr>PowerPoint 프레젠테이션</vt:lpstr>
      <vt:lpstr>1. What is IIFF? </vt:lpstr>
      <vt:lpstr>1. What is IIFF?</vt:lpstr>
      <vt:lpstr>1. What is IIFF?</vt:lpstr>
      <vt:lpstr>2. Festival Overview</vt:lpstr>
      <vt:lpstr>2. Festival Overview  </vt:lpstr>
      <vt:lpstr>2. Festival Overview</vt:lpstr>
      <vt:lpstr>2. Festival Overview</vt:lpstr>
      <vt:lpstr>2. Festival Overview</vt:lpstr>
      <vt:lpstr>3. Why Participate?</vt:lpstr>
      <vt:lpstr>3. Why Participate?</vt:lpstr>
      <vt:lpstr>3. Why Participate?</vt:lpstr>
      <vt:lpstr>3. Why Participate?</vt:lpstr>
      <vt:lpstr>3. Why Participate?</vt:lpstr>
      <vt:lpstr>3. Why Participate?</vt:lpstr>
      <vt:lpstr>3. Why Participate?</vt:lpstr>
      <vt:lpstr>3. Why Participate?</vt:lpstr>
      <vt:lpstr>4. Why Incheon?</vt:lpstr>
      <vt:lpstr>4. Why Incheon?</vt:lpstr>
      <vt:lpstr>4. Why Incheon?</vt:lpstr>
      <vt:lpstr>5. Vision &amp; Philosophy</vt:lpstr>
      <vt:lpstr>5. Vision &amp; Philosophy</vt:lpstr>
      <vt:lpstr>5. Vision &amp; Philosophy</vt:lpstr>
      <vt:lpstr>PowerPoint 프레젠테이션</vt:lpstr>
      <vt:lpstr>1. Core Programs</vt:lpstr>
      <vt:lpstr>1. Core Programs</vt:lpstr>
      <vt:lpstr>1. Core Programs</vt:lpstr>
      <vt:lpstr>1. Core Programs</vt:lpstr>
      <vt:lpstr>1. Core Programs</vt:lpstr>
      <vt:lpstr>2. Star Invitation &amp; Camp</vt:lpstr>
      <vt:lpstr>2. Star Invitation &amp; Camp</vt:lpstr>
      <vt:lpstr>2. Star Invitation &amp; Camp</vt:lpstr>
      <vt:lpstr>3. Daily Simulation</vt:lpstr>
      <vt:lpstr>4. Civic Participation</vt:lpstr>
      <vt:lpstr>PowerPoint 프레젠테이션</vt:lpstr>
      <vt:lpstr>1. Core Strategy</vt:lpstr>
      <vt:lpstr>2. Organization</vt:lpstr>
      <vt:lpstr>2. Organization</vt:lpstr>
      <vt:lpstr>3.  3-Year Roadmap</vt:lpstr>
      <vt:lpstr>3.  3-Year Roadmap</vt:lpstr>
      <vt:lpstr>3.  3-Year Roadmap</vt:lpstr>
      <vt:lpstr>4. 공간 활용 및 프로그램 배치 계획</vt:lpstr>
      <vt:lpstr>5. A-to-Z Roadmap</vt:lpstr>
      <vt:lpstr>PowerPoint 프레젠테이션</vt:lpstr>
      <vt:lpstr>PowerPoint 프레젠테이션</vt:lpstr>
      <vt:lpstr>5. Space &amp; Partners</vt:lpstr>
      <vt:lpstr>PowerPoint 프레젠테이션</vt:lpstr>
      <vt:lpstr>PowerPoint 프레젠테이션</vt:lpstr>
      <vt:lpstr>6. BIFF Comparison</vt:lpstr>
      <vt:lpstr>PowerPoint 프레젠테이션</vt:lpstr>
      <vt:lpstr>1. Budget Plan</vt:lpstr>
      <vt:lpstr>PowerPoint 프레젠테이션</vt:lpstr>
      <vt:lpstr>PowerPoint 프레젠테이션</vt:lpstr>
      <vt:lpstr>2. Cash Flow</vt:lpstr>
      <vt:lpstr>3. Initial Budget</vt:lpstr>
      <vt:lpstr>PowerPoint 프레젠테이션</vt:lpstr>
      <vt:lpstr>4. Sponsorship Plan</vt:lpstr>
      <vt:lpstr>PowerPoint 프레젠테이션</vt:lpstr>
      <vt:lpstr>PowerPoint 프레젠테이션</vt:lpstr>
      <vt:lpstr>5. Marketing Strategy</vt:lpstr>
      <vt:lpstr>PowerPoint 프레젠테이션</vt:lpstr>
      <vt:lpstr>PowerPoint 프레젠테이션</vt:lpstr>
      <vt:lpstr>PowerPoint 프레젠테이션</vt:lpstr>
      <vt:lpstr>1. Risk Management</vt:lpstr>
      <vt:lpstr>PowerPoint 프레젠테이션</vt:lpstr>
      <vt:lpstr>PowerPoint 프레젠테이션</vt:lpstr>
      <vt:lpstr>PowerPoint 프레젠테이션</vt:lpstr>
      <vt:lpstr>PowerPoint 프레젠테이션</vt:lpstr>
      <vt:lpstr>2. Personnel</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Incheon International Film Festival</dc:title>
  <dc:creator>user</dc:creator>
  <cp:lastModifiedBy>Choonwoo Lim</cp:lastModifiedBy>
  <cp:revision>69</cp:revision>
  <dcterms:created xsi:type="dcterms:W3CDTF">2026-02-22T01:39:10Z</dcterms:created>
  <dcterms:modified xsi:type="dcterms:W3CDTF">2026-03-14T03:18:21Z</dcterms:modified>
  <cp:version>1000.0100.01</cp:version>
</cp:coreProperties>
</file>